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handoutMasterIdLst>
    <p:handoutMasterId r:id="rId27"/>
  </p:handoutMasterIdLst>
  <p:sldIdLst>
    <p:sldId id="283" r:id="rId2"/>
    <p:sldId id="257" r:id="rId3"/>
    <p:sldId id="258" r:id="rId4"/>
    <p:sldId id="259" r:id="rId5"/>
    <p:sldId id="260" r:id="rId6"/>
    <p:sldId id="281" r:id="rId7"/>
    <p:sldId id="262" r:id="rId8"/>
    <p:sldId id="263" r:id="rId9"/>
    <p:sldId id="264" r:id="rId10"/>
    <p:sldId id="284"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82" r:id="rId24"/>
    <p:sldId id="280" r:id="rId2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E2E5C"/>
    <a:srgbClr val="1A0B64"/>
    <a:srgbClr val="8636C0"/>
    <a:srgbClr val="9E42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0667"/>
    <p:restoredTop sz="94610"/>
  </p:normalViewPr>
  <p:slideViewPr>
    <p:cSldViewPr snapToGrid="0" snapToObjects="1">
      <p:cViewPr varScale="1">
        <p:scale>
          <a:sx n="115" d="100"/>
          <a:sy n="115" d="100"/>
        </p:scale>
        <p:origin x="256" y="488"/>
      </p:cViewPr>
      <p:guideLst/>
    </p:cSldViewPr>
  </p:slideViewPr>
  <p:notesTextViewPr>
    <p:cViewPr>
      <p:scale>
        <a:sx n="1" d="1"/>
        <a:sy n="1" d="1"/>
      </p:scale>
      <p:origin x="0" y="0"/>
    </p:cViewPr>
  </p:notesTextViewPr>
  <p:notesViewPr>
    <p:cSldViewPr snapToGrid="0" snapToObjects="1">
      <p:cViewPr varScale="1">
        <p:scale>
          <a:sx n="78" d="100"/>
          <a:sy n="78" d="100"/>
        </p:scale>
        <p:origin x="3864" y="16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Distribution</c:v>
                </c:pt>
              </c:strCache>
            </c:strRef>
          </c:tx>
          <c:spPr>
            <a:solidFill>
              <a:schemeClr val="accent1"/>
            </a:solidFill>
            <a:ln w="9525" cap="flat">
              <a:solidFill>
                <a:srgbClr val="F9F9F9"/>
              </a:solidFill>
              <a:prstDash val="solid"/>
              <a:round/>
            </a:ln>
            <a:effectLst/>
          </c:spPr>
          <c:dPt>
            <c:idx val="0"/>
            <c:bubble3D val="0"/>
            <c:spPr>
              <a:solidFill>
                <a:srgbClr val="9333EA"/>
              </a:solidFill>
              <a:effectLst/>
            </c:spPr>
            <c:extLst>
              <c:ext xmlns:c16="http://schemas.microsoft.com/office/drawing/2014/chart" uri="{C3380CC4-5D6E-409C-BE32-E72D297353CC}">
                <c16:uniqueId val="{00000001-CE9D-984A-9F4B-D85CA3D615DA}"/>
              </c:ext>
            </c:extLst>
          </c:dPt>
          <c:dPt>
            <c:idx val="1"/>
            <c:bubble3D val="0"/>
            <c:spPr>
              <a:solidFill>
                <a:srgbClr val="D97706"/>
              </a:solidFill>
              <a:effectLst/>
            </c:spPr>
            <c:extLst>
              <c:ext xmlns:c16="http://schemas.microsoft.com/office/drawing/2014/chart" uri="{C3380CC4-5D6E-409C-BE32-E72D297353CC}">
                <c16:uniqueId val="{00000003-CE9D-984A-9F4B-D85CA3D615DA}"/>
              </c:ext>
            </c:extLst>
          </c:dPt>
          <c:dPt>
            <c:idx val="2"/>
            <c:bubble3D val="0"/>
            <c:spPr>
              <a:solidFill>
                <a:srgbClr val="34D399"/>
              </a:solidFill>
              <a:effectLst/>
            </c:spPr>
            <c:extLst>
              <c:ext xmlns:c16="http://schemas.microsoft.com/office/drawing/2014/chart" uri="{C3380CC4-5D6E-409C-BE32-E72D297353CC}">
                <c16:uniqueId val="{00000005-CE9D-984A-9F4B-D85CA3D615DA}"/>
              </c:ext>
            </c:extLst>
          </c:dPt>
          <c:dPt>
            <c:idx val="3"/>
            <c:bubble3D val="0"/>
            <c:spPr>
              <a:solidFill>
                <a:srgbClr val="2563EB"/>
              </a:solidFill>
              <a:effectLst/>
            </c:spPr>
            <c:extLst>
              <c:ext xmlns:c16="http://schemas.microsoft.com/office/drawing/2014/chart" uri="{C3380CC4-5D6E-409C-BE32-E72D297353CC}">
                <c16:uniqueId val="{00000007-CE9D-984A-9F4B-D85CA3D615DA}"/>
              </c:ext>
            </c:extLst>
          </c:dPt>
          <c:cat>
            <c:strRef>
              <c:f>Sheet1!$A$2:$A$5</c:f>
              <c:strCache>
                <c:ptCount val="4"/>
                <c:pt idx="0">
                  <c:v>Process</c:v>
                </c:pt>
                <c:pt idx="1">
                  <c:v>People</c:v>
                </c:pt>
                <c:pt idx="2">
                  <c:v>Tech</c:v>
                </c:pt>
                <c:pt idx="3">
                  <c:v>Other</c:v>
                </c:pt>
              </c:strCache>
            </c:strRef>
          </c:cat>
          <c:val>
            <c:numRef>
              <c:f>Sheet1!$B$2:$B$5</c:f>
              <c:numCache>
                <c:formatCode>General</c:formatCode>
                <c:ptCount val="4"/>
                <c:pt idx="0">
                  <c:v>38</c:v>
                </c:pt>
                <c:pt idx="1">
                  <c:v>25</c:v>
                </c:pt>
                <c:pt idx="2">
                  <c:v>22</c:v>
                </c:pt>
                <c:pt idx="3">
                  <c:v>15</c:v>
                </c:pt>
              </c:numCache>
            </c:numRef>
          </c:val>
          <c:extLst>
            <c:ext xmlns:c16="http://schemas.microsoft.com/office/drawing/2014/chart" uri="{C3380CC4-5D6E-409C-BE32-E72D297353CC}">
              <c16:uniqueId val="{00000008-CE9D-984A-9F4B-D85CA3D615DA}"/>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Resolved</c:v>
                </c:pt>
              </c:strCache>
            </c:strRef>
          </c:tx>
          <c:spPr>
            <a:ln w="25400" cap="flat">
              <a:solidFill>
                <a:srgbClr val="16A34A"/>
              </a:solidFill>
              <a:prstDash val="solid"/>
              <a:round/>
            </a:ln>
            <a:effectLst/>
          </c:spPr>
          <c:marker>
            <c:symbol val="circle"/>
            <c:size val="6"/>
            <c:spPr>
              <a:solidFill>
                <a:srgbClr val="16A34A"/>
              </a:solidFill>
              <a:ln w="9525" cap="flat">
                <a:solidFill>
                  <a:srgbClr val="16A34A"/>
                </a:solidFill>
                <a:prstDash val="solid"/>
                <a:round/>
              </a:ln>
              <a:effectLst/>
            </c:spPr>
          </c:marker>
          <c:cat>
            <c:strRef>
              <c:f>Sheet1!$A$2:$A$7</c:f>
              <c:strCache>
                <c:ptCount val="6"/>
                <c:pt idx="0">
                  <c:v>Q1</c:v>
                </c:pt>
                <c:pt idx="1">
                  <c:v>Q2</c:v>
                </c:pt>
                <c:pt idx="2">
                  <c:v>Q3</c:v>
                </c:pt>
                <c:pt idx="3">
                  <c:v>Q4</c:v>
                </c:pt>
                <c:pt idx="4">
                  <c:v>Q5</c:v>
                </c:pt>
                <c:pt idx="5">
                  <c:v>Q6</c:v>
                </c:pt>
              </c:strCache>
            </c:strRef>
          </c:cat>
          <c:val>
            <c:numRef>
              <c:f>Sheet1!$B$2:$B$7</c:f>
              <c:numCache>
                <c:formatCode>General</c:formatCode>
                <c:ptCount val="6"/>
                <c:pt idx="0">
                  <c:v>12</c:v>
                </c:pt>
                <c:pt idx="1">
                  <c:v>19</c:v>
                </c:pt>
                <c:pt idx="2">
                  <c:v>28</c:v>
                </c:pt>
                <c:pt idx="3">
                  <c:v>38</c:v>
                </c:pt>
                <c:pt idx="4">
                  <c:v>52</c:v>
                </c:pt>
                <c:pt idx="5">
                  <c:v>71</c:v>
                </c:pt>
              </c:numCache>
            </c:numRef>
          </c:val>
          <c:smooth val="0"/>
          <c:extLst>
            <c:ext xmlns:c16="http://schemas.microsoft.com/office/drawing/2014/chart" uri="{C3380CC4-5D6E-409C-BE32-E72D297353CC}">
              <c16:uniqueId val="{00000000-A611-F646-B976-741003A8948F}"/>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majorGridlines>
          <c:spPr>
            <a:ln w="12700" cap="flat">
              <a:solidFill>
                <a:srgbClr val="888888"/>
              </a:solidFill>
              <a:prstDash val="solid"/>
              <a:round/>
            </a:ln>
          </c:spPr>
        </c:majorGridlines>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7BD0281-84E4-4E7B-FFE6-C5B2985AFAA0}"/>
              </a:ext>
            </a:extLst>
          </p:cNvPr>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62A1932-35C4-8503-DDEF-FC2E4CBBA427}"/>
              </a:ext>
            </a:extLst>
          </p:cNvPr>
          <p:cNvSpPr>
            <a:spLocks noGrp="1"/>
          </p:cNvSpPr>
          <p:nvPr>
            <p:ph type="dt" sz="quarter" idx="1"/>
          </p:nvPr>
        </p:nvSpPr>
        <p:spPr>
          <a:xfrm>
            <a:off x="2913063" y="0"/>
            <a:ext cx="2228850" cy="458788"/>
          </a:xfrm>
          <a:prstGeom prst="rect">
            <a:avLst/>
          </a:prstGeom>
        </p:spPr>
        <p:txBody>
          <a:bodyPr vert="horz" lIns="91440" tIns="45720" rIns="91440" bIns="45720" rtlCol="0"/>
          <a:lstStyle>
            <a:lvl1pPr algn="r">
              <a:defRPr sz="1200"/>
            </a:lvl1pPr>
          </a:lstStyle>
          <a:p>
            <a:fld id="{F6DDB4A9-1389-5B44-8BF6-CA4A2B83EC56}" type="datetimeFigureOut">
              <a:rPr lang="en-US" smtClean="0"/>
              <a:t>4/3/26</a:t>
            </a:fld>
            <a:endParaRPr lang="en-US"/>
          </a:p>
        </p:txBody>
      </p:sp>
      <p:sp>
        <p:nvSpPr>
          <p:cNvPr id="4" name="Footer Placeholder 3">
            <a:extLst>
              <a:ext uri="{FF2B5EF4-FFF2-40B4-BE49-F238E27FC236}">
                <a16:creationId xmlns:a16="http://schemas.microsoft.com/office/drawing/2014/main" id="{3BBC96C8-CC38-204B-94D7-5651D032232B}"/>
              </a:ext>
            </a:extLst>
          </p:cNvPr>
          <p:cNvSpPr>
            <a:spLocks noGrp="1"/>
          </p:cNvSpPr>
          <p:nvPr>
            <p:ph type="ftr" sz="quarter" idx="2"/>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3F8CCFC-FDCD-2DCD-5B33-4DDE0751DDC1}"/>
              </a:ext>
            </a:extLst>
          </p:cNvPr>
          <p:cNvSpPr>
            <a:spLocks noGrp="1"/>
          </p:cNvSpPr>
          <p:nvPr>
            <p:ph type="sldNum" sz="quarter" idx="3"/>
          </p:nvPr>
        </p:nvSpPr>
        <p:spPr>
          <a:xfrm>
            <a:off x="2913063" y="8685213"/>
            <a:ext cx="2228850" cy="458787"/>
          </a:xfrm>
          <a:prstGeom prst="rect">
            <a:avLst/>
          </a:prstGeom>
        </p:spPr>
        <p:txBody>
          <a:bodyPr vert="horz" lIns="91440" tIns="45720" rIns="91440" bIns="45720" rtlCol="0" anchor="b"/>
          <a:lstStyle>
            <a:lvl1pPr algn="r">
              <a:defRPr sz="1200"/>
            </a:lvl1pPr>
          </a:lstStyle>
          <a:p>
            <a:fld id="{3007E790-CB91-B143-A458-A0F86D40AE08}" type="slidenum">
              <a:rPr lang="en-US" smtClean="0"/>
              <a:t>‹#›</a:t>
            </a:fld>
            <a:endParaRPr lang="en-US"/>
          </a:p>
        </p:txBody>
      </p:sp>
    </p:spTree>
    <p:extLst>
      <p:ext uri="{BB962C8B-B14F-4D97-AF65-F5344CB8AC3E}">
        <p14:creationId xmlns:p14="http://schemas.microsoft.com/office/powerpoint/2010/main" val="118114740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00903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DDC87A-43ED-1A9B-C31A-6953F236F7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2DF10B-3E11-4E6D-2C6B-C8661C0612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050B26-42EF-0591-8460-05465E9921E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310C016-699B-0A49-48DA-31A04A3348C6}"/>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621455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chart" Target="../charts/chart2.xml"/><Relationship Id="rId4" Type="http://schemas.openxmlformats.org/officeDocument/2006/relationships/chart" Target="../charts/char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132320" y="-731520"/>
            <a:ext cx="2926080" cy="2926080"/>
          </a:xfrm>
          <a:prstGeom prst="ellipse">
            <a:avLst/>
          </a:prstGeom>
          <a:solidFill>
            <a:srgbClr val="9333EA">
              <a:alpha val="32000"/>
            </a:srgbClr>
          </a:solidFill>
          <a:ln w="12700">
            <a:solidFill>
              <a:srgbClr val="9333EA">
                <a:alpha val="32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8046720" y="182880"/>
            <a:ext cx="1463040" cy="1463040"/>
          </a:xfrm>
          <a:prstGeom prst="ellipse">
            <a:avLst/>
          </a:prstGeom>
          <a:solidFill>
            <a:srgbClr val="2563EB">
              <a:alpha val="28000"/>
            </a:srgbClr>
          </a:solidFill>
          <a:ln w="12700">
            <a:solidFill>
              <a:srgbClr val="2563EB">
                <a:alpha val="28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457200" y="3474720"/>
            <a:ext cx="2286000" cy="2286000"/>
          </a:xfrm>
          <a:prstGeom prst="ellipse">
            <a:avLst/>
          </a:prstGeom>
          <a:solidFill>
            <a:srgbClr val="9333EA">
              <a:alpha val="28000"/>
            </a:srgbClr>
          </a:solidFill>
          <a:ln w="12700">
            <a:solidFill>
              <a:srgbClr val="9333EA">
                <a:alpha val="28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4663440" y="1874520"/>
            <a:ext cx="1417320" cy="914400"/>
          </a:xfrm>
          <a:prstGeom prst="rect">
            <a:avLst/>
          </a:prstGeom>
          <a:solidFill>
            <a:srgbClr val="1E2E5C"/>
          </a:solidFill>
          <a:ln w="12700">
            <a:solidFill>
              <a:srgbClr val="47556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4773168" y="1984248"/>
            <a:ext cx="155448" cy="246888"/>
          </a:xfrm>
          <a:prstGeom prst="rect">
            <a:avLst/>
          </a:prstGeom>
          <a:solidFill>
            <a:srgbClr val="D97706"/>
          </a:solidFill>
          <a:ln w="12700">
            <a:solidFill>
              <a:srgbClr val="D9770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4965192" y="1883664"/>
            <a:ext cx="155448" cy="347472"/>
          </a:xfrm>
          <a:prstGeom prst="rect">
            <a:avLst/>
          </a:prstGeom>
          <a:solidFill>
            <a:srgbClr val="8B5CF6"/>
          </a:solidFill>
          <a:ln w="12700">
            <a:solidFill>
              <a:srgbClr val="8B5C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p:cNvSpPr/>
          <p:nvPr/>
        </p:nvSpPr>
        <p:spPr>
          <a:xfrm>
            <a:off x="5157216" y="1792224"/>
            <a:ext cx="155448" cy="438912"/>
          </a:xfrm>
          <a:prstGeom prst="rect">
            <a:avLst/>
          </a:prstGeom>
          <a:solidFill>
            <a:srgbClr val="34D399"/>
          </a:solidFill>
          <a:ln w="12700">
            <a:solidFill>
              <a:srgbClr val="34D39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7"/>
          <p:cNvSpPr/>
          <p:nvPr/>
        </p:nvSpPr>
        <p:spPr>
          <a:xfrm>
            <a:off x="5349240" y="1920240"/>
            <a:ext cx="155448" cy="310896"/>
          </a:xfrm>
          <a:prstGeom prst="rect">
            <a:avLst/>
          </a:prstGeom>
          <a:solidFill>
            <a:srgbClr val="60A5FA"/>
          </a:solidFill>
          <a:ln w="12700">
            <a:solidFill>
              <a:srgbClr val="60A5F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8"/>
          <p:cNvSpPr/>
          <p:nvPr/>
        </p:nvSpPr>
        <p:spPr>
          <a:xfrm>
            <a:off x="5285232" y="2788920"/>
            <a:ext cx="64008" cy="182880"/>
          </a:xfrm>
          <a:prstGeom prst="rect">
            <a:avLst/>
          </a:prstGeom>
          <a:solidFill>
            <a:srgbClr val="8B5CF6">
              <a:alpha val="70000"/>
            </a:srgbClr>
          </a:solidFill>
          <a:ln w="12700">
            <a:solidFill>
              <a:srgbClr val="8B5CF6">
                <a:alpha val="7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9"/>
          <p:cNvSpPr/>
          <p:nvPr/>
        </p:nvSpPr>
        <p:spPr>
          <a:xfrm>
            <a:off x="5047488" y="2944368"/>
            <a:ext cx="530352" cy="64008"/>
          </a:xfrm>
          <a:prstGeom prst="rect">
            <a:avLst/>
          </a:prstGeom>
          <a:solidFill>
            <a:srgbClr val="8B5CF6">
              <a:alpha val="70000"/>
            </a:srgbClr>
          </a:solidFill>
          <a:ln w="12700">
            <a:solidFill>
              <a:srgbClr val="8B5CF6">
                <a:alpha val="7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10"/>
          <p:cNvSpPr/>
          <p:nvPr/>
        </p:nvSpPr>
        <p:spPr>
          <a:xfrm>
            <a:off x="6199632" y="1755648"/>
            <a:ext cx="310896" cy="310896"/>
          </a:xfrm>
          <a:prstGeom prst="ellipse">
            <a:avLst/>
          </a:prstGeom>
          <a:solidFill>
            <a:srgbClr val="D97706"/>
          </a:solidFill>
          <a:ln w="12700">
            <a:solidFill>
              <a:srgbClr val="D9770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Shape 11"/>
          <p:cNvSpPr/>
          <p:nvPr/>
        </p:nvSpPr>
        <p:spPr>
          <a:xfrm>
            <a:off x="6135624" y="2066544"/>
            <a:ext cx="438912" cy="594360"/>
          </a:xfrm>
          <a:prstGeom prst="rect">
            <a:avLst/>
          </a:prstGeom>
          <a:solidFill>
            <a:srgbClr val="2563EB"/>
          </a:solidFill>
          <a:ln w="12700">
            <a:solidFill>
              <a:srgbClr val="2563E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Shape 12"/>
          <p:cNvSpPr/>
          <p:nvPr/>
        </p:nvSpPr>
        <p:spPr>
          <a:xfrm>
            <a:off x="5779008" y="2157984"/>
            <a:ext cx="402336" cy="82296"/>
          </a:xfrm>
          <a:prstGeom prst="rect">
            <a:avLst/>
          </a:prstGeom>
          <a:solidFill>
            <a:srgbClr val="D97706"/>
          </a:solidFill>
          <a:ln w="12700">
            <a:solidFill>
              <a:srgbClr val="D9770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3"/>
          <p:cNvSpPr/>
          <p:nvPr/>
        </p:nvSpPr>
        <p:spPr>
          <a:xfrm>
            <a:off x="6172200" y="2642616"/>
            <a:ext cx="155448" cy="420624"/>
          </a:xfrm>
          <a:prstGeom prst="rect">
            <a:avLst/>
          </a:prstGeom>
          <a:solidFill>
            <a:srgbClr val="1E3A8A"/>
          </a:solidFill>
          <a:ln w="12700">
            <a:solidFill>
              <a:srgbClr val="1E3A8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4"/>
          <p:cNvSpPr/>
          <p:nvPr/>
        </p:nvSpPr>
        <p:spPr>
          <a:xfrm>
            <a:off x="6382512" y="2642616"/>
            <a:ext cx="155448" cy="420624"/>
          </a:xfrm>
          <a:prstGeom prst="rect">
            <a:avLst/>
          </a:prstGeom>
          <a:solidFill>
            <a:srgbClr val="1E3A8A"/>
          </a:solidFill>
          <a:ln w="12700">
            <a:solidFill>
              <a:srgbClr val="1E3A8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5"/>
          <p:cNvSpPr/>
          <p:nvPr/>
        </p:nvSpPr>
        <p:spPr>
          <a:xfrm>
            <a:off x="7040880" y="2414016"/>
            <a:ext cx="1234440" cy="82296"/>
          </a:xfrm>
          <a:prstGeom prst="rect">
            <a:avLst/>
          </a:prstGeom>
          <a:solidFill>
            <a:srgbClr val="4C1D95">
              <a:alpha val="80000"/>
            </a:srgbClr>
          </a:solidFill>
          <a:ln w="12700">
            <a:solidFill>
              <a:srgbClr val="4C1D95">
                <a:alpha val="8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Shape 16"/>
          <p:cNvSpPr/>
          <p:nvPr/>
        </p:nvSpPr>
        <p:spPr>
          <a:xfrm>
            <a:off x="7114032" y="2496312"/>
            <a:ext cx="64008" cy="411480"/>
          </a:xfrm>
          <a:prstGeom prst="rect">
            <a:avLst/>
          </a:prstGeom>
          <a:solidFill>
            <a:srgbClr val="4C1D95">
              <a:alpha val="60000"/>
            </a:srgbClr>
          </a:solidFill>
          <a:ln w="12700">
            <a:solidFill>
              <a:srgbClr val="4C1D95">
                <a:alpha val="6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7"/>
          <p:cNvSpPr/>
          <p:nvPr/>
        </p:nvSpPr>
        <p:spPr>
          <a:xfrm>
            <a:off x="7260336" y="2496312"/>
            <a:ext cx="64008" cy="411480"/>
          </a:xfrm>
          <a:prstGeom prst="rect">
            <a:avLst/>
          </a:prstGeom>
          <a:solidFill>
            <a:srgbClr val="4C1D95">
              <a:alpha val="60000"/>
            </a:srgbClr>
          </a:solidFill>
          <a:ln w="12700">
            <a:solidFill>
              <a:srgbClr val="4C1D95">
                <a:alpha val="6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Shape 18"/>
          <p:cNvSpPr/>
          <p:nvPr/>
        </p:nvSpPr>
        <p:spPr>
          <a:xfrm>
            <a:off x="7077456" y="1920240"/>
            <a:ext cx="877824" cy="566928"/>
          </a:xfrm>
          <a:prstGeom prst="rect">
            <a:avLst/>
          </a:prstGeom>
          <a:solidFill>
            <a:srgbClr val="1E2E5C"/>
          </a:solidFill>
          <a:ln w="12700">
            <a:solidFill>
              <a:srgbClr val="33415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Shape 19"/>
          <p:cNvSpPr/>
          <p:nvPr/>
        </p:nvSpPr>
        <p:spPr>
          <a:xfrm>
            <a:off x="7571232" y="1993392"/>
            <a:ext cx="301752" cy="301752"/>
          </a:xfrm>
          <a:prstGeom prst="ellipse">
            <a:avLst/>
          </a:prstGeom>
          <a:solidFill>
            <a:srgbClr val="1E3A8A"/>
          </a:solidFill>
          <a:ln w="12700">
            <a:solidFill>
              <a:srgbClr val="1E3A8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Shape 20"/>
          <p:cNvSpPr/>
          <p:nvPr/>
        </p:nvSpPr>
        <p:spPr>
          <a:xfrm>
            <a:off x="6967728" y="2450592"/>
            <a:ext cx="1042416" cy="64008"/>
          </a:xfrm>
          <a:prstGeom prst="rect">
            <a:avLst/>
          </a:prstGeom>
          <a:solidFill>
            <a:srgbClr val="334155"/>
          </a:solidFill>
          <a:ln w="12700">
            <a:solidFill>
              <a:srgbClr val="33415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21"/>
          <p:cNvSpPr/>
          <p:nvPr/>
        </p:nvSpPr>
        <p:spPr>
          <a:xfrm>
            <a:off x="7424928" y="1444752"/>
            <a:ext cx="292608" cy="292608"/>
          </a:xfrm>
          <a:prstGeom prst="ellipse">
            <a:avLst/>
          </a:prstGeom>
          <a:solidFill>
            <a:srgbClr val="FCA5A5"/>
          </a:solidFill>
          <a:ln w="12700">
            <a:solidFill>
              <a:srgbClr val="FCA5A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Shape 22"/>
          <p:cNvSpPr/>
          <p:nvPr/>
        </p:nvSpPr>
        <p:spPr>
          <a:xfrm>
            <a:off x="7351776" y="1737360"/>
            <a:ext cx="438912" cy="475488"/>
          </a:xfrm>
          <a:prstGeom prst="rect">
            <a:avLst/>
          </a:prstGeom>
          <a:solidFill>
            <a:srgbClr val="DC2626"/>
          </a:solidFill>
          <a:ln w="12700">
            <a:solidFill>
              <a:srgbClr val="DC262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Shape 23"/>
          <p:cNvSpPr/>
          <p:nvPr/>
        </p:nvSpPr>
        <p:spPr>
          <a:xfrm>
            <a:off x="7114032" y="2029968"/>
            <a:ext cx="292608" cy="82296"/>
          </a:xfrm>
          <a:prstGeom prst="rect">
            <a:avLst/>
          </a:prstGeom>
          <a:solidFill>
            <a:srgbClr val="FCA5A5"/>
          </a:solidFill>
          <a:ln w="12700">
            <a:solidFill>
              <a:srgbClr val="FCA5A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Shape 24"/>
          <p:cNvSpPr/>
          <p:nvPr/>
        </p:nvSpPr>
        <p:spPr>
          <a:xfrm>
            <a:off x="7754112" y="2029968"/>
            <a:ext cx="292608" cy="82296"/>
          </a:xfrm>
          <a:prstGeom prst="rect">
            <a:avLst/>
          </a:prstGeom>
          <a:solidFill>
            <a:srgbClr val="FCA5A5"/>
          </a:solidFill>
          <a:ln w="12700">
            <a:solidFill>
              <a:srgbClr val="FCA5A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Shape 25"/>
          <p:cNvSpPr/>
          <p:nvPr/>
        </p:nvSpPr>
        <p:spPr>
          <a:xfrm>
            <a:off x="8183880" y="1737360"/>
            <a:ext cx="292608" cy="292608"/>
          </a:xfrm>
          <a:prstGeom prst="ellipse">
            <a:avLst/>
          </a:prstGeom>
          <a:solidFill>
            <a:srgbClr val="6EE7B7"/>
          </a:solidFill>
          <a:ln w="12700">
            <a:solidFill>
              <a:srgbClr val="6EE7B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Shape 26"/>
          <p:cNvSpPr/>
          <p:nvPr/>
        </p:nvSpPr>
        <p:spPr>
          <a:xfrm>
            <a:off x="8119872" y="2029968"/>
            <a:ext cx="420624" cy="585216"/>
          </a:xfrm>
          <a:prstGeom prst="rect">
            <a:avLst/>
          </a:prstGeom>
          <a:solidFill>
            <a:srgbClr val="059669"/>
          </a:solidFill>
          <a:ln w="12700">
            <a:solidFill>
              <a:srgbClr val="05966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Shape 27"/>
          <p:cNvSpPr/>
          <p:nvPr/>
        </p:nvSpPr>
        <p:spPr>
          <a:xfrm>
            <a:off x="7872984" y="2139696"/>
            <a:ext cx="292608" cy="82296"/>
          </a:xfrm>
          <a:prstGeom prst="rect">
            <a:avLst/>
          </a:prstGeom>
          <a:solidFill>
            <a:srgbClr val="6EE7B7"/>
          </a:solidFill>
          <a:ln w="12700">
            <a:solidFill>
              <a:srgbClr val="6EE7B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Shape 28"/>
          <p:cNvSpPr/>
          <p:nvPr/>
        </p:nvSpPr>
        <p:spPr>
          <a:xfrm>
            <a:off x="8494776" y="2139696"/>
            <a:ext cx="292608" cy="82296"/>
          </a:xfrm>
          <a:prstGeom prst="rect">
            <a:avLst/>
          </a:prstGeom>
          <a:solidFill>
            <a:srgbClr val="6EE7B7"/>
          </a:solidFill>
          <a:ln w="12700">
            <a:solidFill>
              <a:srgbClr val="6EE7B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Shape 29"/>
          <p:cNvSpPr/>
          <p:nvPr/>
        </p:nvSpPr>
        <p:spPr>
          <a:xfrm>
            <a:off x="8156448" y="2596896"/>
            <a:ext cx="146304" cy="438912"/>
          </a:xfrm>
          <a:prstGeom prst="rect">
            <a:avLst/>
          </a:prstGeom>
          <a:solidFill>
            <a:srgbClr val="065F46"/>
          </a:solidFill>
          <a:ln w="12700">
            <a:solidFill>
              <a:srgbClr val="065F4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Shape 30"/>
          <p:cNvSpPr/>
          <p:nvPr/>
        </p:nvSpPr>
        <p:spPr>
          <a:xfrm>
            <a:off x="8357616" y="2596896"/>
            <a:ext cx="146304" cy="438912"/>
          </a:xfrm>
          <a:prstGeom prst="rect">
            <a:avLst/>
          </a:prstGeom>
          <a:solidFill>
            <a:srgbClr val="065F46"/>
          </a:solidFill>
          <a:ln w="12700">
            <a:solidFill>
              <a:srgbClr val="065F4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Shape 31"/>
          <p:cNvSpPr/>
          <p:nvPr/>
        </p:nvSpPr>
        <p:spPr>
          <a:xfrm>
            <a:off x="5303520" y="1481328"/>
            <a:ext cx="137160" cy="137160"/>
          </a:xfrm>
          <a:prstGeom prst="ellipse">
            <a:avLst/>
          </a:prstGeom>
          <a:solidFill>
            <a:srgbClr val="8B5CF6">
              <a:alpha val="55000"/>
            </a:srgbClr>
          </a:solidFill>
          <a:ln w="12700">
            <a:solidFill>
              <a:srgbClr val="8B5CF6">
                <a:alpha val="5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Shape 32"/>
          <p:cNvSpPr/>
          <p:nvPr/>
        </p:nvSpPr>
        <p:spPr>
          <a:xfrm>
            <a:off x="6437376" y="1389888"/>
            <a:ext cx="118872" cy="118872"/>
          </a:xfrm>
          <a:prstGeom prst="ellipse">
            <a:avLst/>
          </a:prstGeom>
          <a:solidFill>
            <a:srgbClr val="D97706">
              <a:alpha val="55000"/>
            </a:srgbClr>
          </a:solidFill>
          <a:ln w="12700">
            <a:solidFill>
              <a:srgbClr val="D97706">
                <a:alpha val="5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Shape 33"/>
          <p:cNvSpPr/>
          <p:nvPr/>
        </p:nvSpPr>
        <p:spPr>
          <a:xfrm>
            <a:off x="7735824" y="1335024"/>
            <a:ext cx="128016" cy="128016"/>
          </a:xfrm>
          <a:prstGeom prst="ellipse">
            <a:avLst/>
          </a:prstGeom>
          <a:solidFill>
            <a:srgbClr val="34D399">
              <a:alpha val="55000"/>
            </a:srgbClr>
          </a:solidFill>
          <a:ln w="12700">
            <a:solidFill>
              <a:srgbClr val="34D399">
                <a:alpha val="5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Shape 34"/>
          <p:cNvSpPr/>
          <p:nvPr/>
        </p:nvSpPr>
        <p:spPr>
          <a:xfrm>
            <a:off x="7918704" y="1152144"/>
            <a:ext cx="1097280" cy="457200"/>
          </a:xfrm>
          <a:prstGeom prst="roundRect">
            <a:avLst/>
          </a:prstGeom>
          <a:solidFill>
            <a:srgbClr val="FFFFFF">
              <a:alpha val="22000"/>
            </a:srgbClr>
          </a:solidFill>
          <a:ln w="12700">
            <a:solidFill>
              <a:srgbClr val="FFFFFF">
                <a:alpha val="4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Shape 35"/>
          <p:cNvSpPr/>
          <p:nvPr/>
        </p:nvSpPr>
        <p:spPr>
          <a:xfrm>
            <a:off x="8357616" y="1225296"/>
            <a:ext cx="201168" cy="201168"/>
          </a:xfrm>
          <a:prstGeom prst="ellipse">
            <a:avLst/>
          </a:prstGeom>
          <a:solidFill>
            <a:srgbClr val="D97706">
              <a:alpha val="75000"/>
            </a:srgbClr>
          </a:solidFill>
          <a:ln w="12700">
            <a:solidFill>
              <a:srgbClr val="D97706">
                <a:alpha val="7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Shape 36"/>
          <p:cNvSpPr/>
          <p:nvPr/>
        </p:nvSpPr>
        <p:spPr>
          <a:xfrm>
            <a:off x="7982712" y="1243584"/>
            <a:ext cx="301752" cy="54864"/>
          </a:xfrm>
          <a:prstGeom prst="rect">
            <a:avLst/>
          </a:prstGeom>
          <a:solidFill>
            <a:srgbClr val="FFFFFF">
              <a:alpha val="55000"/>
            </a:srgbClr>
          </a:solidFill>
          <a:ln w="12700">
            <a:solidFill>
              <a:srgbClr val="FFFFFF">
                <a:alpha val="5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Shape 37"/>
          <p:cNvSpPr/>
          <p:nvPr/>
        </p:nvSpPr>
        <p:spPr>
          <a:xfrm>
            <a:off x="7982712" y="1325880"/>
            <a:ext cx="237744" cy="54864"/>
          </a:xfrm>
          <a:prstGeom prst="rect">
            <a:avLst/>
          </a:prstGeom>
          <a:solidFill>
            <a:srgbClr val="FFFFFF">
              <a:alpha val="55000"/>
            </a:srgbClr>
          </a:solidFill>
          <a:ln w="12700">
            <a:solidFill>
              <a:srgbClr val="FFFFFF">
                <a:alpha val="5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0" name="Image 0" descr="preencoded.png"/>
          <p:cNvPicPr>
            <a:picLocks noChangeAspect="1"/>
          </p:cNvPicPr>
          <p:nvPr/>
        </p:nvPicPr>
        <p:blipFill>
          <a:blip r:embed="rId4"/>
          <a:stretch>
            <a:fillRect/>
          </a:stretch>
        </p:blipFill>
        <p:spPr>
          <a:xfrm>
            <a:off x="502920" y="502920"/>
            <a:ext cx="777240" cy="777240"/>
          </a:xfrm>
          <a:prstGeom prst="rect">
            <a:avLst/>
          </a:prstGeom>
        </p:spPr>
      </p:pic>
      <p:sp>
        <p:nvSpPr>
          <p:cNvPr id="41" name="Text 38"/>
          <p:cNvSpPr/>
          <p:nvPr/>
        </p:nvSpPr>
        <p:spPr>
          <a:xfrm>
            <a:off x="1371600" y="438912"/>
            <a:ext cx="4114800" cy="9144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WhatIDid</a:t>
            </a:r>
            <a:endParaRPr kumimoji="0" lang="en-US" sz="5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2" name="Shape 39"/>
          <p:cNvSpPr/>
          <p:nvPr/>
        </p:nvSpPr>
        <p:spPr>
          <a:xfrm>
            <a:off x="502920" y="1481328"/>
            <a:ext cx="2011680" cy="64008"/>
          </a:xfrm>
          <a:prstGeom prst="rect">
            <a:avLst/>
          </a:prstGeom>
          <a:solidFill>
            <a:srgbClr val="D97706"/>
          </a:solidFill>
          <a:ln w="12700">
            <a:solidFill>
              <a:srgbClr val="D9770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Text 40"/>
          <p:cNvSpPr/>
          <p:nvPr/>
        </p:nvSpPr>
        <p:spPr>
          <a:xfrm>
            <a:off x="502920" y="1664208"/>
            <a:ext cx="3931920" cy="13716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0" i="0" u="none" strike="noStrike" kern="1200" cap="none" spc="0" normalizeH="0" baseline="0" noProof="0" dirty="0">
                <a:ln>
                  <a:noFill/>
                </a:ln>
                <a:solidFill>
                  <a:srgbClr val="C4B5FD"/>
                </a:solidFill>
                <a:effectLst/>
                <a:uLnTx/>
                <a:uFillTx/>
                <a:latin typeface="Calibri" pitchFamily="34" charset="0"/>
                <a:ea typeface="Calibri" pitchFamily="34" charset="-122"/>
                <a:cs typeface="Calibri" pitchFamily="34" charset="-120"/>
              </a:rPr>
              <a:t>Capture, structure, and share work experiences to accelerate organizational learning.</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4" name="Shape 41"/>
          <p:cNvSpPr/>
          <p:nvPr/>
        </p:nvSpPr>
        <p:spPr>
          <a:xfrm>
            <a:off x="0" y="4297680"/>
            <a:ext cx="9144000" cy="845820"/>
          </a:xfrm>
          <a:prstGeom prst="rect">
            <a:avLst/>
          </a:prstGeom>
          <a:solidFill>
            <a:srgbClr val="6B21A8"/>
          </a:solidFill>
          <a:ln w="12700">
            <a:solidFill>
              <a:srgbClr val="6B21A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 name="Text 42"/>
          <p:cNvSpPr/>
          <p:nvPr/>
        </p:nvSpPr>
        <p:spPr>
          <a:xfrm>
            <a:off x="457200" y="4370832"/>
            <a:ext cx="8229600" cy="75438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Real problems. Real actions. Real results.</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EE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914400"/>
          </a:xfrm>
          <a:prstGeom prst="rect">
            <a:avLst/>
          </a:prstGeom>
        </p:spPr>
      </p:pic>
      <p:sp>
        <p:nvSpPr>
          <p:cNvPr id="3" name="Text 0"/>
          <p:cNvSpPr/>
          <p:nvPr/>
        </p:nvSpPr>
        <p:spPr>
          <a:xfrm>
            <a:off x="457200" y="109728"/>
            <a:ext cx="7772400" cy="804672"/>
          </a:xfrm>
          <a:prstGeom prst="rect">
            <a:avLst/>
          </a:prstGeom>
          <a:noFill/>
          <a:ln/>
        </p:spPr>
        <p:txBody>
          <a:bodyPr wrap="square" lIns="0" tIns="0" rIns="0" bIns="0" rtlCol="0" anchor="ctr"/>
          <a:lstStyle/>
          <a:p>
            <a:pPr marL="0" indent="0" algn="l">
              <a:buNone/>
            </a:pPr>
            <a:r>
              <a:rPr lang="en-US" sz="2600" b="1" dirty="0">
                <a:solidFill>
                  <a:srgbClr val="FFFFFF"/>
                </a:solidFill>
                <a:latin typeface="Calibri" pitchFamily="34" charset="0"/>
                <a:ea typeface="Calibri" pitchFamily="34" charset="-122"/>
                <a:cs typeface="Calibri" pitchFamily="34" charset="-120"/>
              </a:rPr>
              <a:t>The Problem</a:t>
            </a:r>
            <a:endParaRPr lang="en-US" sz="2600" dirty="0"/>
          </a:p>
        </p:txBody>
      </p:sp>
      <p:sp>
        <p:nvSpPr>
          <p:cNvPr id="4" name="Shape 1"/>
          <p:cNvSpPr/>
          <p:nvPr/>
        </p:nvSpPr>
        <p:spPr>
          <a:xfrm>
            <a:off x="365760" y="1051560"/>
            <a:ext cx="4023360" cy="1188720"/>
          </a:xfrm>
          <a:prstGeom prst="rect">
            <a:avLst/>
          </a:prstGeom>
          <a:solidFill>
            <a:srgbClr val="FFFFFF"/>
          </a:solidFill>
          <a:ln w="12700">
            <a:solidFill>
              <a:srgbClr val="E9D5FF"/>
            </a:solidFill>
            <a:prstDash val="solid"/>
          </a:ln>
          <a:effectLst>
            <a:outerShdw blurRad="101600" dist="38100" dir="8100000" algn="bl" rotWithShape="0">
              <a:srgbClr val="000000">
                <a:alpha val="12000"/>
              </a:srgbClr>
            </a:outerShdw>
          </a:effectLst>
        </p:spPr>
        <p:txBody>
          <a:bodyPr/>
          <a:lstStyle/>
          <a:p>
            <a:endParaRPr lang="en-US"/>
          </a:p>
        </p:txBody>
      </p:sp>
      <p:sp>
        <p:nvSpPr>
          <p:cNvPr id="5" name="Shape 2"/>
          <p:cNvSpPr/>
          <p:nvPr/>
        </p:nvSpPr>
        <p:spPr>
          <a:xfrm>
            <a:off x="365760" y="1051560"/>
            <a:ext cx="91440" cy="1188720"/>
          </a:xfrm>
          <a:prstGeom prst="rect">
            <a:avLst/>
          </a:prstGeom>
          <a:solidFill>
            <a:srgbClr val="9333EA"/>
          </a:solidFill>
          <a:ln w="12700">
            <a:solidFill>
              <a:srgbClr val="9333EA"/>
            </a:solidFill>
            <a:prstDash val="solid"/>
          </a:ln>
        </p:spPr>
        <p:txBody>
          <a:bodyPr/>
          <a:lstStyle/>
          <a:p>
            <a:endParaRPr lang="en-US"/>
          </a:p>
        </p:txBody>
      </p:sp>
      <p:sp>
        <p:nvSpPr>
          <p:cNvPr id="6" name="Text 3"/>
          <p:cNvSpPr/>
          <p:nvPr/>
        </p:nvSpPr>
        <p:spPr>
          <a:xfrm>
            <a:off x="548640" y="1143000"/>
            <a:ext cx="3767328" cy="1005840"/>
          </a:xfrm>
          <a:prstGeom prst="rect">
            <a:avLst/>
          </a:prstGeom>
          <a:noFill/>
          <a:ln/>
        </p:spPr>
        <p:txBody>
          <a:bodyPr wrap="square" rtlCol="0" anchor="ctr"/>
          <a:lstStyle/>
          <a:p>
            <a:r>
              <a:rPr lang="en-US" sz="1200" dirty="0"/>
              <a:t>Organizations solve countless day-to-day operational problems — but rarely learn from them systematically.</a:t>
            </a:r>
          </a:p>
        </p:txBody>
      </p:sp>
      <p:sp>
        <p:nvSpPr>
          <p:cNvPr id="7" name="Shape 4"/>
          <p:cNvSpPr/>
          <p:nvPr/>
        </p:nvSpPr>
        <p:spPr>
          <a:xfrm>
            <a:off x="365760" y="2377440"/>
            <a:ext cx="4023360" cy="2103120"/>
          </a:xfrm>
          <a:prstGeom prst="rect">
            <a:avLst/>
          </a:prstGeom>
          <a:solidFill>
            <a:srgbClr val="FFFFFF"/>
          </a:solidFill>
          <a:ln w="12700">
            <a:solidFill>
              <a:srgbClr val="E9D5FF"/>
            </a:solidFill>
            <a:prstDash val="solid"/>
          </a:ln>
          <a:effectLst>
            <a:outerShdw blurRad="101600" dist="38100" dir="8100000" algn="bl" rotWithShape="0">
              <a:srgbClr val="000000">
                <a:alpha val="12000"/>
              </a:srgbClr>
            </a:outerShdw>
          </a:effectLst>
        </p:spPr>
        <p:txBody>
          <a:bodyPr/>
          <a:lstStyle/>
          <a:p>
            <a:endParaRPr lang="en-US"/>
          </a:p>
        </p:txBody>
      </p:sp>
      <p:sp>
        <p:nvSpPr>
          <p:cNvPr id="8" name="Shape 5"/>
          <p:cNvSpPr/>
          <p:nvPr/>
        </p:nvSpPr>
        <p:spPr>
          <a:xfrm>
            <a:off x="365760" y="2377440"/>
            <a:ext cx="91440" cy="2103120"/>
          </a:xfrm>
          <a:prstGeom prst="rect">
            <a:avLst/>
          </a:prstGeom>
          <a:solidFill>
            <a:srgbClr val="D97706"/>
          </a:solidFill>
          <a:ln w="12700">
            <a:solidFill>
              <a:srgbClr val="D97706"/>
            </a:solidFill>
            <a:prstDash val="solid"/>
          </a:ln>
        </p:spPr>
        <p:txBody>
          <a:bodyPr/>
          <a:lstStyle/>
          <a:p>
            <a:endParaRPr lang="en-US"/>
          </a:p>
        </p:txBody>
      </p:sp>
      <p:sp>
        <p:nvSpPr>
          <p:cNvPr id="9" name="Text 6"/>
          <p:cNvSpPr/>
          <p:nvPr/>
        </p:nvSpPr>
        <p:spPr>
          <a:xfrm>
            <a:off x="566928" y="2450592"/>
            <a:ext cx="3749040" cy="347472"/>
          </a:xfrm>
          <a:prstGeom prst="rect">
            <a:avLst/>
          </a:prstGeom>
          <a:noFill/>
          <a:ln/>
        </p:spPr>
        <p:txBody>
          <a:bodyPr wrap="square" rtlCol="0" anchor="ctr"/>
          <a:lstStyle/>
          <a:p>
            <a:pPr marL="0" indent="0">
              <a:buNone/>
            </a:pPr>
            <a:r>
              <a:rPr lang="en-US" sz="1200" b="1" dirty="0">
                <a:solidFill>
                  <a:srgbClr val="1F2937"/>
                </a:solidFill>
                <a:latin typeface="Calibri" pitchFamily="34" charset="0"/>
                <a:ea typeface="Calibri" pitchFamily="34" charset="-122"/>
                <a:cs typeface="Calibri" pitchFamily="34" charset="-120"/>
              </a:rPr>
              <a:t>Every day employees solve problems related to:</a:t>
            </a:r>
            <a:endParaRPr lang="en-US" sz="1200" dirty="0"/>
          </a:p>
        </p:txBody>
      </p:sp>
      <p:sp>
        <p:nvSpPr>
          <p:cNvPr id="10" name="Text 7"/>
          <p:cNvSpPr/>
          <p:nvPr/>
        </p:nvSpPr>
        <p:spPr>
          <a:xfrm>
            <a:off x="658368" y="2834640"/>
            <a:ext cx="3566160" cy="1463040"/>
          </a:xfrm>
          <a:prstGeom prst="rect">
            <a:avLst/>
          </a:prstGeom>
          <a:noFill/>
          <a:ln/>
        </p:spPr>
        <p:txBody>
          <a:bodyPr wrap="square" rtlCol="0" anchor="ctr"/>
          <a:lstStyle/>
          <a:p>
            <a:pPr marL="342900" indent="-342900">
              <a:buSzPct val="100000"/>
              <a:buChar char="•"/>
            </a:pPr>
            <a:r>
              <a:rPr lang="en-US" sz="1200" dirty="0">
                <a:solidFill>
                  <a:srgbClr val="1F2937"/>
                </a:solidFill>
                <a:latin typeface="Calibri" pitchFamily="34" charset="0"/>
                <a:ea typeface="Calibri" pitchFamily="34" charset="-122"/>
                <a:cs typeface="Calibri" pitchFamily="34" charset="-120"/>
              </a:rPr>
              <a:t>Project management</a:t>
            </a:r>
            <a:endParaRPr lang="en-US" sz="1200" dirty="0"/>
          </a:p>
          <a:p>
            <a:pPr marL="342900" indent="-342900">
              <a:buSzPct val="100000"/>
              <a:buChar char="•"/>
            </a:pPr>
            <a:r>
              <a:rPr lang="en-US" sz="1200" dirty="0">
                <a:solidFill>
                  <a:srgbClr val="1F2937"/>
                </a:solidFill>
                <a:latin typeface="Calibri" pitchFamily="34" charset="0"/>
                <a:ea typeface="Calibri" pitchFamily="34" charset="-122"/>
                <a:cs typeface="Calibri" pitchFamily="34" charset="-120"/>
              </a:rPr>
              <a:t>Operations</a:t>
            </a:r>
            <a:endParaRPr lang="en-US" sz="1200" dirty="0"/>
          </a:p>
          <a:p>
            <a:pPr marL="342900" indent="-342900">
              <a:buSzPct val="100000"/>
              <a:buChar char="•"/>
            </a:pPr>
            <a:r>
              <a:rPr lang="en-US" sz="1200" dirty="0">
                <a:solidFill>
                  <a:srgbClr val="1F2937"/>
                </a:solidFill>
                <a:latin typeface="Calibri" pitchFamily="34" charset="0"/>
                <a:ea typeface="Calibri" pitchFamily="34" charset="-122"/>
                <a:cs typeface="Calibri" pitchFamily="34" charset="-120"/>
              </a:rPr>
              <a:t>Customer service</a:t>
            </a:r>
            <a:endParaRPr lang="en-US" sz="1200" dirty="0"/>
          </a:p>
          <a:p>
            <a:pPr marL="342900" indent="-342900">
              <a:buSzPct val="100000"/>
              <a:buChar char="•"/>
            </a:pPr>
            <a:r>
              <a:rPr lang="en-US" sz="1200" dirty="0">
                <a:solidFill>
                  <a:srgbClr val="1F2937"/>
                </a:solidFill>
                <a:latin typeface="Calibri" pitchFamily="34" charset="0"/>
                <a:ea typeface="Calibri" pitchFamily="34" charset="-122"/>
                <a:cs typeface="Calibri" pitchFamily="34" charset="-120"/>
              </a:rPr>
              <a:t>Internal processes</a:t>
            </a:r>
            <a:endParaRPr lang="en-US" sz="1200" dirty="0"/>
          </a:p>
        </p:txBody>
      </p:sp>
      <p:grpSp>
        <p:nvGrpSpPr>
          <p:cNvPr id="55" name="Group 54">
            <a:extLst>
              <a:ext uri="{FF2B5EF4-FFF2-40B4-BE49-F238E27FC236}">
                <a16:creationId xmlns:a16="http://schemas.microsoft.com/office/drawing/2014/main" id="{83FC71D6-2135-779B-BC51-7108A4F9048B}"/>
              </a:ext>
            </a:extLst>
          </p:cNvPr>
          <p:cNvGrpSpPr/>
          <p:nvPr/>
        </p:nvGrpSpPr>
        <p:grpSpPr>
          <a:xfrm>
            <a:off x="4754880" y="1051560"/>
            <a:ext cx="4023360" cy="1188720"/>
            <a:chOff x="4754880" y="1051560"/>
            <a:chExt cx="4023360" cy="1188720"/>
          </a:xfrm>
        </p:grpSpPr>
        <p:sp>
          <p:nvSpPr>
            <p:cNvPr id="11" name="Shape 8"/>
            <p:cNvSpPr/>
            <p:nvPr/>
          </p:nvSpPr>
          <p:spPr>
            <a:xfrm>
              <a:off x="4754880" y="1051560"/>
              <a:ext cx="4023360" cy="1188720"/>
            </a:xfrm>
            <a:prstGeom prst="rect">
              <a:avLst/>
            </a:prstGeom>
            <a:solidFill>
              <a:srgbClr val="FFFFFF"/>
            </a:solidFill>
            <a:ln w="12700">
              <a:solidFill>
                <a:srgbClr val="E9D5FF"/>
              </a:solidFill>
              <a:prstDash val="solid"/>
            </a:ln>
            <a:effectLst>
              <a:outerShdw blurRad="101600" dist="38100" dir="8100000" algn="bl" rotWithShape="0">
                <a:srgbClr val="000000">
                  <a:alpha val="12000"/>
                </a:srgbClr>
              </a:outerShdw>
            </a:effectLst>
          </p:spPr>
          <p:txBody>
            <a:bodyPr/>
            <a:lstStyle/>
            <a:p>
              <a:endParaRPr lang="en-US"/>
            </a:p>
          </p:txBody>
        </p:sp>
        <p:sp>
          <p:nvSpPr>
            <p:cNvPr id="12" name="Shape 9"/>
            <p:cNvSpPr/>
            <p:nvPr/>
          </p:nvSpPr>
          <p:spPr>
            <a:xfrm>
              <a:off x="4754880" y="1051560"/>
              <a:ext cx="91440" cy="1188720"/>
            </a:xfrm>
            <a:prstGeom prst="rect">
              <a:avLst/>
            </a:prstGeom>
            <a:solidFill>
              <a:srgbClr val="2563EB"/>
            </a:solidFill>
            <a:ln w="12700">
              <a:solidFill>
                <a:srgbClr val="2563EB"/>
              </a:solidFill>
              <a:prstDash val="solid"/>
            </a:ln>
          </p:spPr>
          <p:txBody>
            <a:bodyPr/>
            <a:lstStyle/>
            <a:p>
              <a:endParaRPr lang="en-US"/>
            </a:p>
          </p:txBody>
        </p:sp>
        <p:sp>
          <p:nvSpPr>
            <p:cNvPr id="13" name="Text 10"/>
            <p:cNvSpPr/>
            <p:nvPr/>
          </p:nvSpPr>
          <p:spPr>
            <a:xfrm>
              <a:off x="4937760" y="1143000"/>
              <a:ext cx="3767328" cy="1005840"/>
            </a:xfrm>
            <a:prstGeom prst="rect">
              <a:avLst/>
            </a:prstGeom>
            <a:noFill/>
            <a:ln/>
          </p:spPr>
          <p:txBody>
            <a:bodyPr wrap="square" rtlCol="0" anchor="ctr"/>
            <a:lstStyle/>
            <a:p>
              <a:pPr marL="0" indent="0">
                <a:buNone/>
              </a:pPr>
              <a:r>
                <a:rPr lang="en-US" sz="1200" dirty="0">
                  <a:solidFill>
                    <a:srgbClr val="1F2937"/>
                  </a:solidFill>
                  <a:latin typeface="Calibri" pitchFamily="34" charset="0"/>
                  <a:ea typeface="Calibri" pitchFamily="34" charset="-122"/>
                  <a:cs typeface="Calibri" pitchFamily="34" charset="-120"/>
                </a:rPr>
                <a:t>But most of this knowledge</a:t>
              </a:r>
              <a:r>
                <a:rPr lang="en-US" sz="1200" dirty="0"/>
                <a:t> </a:t>
              </a:r>
              <a:r>
                <a:rPr lang="en-US" sz="1200" dirty="0">
                  <a:solidFill>
                    <a:srgbClr val="1F2937"/>
                  </a:solidFill>
                  <a:latin typeface="Calibri" pitchFamily="34" charset="0"/>
                  <a:ea typeface="Calibri" pitchFamily="34" charset="-122"/>
                  <a:cs typeface="Calibri" pitchFamily="34" charset="-120"/>
                </a:rPr>
                <a:t>does not spread consistently across the organization.</a:t>
              </a:r>
              <a:endParaRPr lang="en-US" sz="1200" dirty="0"/>
            </a:p>
          </p:txBody>
        </p:sp>
      </p:grpSp>
      <p:sp>
        <p:nvSpPr>
          <p:cNvPr id="14" name="Shape 11"/>
          <p:cNvSpPr/>
          <p:nvPr/>
        </p:nvSpPr>
        <p:spPr>
          <a:xfrm>
            <a:off x="4754880" y="2377440"/>
            <a:ext cx="4023360" cy="2103120"/>
          </a:xfrm>
          <a:prstGeom prst="rect">
            <a:avLst/>
          </a:prstGeom>
          <a:solidFill>
            <a:srgbClr val="1E2E5C"/>
          </a:solidFill>
          <a:ln w="12700">
            <a:solidFill>
              <a:srgbClr val="1E2E5C"/>
            </a:solidFill>
            <a:prstDash val="solid"/>
          </a:ln>
        </p:spPr>
        <p:txBody>
          <a:bodyPr/>
          <a:lstStyle/>
          <a:p>
            <a:endParaRPr lang="en-US"/>
          </a:p>
        </p:txBody>
      </p:sp>
      <p:sp>
        <p:nvSpPr>
          <p:cNvPr id="15" name="Text 12"/>
          <p:cNvSpPr/>
          <p:nvPr/>
        </p:nvSpPr>
        <p:spPr>
          <a:xfrm>
            <a:off x="4937760" y="2468880"/>
            <a:ext cx="3657600" cy="347472"/>
          </a:xfrm>
          <a:prstGeom prst="rect">
            <a:avLst/>
          </a:prstGeom>
          <a:noFill/>
          <a:ln/>
        </p:spPr>
        <p:txBody>
          <a:bodyPr wrap="square" rtlCol="0" anchor="ctr"/>
          <a:lstStyle/>
          <a:p>
            <a:pPr marL="0" indent="0">
              <a:buNone/>
            </a:pPr>
            <a:r>
              <a:rPr lang="en-US" sz="1200" b="1" dirty="0">
                <a:solidFill>
                  <a:srgbClr val="D97706"/>
                </a:solidFill>
                <a:latin typeface="Calibri" pitchFamily="34" charset="0"/>
                <a:ea typeface="Calibri" pitchFamily="34" charset="-122"/>
                <a:cs typeface="Calibri" pitchFamily="34" charset="-120"/>
              </a:rPr>
              <a:t>As a result:</a:t>
            </a:r>
            <a:endParaRPr lang="en-US" sz="1200" dirty="0"/>
          </a:p>
        </p:txBody>
      </p:sp>
      <p:sp>
        <p:nvSpPr>
          <p:cNvPr id="16" name="Text 13"/>
          <p:cNvSpPr/>
          <p:nvPr/>
        </p:nvSpPr>
        <p:spPr>
          <a:xfrm>
            <a:off x="4937760" y="2852928"/>
            <a:ext cx="3657600" cy="1463040"/>
          </a:xfrm>
          <a:prstGeom prst="rect">
            <a:avLst/>
          </a:prstGeom>
          <a:noFill/>
          <a:ln/>
        </p:spPr>
        <p:txBody>
          <a:bodyPr wrap="square" rtlCol="0" anchor="ctr"/>
          <a:lstStyle/>
          <a:p>
            <a:pPr marL="342900" indent="-342900">
              <a:buSzPct val="100000"/>
              <a:buChar char="•"/>
            </a:pPr>
            <a:r>
              <a:rPr lang="en-US" sz="1200" dirty="0">
                <a:solidFill>
                  <a:srgbClr val="FFFFFF"/>
                </a:solidFill>
                <a:latin typeface="Calibri" pitchFamily="34" charset="0"/>
                <a:cs typeface="Calibri" pitchFamily="34" charset="-120"/>
              </a:rPr>
              <a:t>Teams often repeat mistakes</a:t>
            </a:r>
          </a:p>
          <a:p>
            <a:pPr marL="342900" indent="-342900">
              <a:buSzPct val="100000"/>
              <a:buChar char="•"/>
            </a:pPr>
            <a:r>
              <a:rPr lang="en-US" sz="1200" dirty="0">
                <a:solidFill>
                  <a:srgbClr val="FFFFFF"/>
                </a:solidFill>
                <a:latin typeface="Calibri" pitchFamily="34" charset="0"/>
                <a:cs typeface="Calibri" pitchFamily="34" charset="-120"/>
              </a:rPr>
              <a:t>Time may be spent rediscovering solutions to recurring problems</a:t>
            </a:r>
          </a:p>
          <a:p>
            <a:pPr marL="342900" indent="-342900">
              <a:buSzPct val="100000"/>
              <a:buChar char="•"/>
            </a:pPr>
            <a:r>
              <a:rPr lang="en-US" sz="1200" dirty="0">
                <a:solidFill>
                  <a:srgbClr val="FFFFFF"/>
                </a:solidFill>
                <a:latin typeface="Calibri" pitchFamily="34" charset="0"/>
                <a:cs typeface="Calibri" pitchFamily="34" charset="-120"/>
              </a:rPr>
              <a:t>Valuable knowledge remains fragmented</a:t>
            </a:r>
          </a:p>
        </p:txBody>
      </p:sp>
      <p:sp>
        <p:nvSpPr>
          <p:cNvPr id="17" name="Shape 14"/>
          <p:cNvSpPr/>
          <p:nvPr/>
        </p:nvSpPr>
        <p:spPr>
          <a:xfrm>
            <a:off x="0" y="4709160"/>
            <a:ext cx="9144000" cy="434340"/>
          </a:xfrm>
          <a:prstGeom prst="rect">
            <a:avLst/>
          </a:prstGeom>
          <a:solidFill>
            <a:srgbClr val="D97706"/>
          </a:solidFill>
          <a:ln w="12700">
            <a:solidFill>
              <a:srgbClr val="D97706"/>
            </a:solidFill>
            <a:prstDash val="solid"/>
          </a:ln>
        </p:spPr>
        <p:txBody>
          <a:bodyPr/>
          <a:lstStyle/>
          <a:p>
            <a:endParaRPr lang="en-US"/>
          </a:p>
        </p:txBody>
      </p:sp>
      <p:sp>
        <p:nvSpPr>
          <p:cNvPr id="18" name="Text 15"/>
          <p:cNvSpPr/>
          <p:nvPr/>
        </p:nvSpPr>
        <p:spPr>
          <a:xfrm>
            <a:off x="365760" y="4745736"/>
            <a:ext cx="841248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And when employees eventually leave — the knowledge leaves with them.</a:t>
            </a:r>
            <a:endParaRPr lang="en-US" sz="1200" dirty="0"/>
          </a:p>
        </p:txBody>
      </p:sp>
      <p:grpSp>
        <p:nvGrpSpPr>
          <p:cNvPr id="19" name="Group 18">
            <a:extLst>
              <a:ext uri="{FF2B5EF4-FFF2-40B4-BE49-F238E27FC236}">
                <a16:creationId xmlns:a16="http://schemas.microsoft.com/office/drawing/2014/main" id="{D334FCC9-8B3A-BF11-72F7-DAF4DB79505B}"/>
              </a:ext>
            </a:extLst>
          </p:cNvPr>
          <p:cNvGrpSpPr/>
          <p:nvPr/>
        </p:nvGrpSpPr>
        <p:grpSpPr>
          <a:xfrm>
            <a:off x="7761514" y="200950"/>
            <a:ext cx="1171303" cy="512064"/>
            <a:chOff x="4663440" y="1152144"/>
            <a:chExt cx="4352544" cy="1911096"/>
          </a:xfrm>
        </p:grpSpPr>
        <p:sp>
          <p:nvSpPr>
            <p:cNvPr id="20" name="Shape 3">
              <a:extLst>
                <a:ext uri="{FF2B5EF4-FFF2-40B4-BE49-F238E27FC236}">
                  <a16:creationId xmlns:a16="http://schemas.microsoft.com/office/drawing/2014/main" id="{3531E36B-BD0D-3BFC-1C48-EBB407660FFE}"/>
                </a:ext>
              </a:extLst>
            </p:cNvPr>
            <p:cNvSpPr/>
            <p:nvPr/>
          </p:nvSpPr>
          <p:spPr>
            <a:xfrm>
              <a:off x="4663440" y="1874520"/>
              <a:ext cx="1417320" cy="914400"/>
            </a:xfrm>
            <a:prstGeom prst="rect">
              <a:avLst/>
            </a:prstGeom>
            <a:solidFill>
              <a:srgbClr val="1E2E5C"/>
            </a:solidFill>
            <a:ln w="12700">
              <a:solidFill>
                <a:srgbClr val="47556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Shape 4">
              <a:extLst>
                <a:ext uri="{FF2B5EF4-FFF2-40B4-BE49-F238E27FC236}">
                  <a16:creationId xmlns:a16="http://schemas.microsoft.com/office/drawing/2014/main" id="{13D790BB-77AB-0A10-DC14-7E6FD57F5D46}"/>
                </a:ext>
              </a:extLst>
            </p:cNvPr>
            <p:cNvSpPr/>
            <p:nvPr/>
          </p:nvSpPr>
          <p:spPr>
            <a:xfrm>
              <a:off x="4773168" y="1984248"/>
              <a:ext cx="155448" cy="246888"/>
            </a:xfrm>
            <a:prstGeom prst="rect">
              <a:avLst/>
            </a:prstGeom>
            <a:solidFill>
              <a:srgbClr val="D97706"/>
            </a:solidFill>
            <a:ln w="12700">
              <a:solidFill>
                <a:srgbClr val="D9770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Shape 5">
              <a:extLst>
                <a:ext uri="{FF2B5EF4-FFF2-40B4-BE49-F238E27FC236}">
                  <a16:creationId xmlns:a16="http://schemas.microsoft.com/office/drawing/2014/main" id="{6DEDAEEB-744F-B0E0-4F12-7DD7C364E10F}"/>
                </a:ext>
              </a:extLst>
            </p:cNvPr>
            <p:cNvSpPr/>
            <p:nvPr/>
          </p:nvSpPr>
          <p:spPr>
            <a:xfrm>
              <a:off x="4965192" y="1883664"/>
              <a:ext cx="155448" cy="347472"/>
            </a:xfrm>
            <a:prstGeom prst="rect">
              <a:avLst/>
            </a:prstGeom>
            <a:solidFill>
              <a:srgbClr val="8B5CF6"/>
            </a:solidFill>
            <a:ln w="12700">
              <a:solidFill>
                <a:srgbClr val="8B5C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6">
              <a:extLst>
                <a:ext uri="{FF2B5EF4-FFF2-40B4-BE49-F238E27FC236}">
                  <a16:creationId xmlns:a16="http://schemas.microsoft.com/office/drawing/2014/main" id="{71CE63BF-B7C8-4ABE-FA80-30B2F849DDC7}"/>
                </a:ext>
              </a:extLst>
            </p:cNvPr>
            <p:cNvSpPr/>
            <p:nvPr/>
          </p:nvSpPr>
          <p:spPr>
            <a:xfrm>
              <a:off x="5157216" y="1792224"/>
              <a:ext cx="155448" cy="438912"/>
            </a:xfrm>
            <a:prstGeom prst="rect">
              <a:avLst/>
            </a:prstGeom>
            <a:solidFill>
              <a:srgbClr val="34D399"/>
            </a:solidFill>
            <a:ln w="12700">
              <a:solidFill>
                <a:srgbClr val="34D39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Shape 7">
              <a:extLst>
                <a:ext uri="{FF2B5EF4-FFF2-40B4-BE49-F238E27FC236}">
                  <a16:creationId xmlns:a16="http://schemas.microsoft.com/office/drawing/2014/main" id="{922ACDAD-2F09-5D00-A728-AEE2EB38214F}"/>
                </a:ext>
              </a:extLst>
            </p:cNvPr>
            <p:cNvSpPr/>
            <p:nvPr/>
          </p:nvSpPr>
          <p:spPr>
            <a:xfrm>
              <a:off x="5349240" y="1920240"/>
              <a:ext cx="155448" cy="310896"/>
            </a:xfrm>
            <a:prstGeom prst="rect">
              <a:avLst/>
            </a:prstGeom>
            <a:solidFill>
              <a:srgbClr val="60A5FA"/>
            </a:solidFill>
            <a:ln w="12700">
              <a:solidFill>
                <a:srgbClr val="60A5F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Shape 8">
              <a:extLst>
                <a:ext uri="{FF2B5EF4-FFF2-40B4-BE49-F238E27FC236}">
                  <a16:creationId xmlns:a16="http://schemas.microsoft.com/office/drawing/2014/main" id="{F6537088-7161-A1C4-D1BE-C8F4878F378F}"/>
                </a:ext>
              </a:extLst>
            </p:cNvPr>
            <p:cNvSpPr/>
            <p:nvPr/>
          </p:nvSpPr>
          <p:spPr>
            <a:xfrm>
              <a:off x="5285232" y="2788920"/>
              <a:ext cx="64008" cy="182880"/>
            </a:xfrm>
            <a:prstGeom prst="rect">
              <a:avLst/>
            </a:prstGeom>
            <a:solidFill>
              <a:srgbClr val="8B5CF6">
                <a:alpha val="70000"/>
              </a:srgbClr>
            </a:solidFill>
            <a:ln w="12700">
              <a:solidFill>
                <a:srgbClr val="8B5CF6">
                  <a:alpha val="7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Shape 9">
              <a:extLst>
                <a:ext uri="{FF2B5EF4-FFF2-40B4-BE49-F238E27FC236}">
                  <a16:creationId xmlns:a16="http://schemas.microsoft.com/office/drawing/2014/main" id="{D00AEAFB-7EB5-8A3F-250A-B697EE810274}"/>
                </a:ext>
              </a:extLst>
            </p:cNvPr>
            <p:cNvSpPr/>
            <p:nvPr/>
          </p:nvSpPr>
          <p:spPr>
            <a:xfrm>
              <a:off x="5047488" y="2944368"/>
              <a:ext cx="530352" cy="64008"/>
            </a:xfrm>
            <a:prstGeom prst="rect">
              <a:avLst/>
            </a:prstGeom>
            <a:solidFill>
              <a:srgbClr val="8B5CF6">
                <a:alpha val="70000"/>
              </a:srgbClr>
            </a:solidFill>
            <a:ln w="12700">
              <a:solidFill>
                <a:srgbClr val="8B5CF6">
                  <a:alpha val="7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Shape 10">
              <a:extLst>
                <a:ext uri="{FF2B5EF4-FFF2-40B4-BE49-F238E27FC236}">
                  <a16:creationId xmlns:a16="http://schemas.microsoft.com/office/drawing/2014/main" id="{D46DF80C-5ED6-479C-ED98-41C3279A9C11}"/>
                </a:ext>
              </a:extLst>
            </p:cNvPr>
            <p:cNvSpPr/>
            <p:nvPr/>
          </p:nvSpPr>
          <p:spPr>
            <a:xfrm>
              <a:off x="6199632" y="1755648"/>
              <a:ext cx="310896" cy="310896"/>
            </a:xfrm>
            <a:prstGeom prst="ellipse">
              <a:avLst/>
            </a:prstGeom>
            <a:solidFill>
              <a:srgbClr val="D97706"/>
            </a:solidFill>
            <a:ln w="12700">
              <a:solidFill>
                <a:srgbClr val="D9770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Shape 11">
              <a:extLst>
                <a:ext uri="{FF2B5EF4-FFF2-40B4-BE49-F238E27FC236}">
                  <a16:creationId xmlns:a16="http://schemas.microsoft.com/office/drawing/2014/main" id="{97B5F58D-CEF1-B1B5-F749-4B458C51A120}"/>
                </a:ext>
              </a:extLst>
            </p:cNvPr>
            <p:cNvSpPr/>
            <p:nvPr/>
          </p:nvSpPr>
          <p:spPr>
            <a:xfrm>
              <a:off x="6135624" y="2066544"/>
              <a:ext cx="438912" cy="594360"/>
            </a:xfrm>
            <a:prstGeom prst="rect">
              <a:avLst/>
            </a:prstGeom>
            <a:solidFill>
              <a:srgbClr val="2563EB"/>
            </a:solidFill>
            <a:ln w="12700">
              <a:solidFill>
                <a:srgbClr val="2563E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Shape 12">
              <a:extLst>
                <a:ext uri="{FF2B5EF4-FFF2-40B4-BE49-F238E27FC236}">
                  <a16:creationId xmlns:a16="http://schemas.microsoft.com/office/drawing/2014/main" id="{E1105C64-FA6A-B5F6-B70A-7B6A78C625CE}"/>
                </a:ext>
              </a:extLst>
            </p:cNvPr>
            <p:cNvSpPr/>
            <p:nvPr/>
          </p:nvSpPr>
          <p:spPr>
            <a:xfrm>
              <a:off x="5779008" y="2157984"/>
              <a:ext cx="402336" cy="82296"/>
            </a:xfrm>
            <a:prstGeom prst="rect">
              <a:avLst/>
            </a:prstGeom>
            <a:solidFill>
              <a:srgbClr val="D97706"/>
            </a:solidFill>
            <a:ln w="12700">
              <a:solidFill>
                <a:srgbClr val="D9770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Shape 13">
              <a:extLst>
                <a:ext uri="{FF2B5EF4-FFF2-40B4-BE49-F238E27FC236}">
                  <a16:creationId xmlns:a16="http://schemas.microsoft.com/office/drawing/2014/main" id="{82E526FC-7E52-A5A0-5876-293072BEDC1A}"/>
                </a:ext>
              </a:extLst>
            </p:cNvPr>
            <p:cNvSpPr/>
            <p:nvPr/>
          </p:nvSpPr>
          <p:spPr>
            <a:xfrm>
              <a:off x="6172200" y="2642616"/>
              <a:ext cx="155448" cy="420624"/>
            </a:xfrm>
            <a:prstGeom prst="rect">
              <a:avLst/>
            </a:prstGeom>
            <a:solidFill>
              <a:srgbClr val="1E3A8A"/>
            </a:solidFill>
            <a:ln w="12700">
              <a:solidFill>
                <a:srgbClr val="1E3A8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Shape 14">
              <a:extLst>
                <a:ext uri="{FF2B5EF4-FFF2-40B4-BE49-F238E27FC236}">
                  <a16:creationId xmlns:a16="http://schemas.microsoft.com/office/drawing/2014/main" id="{8DFFBEFA-A3F2-82E9-4C22-FAAE80BBAABA}"/>
                </a:ext>
              </a:extLst>
            </p:cNvPr>
            <p:cNvSpPr/>
            <p:nvPr/>
          </p:nvSpPr>
          <p:spPr>
            <a:xfrm>
              <a:off x="6382512" y="2642616"/>
              <a:ext cx="155448" cy="420624"/>
            </a:xfrm>
            <a:prstGeom prst="rect">
              <a:avLst/>
            </a:prstGeom>
            <a:solidFill>
              <a:srgbClr val="1E3A8A"/>
            </a:solidFill>
            <a:ln w="12700">
              <a:solidFill>
                <a:srgbClr val="1E3A8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Shape 15">
              <a:extLst>
                <a:ext uri="{FF2B5EF4-FFF2-40B4-BE49-F238E27FC236}">
                  <a16:creationId xmlns:a16="http://schemas.microsoft.com/office/drawing/2014/main" id="{0C3A8845-221F-B03A-5487-A2781A45CD56}"/>
                </a:ext>
              </a:extLst>
            </p:cNvPr>
            <p:cNvSpPr/>
            <p:nvPr/>
          </p:nvSpPr>
          <p:spPr>
            <a:xfrm>
              <a:off x="7040880" y="2414016"/>
              <a:ext cx="1234440" cy="82296"/>
            </a:xfrm>
            <a:prstGeom prst="rect">
              <a:avLst/>
            </a:prstGeom>
            <a:solidFill>
              <a:srgbClr val="4C1D95">
                <a:alpha val="80000"/>
              </a:srgbClr>
            </a:solidFill>
            <a:ln w="12700">
              <a:solidFill>
                <a:srgbClr val="4C1D95">
                  <a:alpha val="8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Shape 16">
              <a:extLst>
                <a:ext uri="{FF2B5EF4-FFF2-40B4-BE49-F238E27FC236}">
                  <a16:creationId xmlns:a16="http://schemas.microsoft.com/office/drawing/2014/main" id="{C9AB8841-2593-D3AD-8AC3-3AAB95DE987F}"/>
                </a:ext>
              </a:extLst>
            </p:cNvPr>
            <p:cNvSpPr/>
            <p:nvPr/>
          </p:nvSpPr>
          <p:spPr>
            <a:xfrm>
              <a:off x="7114032" y="2496312"/>
              <a:ext cx="64008" cy="411480"/>
            </a:xfrm>
            <a:prstGeom prst="rect">
              <a:avLst/>
            </a:prstGeom>
            <a:solidFill>
              <a:srgbClr val="4C1D95">
                <a:alpha val="60000"/>
              </a:srgbClr>
            </a:solidFill>
            <a:ln w="12700">
              <a:solidFill>
                <a:srgbClr val="4C1D95">
                  <a:alpha val="6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Shape 17">
              <a:extLst>
                <a:ext uri="{FF2B5EF4-FFF2-40B4-BE49-F238E27FC236}">
                  <a16:creationId xmlns:a16="http://schemas.microsoft.com/office/drawing/2014/main" id="{831284B2-DF6B-EEE1-851D-4B011F2CD7C6}"/>
                </a:ext>
              </a:extLst>
            </p:cNvPr>
            <p:cNvSpPr/>
            <p:nvPr/>
          </p:nvSpPr>
          <p:spPr>
            <a:xfrm>
              <a:off x="7260336" y="2496312"/>
              <a:ext cx="64008" cy="411480"/>
            </a:xfrm>
            <a:prstGeom prst="rect">
              <a:avLst/>
            </a:prstGeom>
            <a:solidFill>
              <a:srgbClr val="4C1D95">
                <a:alpha val="60000"/>
              </a:srgbClr>
            </a:solidFill>
            <a:ln w="12700">
              <a:solidFill>
                <a:srgbClr val="4C1D95">
                  <a:alpha val="6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Shape 18">
              <a:extLst>
                <a:ext uri="{FF2B5EF4-FFF2-40B4-BE49-F238E27FC236}">
                  <a16:creationId xmlns:a16="http://schemas.microsoft.com/office/drawing/2014/main" id="{7589262C-A57D-DF9A-9D1E-58526D12F7F0}"/>
                </a:ext>
              </a:extLst>
            </p:cNvPr>
            <p:cNvSpPr/>
            <p:nvPr/>
          </p:nvSpPr>
          <p:spPr>
            <a:xfrm>
              <a:off x="7077456" y="1920240"/>
              <a:ext cx="877824" cy="566928"/>
            </a:xfrm>
            <a:prstGeom prst="rect">
              <a:avLst/>
            </a:prstGeom>
            <a:solidFill>
              <a:srgbClr val="1E2E5C"/>
            </a:solidFill>
            <a:ln w="12700">
              <a:solidFill>
                <a:srgbClr val="33415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Shape 19">
              <a:extLst>
                <a:ext uri="{FF2B5EF4-FFF2-40B4-BE49-F238E27FC236}">
                  <a16:creationId xmlns:a16="http://schemas.microsoft.com/office/drawing/2014/main" id="{6A713AD3-AA94-6847-7248-C31D2703AAFB}"/>
                </a:ext>
              </a:extLst>
            </p:cNvPr>
            <p:cNvSpPr/>
            <p:nvPr/>
          </p:nvSpPr>
          <p:spPr>
            <a:xfrm>
              <a:off x="7571232" y="1993392"/>
              <a:ext cx="301752" cy="301752"/>
            </a:xfrm>
            <a:prstGeom prst="ellipse">
              <a:avLst/>
            </a:prstGeom>
            <a:solidFill>
              <a:srgbClr val="1E3A8A"/>
            </a:solidFill>
            <a:ln w="12700">
              <a:solidFill>
                <a:srgbClr val="1E3A8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Shape 20">
              <a:extLst>
                <a:ext uri="{FF2B5EF4-FFF2-40B4-BE49-F238E27FC236}">
                  <a16:creationId xmlns:a16="http://schemas.microsoft.com/office/drawing/2014/main" id="{A143CCA1-19F8-F20D-4515-3DFA387D868A}"/>
                </a:ext>
              </a:extLst>
            </p:cNvPr>
            <p:cNvSpPr/>
            <p:nvPr/>
          </p:nvSpPr>
          <p:spPr>
            <a:xfrm>
              <a:off x="6967728" y="2450592"/>
              <a:ext cx="1042416" cy="64008"/>
            </a:xfrm>
            <a:prstGeom prst="rect">
              <a:avLst/>
            </a:prstGeom>
            <a:solidFill>
              <a:srgbClr val="334155"/>
            </a:solidFill>
            <a:ln w="12700">
              <a:solidFill>
                <a:srgbClr val="33415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Shape 21">
              <a:extLst>
                <a:ext uri="{FF2B5EF4-FFF2-40B4-BE49-F238E27FC236}">
                  <a16:creationId xmlns:a16="http://schemas.microsoft.com/office/drawing/2014/main" id="{34728D74-409A-936E-41C6-6BD78132C1DC}"/>
                </a:ext>
              </a:extLst>
            </p:cNvPr>
            <p:cNvSpPr/>
            <p:nvPr/>
          </p:nvSpPr>
          <p:spPr>
            <a:xfrm>
              <a:off x="7424928" y="1444752"/>
              <a:ext cx="292608" cy="292608"/>
            </a:xfrm>
            <a:prstGeom prst="ellipse">
              <a:avLst/>
            </a:prstGeom>
            <a:solidFill>
              <a:srgbClr val="FCA5A5"/>
            </a:solidFill>
            <a:ln w="12700">
              <a:solidFill>
                <a:srgbClr val="FCA5A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Shape 22">
              <a:extLst>
                <a:ext uri="{FF2B5EF4-FFF2-40B4-BE49-F238E27FC236}">
                  <a16:creationId xmlns:a16="http://schemas.microsoft.com/office/drawing/2014/main" id="{275BAADF-2D96-E49A-E5B7-2024EC8D1070}"/>
                </a:ext>
              </a:extLst>
            </p:cNvPr>
            <p:cNvSpPr/>
            <p:nvPr/>
          </p:nvSpPr>
          <p:spPr>
            <a:xfrm>
              <a:off x="7351776" y="1737360"/>
              <a:ext cx="438912" cy="475488"/>
            </a:xfrm>
            <a:prstGeom prst="rect">
              <a:avLst/>
            </a:prstGeom>
            <a:solidFill>
              <a:srgbClr val="DC2626"/>
            </a:solidFill>
            <a:ln w="12700">
              <a:solidFill>
                <a:srgbClr val="DC262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Shape 23">
              <a:extLst>
                <a:ext uri="{FF2B5EF4-FFF2-40B4-BE49-F238E27FC236}">
                  <a16:creationId xmlns:a16="http://schemas.microsoft.com/office/drawing/2014/main" id="{CD0DC559-EF06-327F-CE65-CCC3760BE8A6}"/>
                </a:ext>
              </a:extLst>
            </p:cNvPr>
            <p:cNvSpPr/>
            <p:nvPr/>
          </p:nvSpPr>
          <p:spPr>
            <a:xfrm>
              <a:off x="7114032" y="2029968"/>
              <a:ext cx="292608" cy="82296"/>
            </a:xfrm>
            <a:prstGeom prst="rect">
              <a:avLst/>
            </a:prstGeom>
            <a:solidFill>
              <a:srgbClr val="FCA5A5"/>
            </a:solidFill>
            <a:ln w="12700">
              <a:solidFill>
                <a:srgbClr val="FCA5A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Shape 24">
              <a:extLst>
                <a:ext uri="{FF2B5EF4-FFF2-40B4-BE49-F238E27FC236}">
                  <a16:creationId xmlns:a16="http://schemas.microsoft.com/office/drawing/2014/main" id="{A58EF4AC-3FFB-A77C-803B-C6E56C664C2D}"/>
                </a:ext>
              </a:extLst>
            </p:cNvPr>
            <p:cNvSpPr/>
            <p:nvPr/>
          </p:nvSpPr>
          <p:spPr>
            <a:xfrm>
              <a:off x="7754112" y="2029968"/>
              <a:ext cx="292608" cy="82296"/>
            </a:xfrm>
            <a:prstGeom prst="rect">
              <a:avLst/>
            </a:prstGeom>
            <a:solidFill>
              <a:srgbClr val="FCA5A5"/>
            </a:solidFill>
            <a:ln w="12700">
              <a:solidFill>
                <a:srgbClr val="FCA5A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Shape 25">
              <a:extLst>
                <a:ext uri="{FF2B5EF4-FFF2-40B4-BE49-F238E27FC236}">
                  <a16:creationId xmlns:a16="http://schemas.microsoft.com/office/drawing/2014/main" id="{33DB82F6-D335-D75F-2D88-CC03CC7504FD}"/>
                </a:ext>
              </a:extLst>
            </p:cNvPr>
            <p:cNvSpPr/>
            <p:nvPr/>
          </p:nvSpPr>
          <p:spPr>
            <a:xfrm>
              <a:off x="8183880" y="1737360"/>
              <a:ext cx="292608" cy="292608"/>
            </a:xfrm>
            <a:prstGeom prst="ellipse">
              <a:avLst/>
            </a:prstGeom>
            <a:solidFill>
              <a:srgbClr val="6EE7B7"/>
            </a:solidFill>
            <a:ln w="12700">
              <a:solidFill>
                <a:srgbClr val="6EE7B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Shape 26">
              <a:extLst>
                <a:ext uri="{FF2B5EF4-FFF2-40B4-BE49-F238E27FC236}">
                  <a16:creationId xmlns:a16="http://schemas.microsoft.com/office/drawing/2014/main" id="{A91C0E64-94CD-E5FA-6BE7-B14B76052052}"/>
                </a:ext>
              </a:extLst>
            </p:cNvPr>
            <p:cNvSpPr/>
            <p:nvPr/>
          </p:nvSpPr>
          <p:spPr>
            <a:xfrm>
              <a:off x="8119872" y="2029968"/>
              <a:ext cx="420624" cy="585216"/>
            </a:xfrm>
            <a:prstGeom prst="rect">
              <a:avLst/>
            </a:prstGeom>
            <a:solidFill>
              <a:srgbClr val="059669"/>
            </a:solidFill>
            <a:ln w="12700">
              <a:solidFill>
                <a:srgbClr val="05966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Shape 27">
              <a:extLst>
                <a:ext uri="{FF2B5EF4-FFF2-40B4-BE49-F238E27FC236}">
                  <a16:creationId xmlns:a16="http://schemas.microsoft.com/office/drawing/2014/main" id="{A586E5B9-9CFA-2AE0-314D-2B2F29D6FC86}"/>
                </a:ext>
              </a:extLst>
            </p:cNvPr>
            <p:cNvSpPr/>
            <p:nvPr/>
          </p:nvSpPr>
          <p:spPr>
            <a:xfrm>
              <a:off x="7872984" y="2139696"/>
              <a:ext cx="292608" cy="82296"/>
            </a:xfrm>
            <a:prstGeom prst="rect">
              <a:avLst/>
            </a:prstGeom>
            <a:solidFill>
              <a:srgbClr val="6EE7B7"/>
            </a:solidFill>
            <a:ln w="12700">
              <a:solidFill>
                <a:srgbClr val="6EE7B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 name="Shape 28">
              <a:extLst>
                <a:ext uri="{FF2B5EF4-FFF2-40B4-BE49-F238E27FC236}">
                  <a16:creationId xmlns:a16="http://schemas.microsoft.com/office/drawing/2014/main" id="{425EF571-B865-9FD1-D081-68B007345BF4}"/>
                </a:ext>
              </a:extLst>
            </p:cNvPr>
            <p:cNvSpPr/>
            <p:nvPr/>
          </p:nvSpPr>
          <p:spPr>
            <a:xfrm>
              <a:off x="8494776" y="2139696"/>
              <a:ext cx="292608" cy="82296"/>
            </a:xfrm>
            <a:prstGeom prst="rect">
              <a:avLst/>
            </a:prstGeom>
            <a:solidFill>
              <a:srgbClr val="6EE7B7"/>
            </a:solidFill>
            <a:ln w="12700">
              <a:solidFill>
                <a:srgbClr val="6EE7B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 name="Shape 29">
              <a:extLst>
                <a:ext uri="{FF2B5EF4-FFF2-40B4-BE49-F238E27FC236}">
                  <a16:creationId xmlns:a16="http://schemas.microsoft.com/office/drawing/2014/main" id="{B689BE34-90F5-A519-C72C-DB8845C37281}"/>
                </a:ext>
              </a:extLst>
            </p:cNvPr>
            <p:cNvSpPr/>
            <p:nvPr/>
          </p:nvSpPr>
          <p:spPr>
            <a:xfrm>
              <a:off x="8156448" y="2596896"/>
              <a:ext cx="146304" cy="438912"/>
            </a:xfrm>
            <a:prstGeom prst="rect">
              <a:avLst/>
            </a:prstGeom>
            <a:solidFill>
              <a:srgbClr val="065F46"/>
            </a:solidFill>
            <a:ln w="12700">
              <a:solidFill>
                <a:srgbClr val="065F4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 name="Shape 30">
              <a:extLst>
                <a:ext uri="{FF2B5EF4-FFF2-40B4-BE49-F238E27FC236}">
                  <a16:creationId xmlns:a16="http://schemas.microsoft.com/office/drawing/2014/main" id="{7436848B-3F16-1858-A273-05DB2EA73777}"/>
                </a:ext>
              </a:extLst>
            </p:cNvPr>
            <p:cNvSpPr/>
            <p:nvPr/>
          </p:nvSpPr>
          <p:spPr>
            <a:xfrm>
              <a:off x="8357616" y="2596896"/>
              <a:ext cx="146304" cy="438912"/>
            </a:xfrm>
            <a:prstGeom prst="rect">
              <a:avLst/>
            </a:prstGeom>
            <a:solidFill>
              <a:srgbClr val="065F46"/>
            </a:solidFill>
            <a:ln w="12700">
              <a:solidFill>
                <a:srgbClr val="065F4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Shape 31">
              <a:extLst>
                <a:ext uri="{FF2B5EF4-FFF2-40B4-BE49-F238E27FC236}">
                  <a16:creationId xmlns:a16="http://schemas.microsoft.com/office/drawing/2014/main" id="{094E5144-D03C-E418-E85A-ECE75F1AA309}"/>
                </a:ext>
              </a:extLst>
            </p:cNvPr>
            <p:cNvSpPr/>
            <p:nvPr/>
          </p:nvSpPr>
          <p:spPr>
            <a:xfrm>
              <a:off x="5303520" y="1481328"/>
              <a:ext cx="137160" cy="137160"/>
            </a:xfrm>
            <a:prstGeom prst="ellipse">
              <a:avLst/>
            </a:prstGeom>
            <a:solidFill>
              <a:srgbClr val="8B5CF6">
                <a:alpha val="55000"/>
              </a:srgbClr>
            </a:solidFill>
            <a:ln w="12700">
              <a:solidFill>
                <a:srgbClr val="8B5CF6">
                  <a:alpha val="5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 name="Shape 32">
              <a:extLst>
                <a:ext uri="{FF2B5EF4-FFF2-40B4-BE49-F238E27FC236}">
                  <a16:creationId xmlns:a16="http://schemas.microsoft.com/office/drawing/2014/main" id="{C4212EB9-B2F3-D2AC-81FB-E3DB7C594ED0}"/>
                </a:ext>
              </a:extLst>
            </p:cNvPr>
            <p:cNvSpPr/>
            <p:nvPr/>
          </p:nvSpPr>
          <p:spPr>
            <a:xfrm>
              <a:off x="6437376" y="1389888"/>
              <a:ext cx="118872" cy="118872"/>
            </a:xfrm>
            <a:prstGeom prst="ellipse">
              <a:avLst/>
            </a:prstGeom>
            <a:solidFill>
              <a:srgbClr val="D97706">
                <a:alpha val="55000"/>
              </a:srgbClr>
            </a:solidFill>
            <a:ln w="12700">
              <a:solidFill>
                <a:srgbClr val="D97706">
                  <a:alpha val="5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Shape 33">
              <a:extLst>
                <a:ext uri="{FF2B5EF4-FFF2-40B4-BE49-F238E27FC236}">
                  <a16:creationId xmlns:a16="http://schemas.microsoft.com/office/drawing/2014/main" id="{C4C5DFF6-184F-9E43-1FD1-25DFE0317E00}"/>
                </a:ext>
              </a:extLst>
            </p:cNvPr>
            <p:cNvSpPr/>
            <p:nvPr/>
          </p:nvSpPr>
          <p:spPr>
            <a:xfrm>
              <a:off x="7735824" y="1335024"/>
              <a:ext cx="128016" cy="128016"/>
            </a:xfrm>
            <a:prstGeom prst="ellipse">
              <a:avLst/>
            </a:prstGeom>
            <a:solidFill>
              <a:srgbClr val="34D399">
                <a:alpha val="55000"/>
              </a:srgbClr>
            </a:solidFill>
            <a:ln w="12700">
              <a:solidFill>
                <a:srgbClr val="34D399">
                  <a:alpha val="5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Shape 34">
              <a:extLst>
                <a:ext uri="{FF2B5EF4-FFF2-40B4-BE49-F238E27FC236}">
                  <a16:creationId xmlns:a16="http://schemas.microsoft.com/office/drawing/2014/main" id="{6C5B65E8-720A-B209-87F7-22D0ED7B0C4C}"/>
                </a:ext>
              </a:extLst>
            </p:cNvPr>
            <p:cNvSpPr/>
            <p:nvPr/>
          </p:nvSpPr>
          <p:spPr>
            <a:xfrm>
              <a:off x="7918704" y="1152144"/>
              <a:ext cx="1097280" cy="457200"/>
            </a:xfrm>
            <a:prstGeom prst="roundRect">
              <a:avLst/>
            </a:prstGeom>
            <a:solidFill>
              <a:srgbClr val="FFFFFF">
                <a:alpha val="22000"/>
              </a:srgbClr>
            </a:solidFill>
            <a:ln w="12700">
              <a:solidFill>
                <a:srgbClr val="FFFFFF">
                  <a:alpha val="4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 name="Shape 35">
              <a:extLst>
                <a:ext uri="{FF2B5EF4-FFF2-40B4-BE49-F238E27FC236}">
                  <a16:creationId xmlns:a16="http://schemas.microsoft.com/office/drawing/2014/main" id="{F0551571-686D-70AD-006C-C6023D7F7E20}"/>
                </a:ext>
              </a:extLst>
            </p:cNvPr>
            <p:cNvSpPr/>
            <p:nvPr/>
          </p:nvSpPr>
          <p:spPr>
            <a:xfrm>
              <a:off x="8357616" y="1225296"/>
              <a:ext cx="201168" cy="201168"/>
            </a:xfrm>
            <a:prstGeom prst="ellipse">
              <a:avLst/>
            </a:prstGeom>
            <a:solidFill>
              <a:srgbClr val="D97706">
                <a:alpha val="75000"/>
              </a:srgbClr>
            </a:solidFill>
            <a:ln w="12700">
              <a:solidFill>
                <a:srgbClr val="D97706">
                  <a:alpha val="7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3" name="Shape 36">
              <a:extLst>
                <a:ext uri="{FF2B5EF4-FFF2-40B4-BE49-F238E27FC236}">
                  <a16:creationId xmlns:a16="http://schemas.microsoft.com/office/drawing/2014/main" id="{4F156402-7D5B-24BD-B64B-5F9BBAA221A9}"/>
                </a:ext>
              </a:extLst>
            </p:cNvPr>
            <p:cNvSpPr/>
            <p:nvPr/>
          </p:nvSpPr>
          <p:spPr>
            <a:xfrm>
              <a:off x="7982712" y="1243584"/>
              <a:ext cx="301752" cy="54864"/>
            </a:xfrm>
            <a:prstGeom prst="rect">
              <a:avLst/>
            </a:prstGeom>
            <a:solidFill>
              <a:srgbClr val="FFFFFF">
                <a:alpha val="55000"/>
              </a:srgbClr>
            </a:solidFill>
            <a:ln w="12700">
              <a:solidFill>
                <a:srgbClr val="FFFFFF">
                  <a:alpha val="5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4" name="Shape 37">
              <a:extLst>
                <a:ext uri="{FF2B5EF4-FFF2-40B4-BE49-F238E27FC236}">
                  <a16:creationId xmlns:a16="http://schemas.microsoft.com/office/drawing/2014/main" id="{40C5AD7E-9E43-BAB3-C7CC-E37A488A11C4}"/>
                </a:ext>
              </a:extLst>
            </p:cNvPr>
            <p:cNvSpPr/>
            <p:nvPr/>
          </p:nvSpPr>
          <p:spPr>
            <a:xfrm>
              <a:off x="7982712" y="1325880"/>
              <a:ext cx="237744" cy="54864"/>
            </a:xfrm>
            <a:prstGeom prst="rect">
              <a:avLst/>
            </a:prstGeom>
            <a:solidFill>
              <a:srgbClr val="FFFFFF">
                <a:alpha val="55000"/>
              </a:srgbClr>
            </a:solidFill>
            <a:ln w="12700">
              <a:solidFill>
                <a:srgbClr val="FFFFFF">
                  <a:alpha val="5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914400"/>
          </a:xfrm>
          <a:prstGeom prst="rect">
            <a:avLst/>
          </a:prstGeom>
        </p:spPr>
      </p:pic>
      <p:sp>
        <p:nvSpPr>
          <p:cNvPr id="3" name="Text 0"/>
          <p:cNvSpPr/>
          <p:nvPr/>
        </p:nvSpPr>
        <p:spPr>
          <a:xfrm>
            <a:off x="457200" y="61603"/>
            <a:ext cx="8138160" cy="804672"/>
          </a:xfrm>
          <a:prstGeom prst="rect">
            <a:avLst/>
          </a:prstGeom>
          <a:noFill/>
          <a:ln/>
        </p:spPr>
        <p:txBody>
          <a:bodyPr wrap="square" lIns="0" tIns="0" rIns="0" bIns="0" rtlCol="0" anchor="ctr"/>
          <a:lstStyle/>
          <a:p>
            <a:r>
              <a:rPr lang="en-US" sz="2400" b="1" dirty="0">
                <a:solidFill>
                  <a:schemeClr val="bg1"/>
                </a:solidFill>
              </a:rPr>
              <a:t>Why businesses fail to learn from day-to-day work experiences</a:t>
            </a:r>
          </a:p>
        </p:txBody>
      </p:sp>
      <p:sp>
        <p:nvSpPr>
          <p:cNvPr id="4" name="Shape 1"/>
          <p:cNvSpPr/>
          <p:nvPr/>
        </p:nvSpPr>
        <p:spPr>
          <a:xfrm>
            <a:off x="320040" y="1143000"/>
            <a:ext cx="2743200" cy="1371600"/>
          </a:xfrm>
          <a:prstGeom prst="rect">
            <a:avLst/>
          </a:prstGeom>
          <a:solidFill>
            <a:srgbClr val="9333EA"/>
          </a:solidFill>
          <a:ln w="12700">
            <a:solidFill>
              <a:srgbClr val="9333EA"/>
            </a:solidFill>
            <a:prstDash val="solid"/>
          </a:ln>
          <a:effectLst>
            <a:outerShdw blurRad="101600" dist="38100" dir="8100000" algn="bl" rotWithShape="0">
              <a:srgbClr val="000000">
                <a:alpha val="12000"/>
              </a:srgbClr>
            </a:outerShdw>
          </a:effectLst>
        </p:spPr>
        <p:txBody>
          <a:bodyPr/>
          <a:lstStyle/>
          <a:p>
            <a:endParaRPr lang="en-US"/>
          </a:p>
        </p:txBody>
      </p:sp>
      <p:sp>
        <p:nvSpPr>
          <p:cNvPr id="5" name="Text 2"/>
          <p:cNvSpPr/>
          <p:nvPr/>
        </p:nvSpPr>
        <p:spPr>
          <a:xfrm>
            <a:off x="429768" y="1207008"/>
            <a:ext cx="2523744" cy="38404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Hard to Search</a:t>
            </a:r>
            <a:endParaRPr lang="en-US" sz="1400" dirty="0"/>
          </a:p>
        </p:txBody>
      </p:sp>
      <p:sp>
        <p:nvSpPr>
          <p:cNvPr id="6" name="Text 3"/>
          <p:cNvSpPr/>
          <p:nvPr/>
        </p:nvSpPr>
        <p:spPr>
          <a:xfrm>
            <a:off x="429768" y="1609344"/>
            <a:ext cx="2523744" cy="804672"/>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Free-text repositories make them difficult to search</a:t>
            </a:r>
            <a:endParaRPr lang="en-US" sz="1100" dirty="0"/>
          </a:p>
        </p:txBody>
      </p:sp>
      <p:grpSp>
        <p:nvGrpSpPr>
          <p:cNvPr id="19" name="Group 18">
            <a:extLst>
              <a:ext uri="{FF2B5EF4-FFF2-40B4-BE49-F238E27FC236}">
                <a16:creationId xmlns:a16="http://schemas.microsoft.com/office/drawing/2014/main" id="{EF07D3AD-E8AD-1FF8-6743-15BE498D3CF6}"/>
              </a:ext>
            </a:extLst>
          </p:cNvPr>
          <p:cNvGrpSpPr/>
          <p:nvPr/>
        </p:nvGrpSpPr>
        <p:grpSpPr>
          <a:xfrm>
            <a:off x="6080762" y="1140387"/>
            <a:ext cx="2743200" cy="1371600"/>
            <a:chOff x="3200400" y="1143000"/>
            <a:chExt cx="2743200" cy="1371600"/>
          </a:xfrm>
        </p:grpSpPr>
        <p:sp>
          <p:nvSpPr>
            <p:cNvPr id="7" name="Shape 4"/>
            <p:cNvSpPr/>
            <p:nvPr/>
          </p:nvSpPr>
          <p:spPr>
            <a:xfrm>
              <a:off x="3200400" y="1143000"/>
              <a:ext cx="2743200" cy="1371600"/>
            </a:xfrm>
            <a:prstGeom prst="rect">
              <a:avLst/>
            </a:prstGeom>
            <a:solidFill>
              <a:srgbClr val="2563EB"/>
            </a:solidFill>
            <a:ln w="12700">
              <a:solidFill>
                <a:srgbClr val="2563EB"/>
              </a:solidFill>
              <a:prstDash val="solid"/>
            </a:ln>
            <a:effectLst>
              <a:outerShdw blurRad="101600" dist="38100" dir="8100000" algn="bl" rotWithShape="0">
                <a:srgbClr val="000000">
                  <a:alpha val="12000"/>
                </a:srgbClr>
              </a:outerShdw>
            </a:effectLst>
          </p:spPr>
          <p:txBody>
            <a:bodyPr/>
            <a:lstStyle/>
            <a:p>
              <a:endParaRPr lang="en-US"/>
            </a:p>
          </p:txBody>
        </p:sp>
        <p:sp>
          <p:nvSpPr>
            <p:cNvPr id="8" name="Text 5"/>
            <p:cNvSpPr/>
            <p:nvPr/>
          </p:nvSpPr>
          <p:spPr>
            <a:xfrm>
              <a:off x="3310128" y="1207008"/>
              <a:ext cx="2523744" cy="38404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Decentralized</a:t>
              </a:r>
              <a:endParaRPr lang="en-US" sz="1400" dirty="0"/>
            </a:p>
          </p:txBody>
        </p:sp>
        <p:sp>
          <p:nvSpPr>
            <p:cNvPr id="9" name="Text 6"/>
            <p:cNvSpPr/>
            <p:nvPr/>
          </p:nvSpPr>
          <p:spPr>
            <a:xfrm>
              <a:off x="3310128" y="1609344"/>
              <a:ext cx="2523744" cy="804672"/>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Spread across multiple tools with no single source of truth</a:t>
              </a:r>
              <a:endParaRPr lang="en-US" sz="1100" dirty="0"/>
            </a:p>
          </p:txBody>
        </p:sp>
      </p:grpSp>
      <p:grpSp>
        <p:nvGrpSpPr>
          <p:cNvPr id="18" name="Group 17">
            <a:extLst>
              <a:ext uri="{FF2B5EF4-FFF2-40B4-BE49-F238E27FC236}">
                <a16:creationId xmlns:a16="http://schemas.microsoft.com/office/drawing/2014/main" id="{0CCB1722-D464-B099-FAE8-AA8F5FFD9F7C}"/>
              </a:ext>
            </a:extLst>
          </p:cNvPr>
          <p:cNvGrpSpPr/>
          <p:nvPr/>
        </p:nvGrpSpPr>
        <p:grpSpPr>
          <a:xfrm>
            <a:off x="3200401" y="1140387"/>
            <a:ext cx="2743200" cy="1371600"/>
            <a:chOff x="6080760" y="1143000"/>
            <a:chExt cx="2743200" cy="1371600"/>
          </a:xfrm>
        </p:grpSpPr>
        <p:sp>
          <p:nvSpPr>
            <p:cNvPr id="10" name="Shape 7"/>
            <p:cNvSpPr/>
            <p:nvPr/>
          </p:nvSpPr>
          <p:spPr>
            <a:xfrm>
              <a:off x="6080760" y="1143000"/>
              <a:ext cx="2743200" cy="1371600"/>
            </a:xfrm>
            <a:prstGeom prst="rect">
              <a:avLst/>
            </a:prstGeom>
            <a:solidFill>
              <a:srgbClr val="D97706"/>
            </a:solidFill>
            <a:ln w="12700">
              <a:solidFill>
                <a:srgbClr val="D97706"/>
              </a:solidFill>
              <a:prstDash val="solid"/>
            </a:ln>
            <a:effectLst>
              <a:outerShdw blurRad="101600" dist="38100" dir="8100000" algn="bl" rotWithShape="0">
                <a:srgbClr val="000000">
                  <a:alpha val="12000"/>
                </a:srgbClr>
              </a:outerShdw>
            </a:effectLst>
          </p:spPr>
          <p:txBody>
            <a:bodyPr/>
            <a:lstStyle/>
            <a:p>
              <a:endParaRPr lang="en-US"/>
            </a:p>
          </p:txBody>
        </p:sp>
        <p:sp>
          <p:nvSpPr>
            <p:cNvPr id="11" name="Text 8"/>
            <p:cNvSpPr/>
            <p:nvPr/>
          </p:nvSpPr>
          <p:spPr>
            <a:xfrm>
              <a:off x="6190488" y="1207008"/>
              <a:ext cx="2523744" cy="38404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Unstructured</a:t>
              </a:r>
              <a:endParaRPr lang="en-US" sz="1400" dirty="0"/>
            </a:p>
          </p:txBody>
        </p:sp>
        <p:sp>
          <p:nvSpPr>
            <p:cNvPr id="12" name="Text 9"/>
            <p:cNvSpPr/>
            <p:nvPr/>
          </p:nvSpPr>
          <p:spPr>
            <a:xfrm>
              <a:off x="6190488" y="1609344"/>
              <a:ext cx="2523744" cy="804672"/>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Not structured around problems → actions → outcomes</a:t>
              </a:r>
              <a:endParaRPr lang="en-US" sz="1100" dirty="0"/>
            </a:p>
          </p:txBody>
        </p:sp>
      </p:grpSp>
      <p:sp>
        <p:nvSpPr>
          <p:cNvPr id="13" name="Shape 10"/>
          <p:cNvSpPr/>
          <p:nvPr/>
        </p:nvSpPr>
        <p:spPr>
          <a:xfrm>
            <a:off x="320040" y="2697480"/>
            <a:ext cx="8503920" cy="1371600"/>
          </a:xfrm>
          <a:prstGeom prst="rect">
            <a:avLst/>
          </a:prstGeom>
          <a:solidFill>
            <a:srgbClr val="FFFFFF"/>
          </a:solidFill>
          <a:ln w="12700">
            <a:solidFill>
              <a:srgbClr val="E9D5FF"/>
            </a:solidFill>
            <a:prstDash val="solid"/>
          </a:ln>
          <a:effectLst>
            <a:outerShdw blurRad="101600" dist="38100" dir="8100000" algn="bl" rotWithShape="0">
              <a:srgbClr val="000000">
                <a:alpha val="12000"/>
              </a:srgbClr>
            </a:outerShdw>
          </a:effectLst>
        </p:spPr>
        <p:txBody>
          <a:bodyPr/>
          <a:lstStyle/>
          <a:p>
            <a:endParaRPr lang="en-US"/>
          </a:p>
        </p:txBody>
      </p:sp>
      <p:sp>
        <p:nvSpPr>
          <p:cNvPr id="14" name="Shape 11"/>
          <p:cNvSpPr/>
          <p:nvPr/>
        </p:nvSpPr>
        <p:spPr>
          <a:xfrm>
            <a:off x="320040" y="2697480"/>
            <a:ext cx="91440" cy="1371600"/>
          </a:xfrm>
          <a:prstGeom prst="rect">
            <a:avLst/>
          </a:prstGeom>
          <a:solidFill>
            <a:srgbClr val="9333EA"/>
          </a:solidFill>
          <a:ln w="12700">
            <a:solidFill>
              <a:srgbClr val="9333EA"/>
            </a:solidFill>
            <a:prstDash val="solid"/>
          </a:ln>
        </p:spPr>
        <p:txBody>
          <a:bodyPr/>
          <a:lstStyle/>
          <a:p>
            <a:endParaRPr lang="en-US"/>
          </a:p>
        </p:txBody>
      </p:sp>
      <p:sp>
        <p:nvSpPr>
          <p:cNvPr id="15" name="Text 12"/>
          <p:cNvSpPr/>
          <p:nvPr/>
        </p:nvSpPr>
        <p:spPr>
          <a:xfrm>
            <a:off x="502920" y="2788920"/>
            <a:ext cx="8247888" cy="1188720"/>
          </a:xfrm>
          <a:prstGeom prst="rect">
            <a:avLst/>
          </a:prstGeom>
          <a:noFill/>
          <a:ln/>
        </p:spPr>
        <p:txBody>
          <a:bodyPr wrap="square" rtlCol="0" anchor="ctr"/>
          <a:lstStyle/>
          <a:p>
            <a:r>
              <a:rPr lang="en-US" sz="1300" dirty="0">
                <a:solidFill>
                  <a:srgbClr val="1F2937"/>
                </a:solidFill>
                <a:latin typeface="Calibri" pitchFamily="34" charset="0"/>
                <a:cs typeface="Calibri" pitchFamily="34" charset="-120"/>
              </a:rPr>
              <a:t>Employee work experiences, when recorded, are typically stored as unstructured, free text — not organized around three core elements: problem, actions, and results (what worked and what didn’t).</a:t>
            </a:r>
            <a:br>
              <a:rPr lang="en-US" sz="1300" dirty="0">
                <a:solidFill>
                  <a:srgbClr val="1F2937"/>
                </a:solidFill>
                <a:latin typeface="Calibri" pitchFamily="34" charset="0"/>
                <a:cs typeface="Calibri" pitchFamily="34" charset="-120"/>
              </a:rPr>
            </a:br>
            <a:endParaRPr lang="en-US" sz="1300" dirty="0">
              <a:solidFill>
                <a:srgbClr val="1F2937"/>
              </a:solidFill>
              <a:latin typeface="Calibri" pitchFamily="34" charset="0"/>
              <a:cs typeface="Calibri" pitchFamily="34" charset="-120"/>
            </a:endParaRPr>
          </a:p>
          <a:p>
            <a:r>
              <a:rPr lang="en-US" sz="1300" dirty="0">
                <a:solidFill>
                  <a:srgbClr val="1F2937"/>
                </a:solidFill>
                <a:latin typeface="Calibri" pitchFamily="34" charset="0"/>
                <a:cs typeface="Calibri" pitchFamily="34" charset="-120"/>
              </a:rPr>
              <a:t>As a result, they are difficult to search, difficult to turn into insights, and ultimately ineffective for organizational learning.</a:t>
            </a:r>
          </a:p>
        </p:txBody>
      </p:sp>
      <p:sp>
        <p:nvSpPr>
          <p:cNvPr id="16" name="Shape 13"/>
          <p:cNvSpPr/>
          <p:nvPr/>
        </p:nvSpPr>
        <p:spPr>
          <a:xfrm>
            <a:off x="0" y="4531093"/>
            <a:ext cx="9144000" cy="612271"/>
          </a:xfrm>
          <a:prstGeom prst="rect">
            <a:avLst/>
          </a:prstGeom>
          <a:solidFill>
            <a:srgbClr val="1E2E5C"/>
          </a:solidFill>
          <a:ln w="12700">
            <a:solidFill>
              <a:srgbClr val="1E2E5C"/>
            </a:solidFill>
            <a:prstDash val="solid"/>
          </a:ln>
        </p:spPr>
        <p:txBody>
          <a:bodyPr/>
          <a:lstStyle/>
          <a:p>
            <a:endParaRPr lang="en-US"/>
          </a:p>
        </p:txBody>
      </p:sp>
      <p:sp>
        <p:nvSpPr>
          <p:cNvPr id="17" name="Text 14"/>
          <p:cNvSpPr/>
          <p:nvPr/>
        </p:nvSpPr>
        <p:spPr>
          <a:xfrm>
            <a:off x="457200" y="4472267"/>
            <a:ext cx="8229600" cy="754380"/>
          </a:xfrm>
          <a:prstGeom prst="rect">
            <a:avLst/>
          </a:prstGeom>
          <a:noFill/>
          <a:ln/>
        </p:spPr>
        <p:txBody>
          <a:bodyPr wrap="square" rtlCol="0" anchor="ctr"/>
          <a:lstStyle/>
          <a:p>
            <a:pPr algn="ctr"/>
            <a:r>
              <a:rPr lang="en-US" sz="1500" b="1" dirty="0">
                <a:solidFill>
                  <a:srgbClr val="D97706"/>
                </a:solidFill>
                <a:latin typeface="Calibri" pitchFamily="34" charset="0"/>
                <a:cs typeface="Calibri" pitchFamily="34" charset="-120"/>
              </a:rPr>
              <a:t>What organizations lack is not knowledge — but a structured way to learn from experience.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858000" y="-457200"/>
            <a:ext cx="3200400" cy="3200400"/>
          </a:xfrm>
          <a:prstGeom prst="ellipse">
            <a:avLst/>
          </a:prstGeom>
          <a:solidFill>
            <a:srgbClr val="9333EA">
              <a:alpha val="28000"/>
            </a:srgbClr>
          </a:solidFill>
          <a:ln w="12700">
            <a:solidFill>
              <a:srgbClr val="9333EA">
                <a:alpha val="28000"/>
              </a:srgbClr>
            </a:solidFill>
            <a:prstDash val="solid"/>
          </a:ln>
        </p:spPr>
        <p:txBody>
          <a:bodyPr/>
          <a:lstStyle/>
          <a:p>
            <a:endParaRPr lang="en-US"/>
          </a:p>
        </p:txBody>
      </p:sp>
      <p:sp>
        <p:nvSpPr>
          <p:cNvPr id="3" name="Shape 1"/>
          <p:cNvSpPr/>
          <p:nvPr/>
        </p:nvSpPr>
        <p:spPr>
          <a:xfrm>
            <a:off x="-731520" y="3200400"/>
            <a:ext cx="2743200" cy="2743200"/>
          </a:xfrm>
          <a:prstGeom prst="ellipse">
            <a:avLst/>
          </a:prstGeom>
          <a:solidFill>
            <a:srgbClr val="2563EB">
              <a:alpha val="22000"/>
            </a:srgbClr>
          </a:solidFill>
          <a:ln w="12700">
            <a:solidFill>
              <a:srgbClr val="2563EB">
                <a:alpha val="22000"/>
              </a:srgbClr>
            </a:solidFill>
            <a:prstDash val="solid"/>
          </a:ln>
        </p:spPr>
        <p:txBody>
          <a:bodyPr/>
          <a:lstStyle/>
          <a:p>
            <a:endParaRPr lang="en-US"/>
          </a:p>
        </p:txBody>
      </p:sp>
      <p:sp>
        <p:nvSpPr>
          <p:cNvPr id="4" name="Text 2"/>
          <p:cNvSpPr/>
          <p:nvPr/>
        </p:nvSpPr>
        <p:spPr>
          <a:xfrm>
            <a:off x="548640" y="320040"/>
            <a:ext cx="7772400" cy="777240"/>
          </a:xfrm>
          <a:prstGeom prst="rect">
            <a:avLst/>
          </a:prstGeom>
          <a:noFill/>
          <a:ln/>
        </p:spPr>
        <p:txBody>
          <a:bodyPr wrap="square" lIns="0" tIns="0" rIns="0" bIns="0"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The Big Idea</a:t>
            </a:r>
            <a:endParaRPr lang="en-US" sz="3800" dirty="0"/>
          </a:p>
        </p:txBody>
      </p:sp>
      <p:sp>
        <p:nvSpPr>
          <p:cNvPr id="5" name="Shape 3"/>
          <p:cNvSpPr/>
          <p:nvPr/>
        </p:nvSpPr>
        <p:spPr>
          <a:xfrm>
            <a:off x="548640" y="1115568"/>
            <a:ext cx="1828800" cy="54864"/>
          </a:xfrm>
          <a:prstGeom prst="rect">
            <a:avLst/>
          </a:prstGeom>
          <a:solidFill>
            <a:srgbClr val="D97706"/>
          </a:solidFill>
          <a:ln w="12700">
            <a:solidFill>
              <a:srgbClr val="D97706"/>
            </a:solidFill>
            <a:prstDash val="solid"/>
          </a:ln>
        </p:spPr>
        <p:txBody>
          <a:bodyPr/>
          <a:lstStyle/>
          <a:p>
            <a:endParaRPr lang="en-US"/>
          </a:p>
        </p:txBody>
      </p:sp>
      <p:sp>
        <p:nvSpPr>
          <p:cNvPr id="6" name="Text 4"/>
          <p:cNvSpPr/>
          <p:nvPr/>
        </p:nvSpPr>
        <p:spPr>
          <a:xfrm>
            <a:off x="548640" y="1261872"/>
            <a:ext cx="7772400" cy="777240"/>
          </a:xfrm>
          <a:prstGeom prst="rect">
            <a:avLst/>
          </a:prstGeom>
          <a:noFill/>
          <a:ln/>
        </p:spPr>
        <p:txBody>
          <a:bodyPr wrap="square" rtlCol="0" anchor="ctr"/>
          <a:lstStyle/>
          <a:p>
            <a:r>
              <a:rPr lang="en-US" sz="1500" i="1" dirty="0">
                <a:solidFill>
                  <a:srgbClr val="C4B5FD"/>
                </a:solidFill>
                <a:latin typeface="Calibri" pitchFamily="34" charset="0"/>
                <a:ea typeface="Calibri" pitchFamily="34" charset="-122"/>
                <a:cs typeface="Calibri" pitchFamily="34" charset="-120"/>
              </a:rPr>
              <a:t>What if companies could systematically capture and share work experiences across business areas </a:t>
            </a:r>
            <a:r>
              <a:rPr lang="en-US" sz="1500" i="1" dirty="0">
                <a:solidFill>
                  <a:srgbClr val="C4B5FD"/>
                </a:solidFill>
                <a:latin typeface="Calibri" pitchFamily="34" charset="0"/>
                <a:cs typeface="Calibri" pitchFamily="34" charset="-120"/>
              </a:rPr>
              <a:t>— in </a:t>
            </a:r>
            <a:r>
              <a:rPr lang="en-US" sz="1500" i="1" dirty="0">
                <a:solidFill>
                  <a:srgbClr val="C4B5FD"/>
                </a:solidFill>
                <a:latin typeface="Calibri" pitchFamily="34" charset="0"/>
                <a:ea typeface="Calibri" pitchFamily="34" charset="-122"/>
                <a:cs typeface="Calibri" pitchFamily="34" charset="-120"/>
              </a:rPr>
              <a:t>real time and in a structured way?</a:t>
            </a:r>
            <a:endParaRPr lang="en-US" sz="1500" dirty="0"/>
          </a:p>
        </p:txBody>
      </p:sp>
      <p:sp>
        <p:nvSpPr>
          <p:cNvPr id="7" name="Shape 5"/>
          <p:cNvSpPr/>
          <p:nvPr/>
        </p:nvSpPr>
        <p:spPr>
          <a:xfrm>
            <a:off x="1371600" y="2176272"/>
            <a:ext cx="1005840" cy="1005840"/>
          </a:xfrm>
          <a:prstGeom prst="ellipse">
            <a:avLst/>
          </a:prstGeom>
          <a:solidFill>
            <a:srgbClr val="9333EA"/>
          </a:solidFill>
          <a:ln w="12700">
            <a:solidFill>
              <a:srgbClr val="9333EA"/>
            </a:solidFill>
            <a:prstDash val="solid"/>
          </a:ln>
        </p:spPr>
        <p:txBody>
          <a:bodyPr/>
          <a:lstStyle/>
          <a:p>
            <a:endParaRPr lang="en-US"/>
          </a:p>
        </p:txBody>
      </p:sp>
      <p:sp>
        <p:nvSpPr>
          <p:cNvPr id="8" name="Text 6"/>
          <p:cNvSpPr/>
          <p:nvPr/>
        </p:nvSpPr>
        <p:spPr>
          <a:xfrm>
            <a:off x="1371600" y="2176272"/>
            <a:ext cx="1005840" cy="100584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1</a:t>
            </a:r>
            <a:endParaRPr lang="en-US" sz="2600" dirty="0"/>
          </a:p>
        </p:txBody>
      </p:sp>
      <p:sp>
        <p:nvSpPr>
          <p:cNvPr id="9" name="Text 7"/>
          <p:cNvSpPr/>
          <p:nvPr/>
        </p:nvSpPr>
        <p:spPr>
          <a:xfrm>
            <a:off x="502920" y="3273552"/>
            <a:ext cx="2743200"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Problems</a:t>
            </a:r>
            <a:endParaRPr lang="en-US" sz="1400" dirty="0"/>
          </a:p>
        </p:txBody>
      </p:sp>
      <p:sp>
        <p:nvSpPr>
          <p:cNvPr id="10" name="Text 8"/>
          <p:cNvSpPr/>
          <p:nvPr/>
        </p:nvSpPr>
        <p:spPr>
          <a:xfrm>
            <a:off x="502920" y="3675888"/>
            <a:ext cx="2743200" cy="713232"/>
          </a:xfrm>
          <a:prstGeom prst="rect">
            <a:avLst/>
          </a:prstGeom>
          <a:noFill/>
          <a:ln/>
        </p:spPr>
        <p:txBody>
          <a:bodyPr wrap="square" rtlCol="0" anchor="ctr"/>
          <a:lstStyle/>
          <a:p>
            <a:pPr marL="0" indent="0" algn="ctr">
              <a:buNone/>
            </a:pPr>
            <a:r>
              <a:rPr lang="en-US" sz="1100" dirty="0">
                <a:solidFill>
                  <a:srgbClr val="C4B5FD"/>
                </a:solidFill>
                <a:latin typeface="Calibri" pitchFamily="34" charset="0"/>
                <a:ea typeface="Calibri" pitchFamily="34" charset="-122"/>
                <a:cs typeface="Calibri" pitchFamily="34" charset="-120"/>
              </a:rPr>
              <a:t>The problems employees faced</a:t>
            </a:r>
            <a:endParaRPr lang="en-US" sz="1100" dirty="0"/>
          </a:p>
        </p:txBody>
      </p:sp>
      <p:sp>
        <p:nvSpPr>
          <p:cNvPr id="11" name="Shape 9"/>
          <p:cNvSpPr/>
          <p:nvPr/>
        </p:nvSpPr>
        <p:spPr>
          <a:xfrm>
            <a:off x="4206240" y="2176272"/>
            <a:ext cx="1005840" cy="1005840"/>
          </a:xfrm>
          <a:prstGeom prst="ellipse">
            <a:avLst/>
          </a:prstGeom>
          <a:solidFill>
            <a:srgbClr val="D97706"/>
          </a:solidFill>
          <a:ln w="12700">
            <a:solidFill>
              <a:srgbClr val="D97706"/>
            </a:solidFill>
            <a:prstDash val="solid"/>
          </a:ln>
        </p:spPr>
        <p:txBody>
          <a:bodyPr/>
          <a:lstStyle/>
          <a:p>
            <a:endParaRPr lang="en-US"/>
          </a:p>
        </p:txBody>
      </p:sp>
      <p:sp>
        <p:nvSpPr>
          <p:cNvPr id="12" name="Text 10"/>
          <p:cNvSpPr/>
          <p:nvPr/>
        </p:nvSpPr>
        <p:spPr>
          <a:xfrm>
            <a:off x="4206240" y="2176272"/>
            <a:ext cx="1005840" cy="100584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2</a:t>
            </a:r>
            <a:endParaRPr lang="en-US" sz="2600" dirty="0"/>
          </a:p>
        </p:txBody>
      </p:sp>
      <p:sp>
        <p:nvSpPr>
          <p:cNvPr id="13" name="Text 11"/>
          <p:cNvSpPr/>
          <p:nvPr/>
        </p:nvSpPr>
        <p:spPr>
          <a:xfrm>
            <a:off x="3337560" y="3273552"/>
            <a:ext cx="2743200"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Actions</a:t>
            </a:r>
            <a:endParaRPr lang="en-US" sz="1400" dirty="0"/>
          </a:p>
        </p:txBody>
      </p:sp>
      <p:sp>
        <p:nvSpPr>
          <p:cNvPr id="14" name="Text 12"/>
          <p:cNvSpPr/>
          <p:nvPr/>
        </p:nvSpPr>
        <p:spPr>
          <a:xfrm>
            <a:off x="3337560" y="3675888"/>
            <a:ext cx="2743200" cy="713232"/>
          </a:xfrm>
          <a:prstGeom prst="rect">
            <a:avLst/>
          </a:prstGeom>
          <a:noFill/>
          <a:ln/>
        </p:spPr>
        <p:txBody>
          <a:bodyPr wrap="square" rtlCol="0" anchor="ctr"/>
          <a:lstStyle/>
          <a:p>
            <a:pPr marL="0" indent="0" algn="ctr">
              <a:buNone/>
            </a:pPr>
            <a:r>
              <a:rPr lang="en-US" sz="1100" dirty="0">
                <a:solidFill>
                  <a:srgbClr val="C4B5FD"/>
                </a:solidFill>
                <a:latin typeface="Calibri" pitchFamily="34" charset="0"/>
                <a:ea typeface="Calibri" pitchFamily="34" charset="-122"/>
                <a:cs typeface="Calibri" pitchFamily="34" charset="-120"/>
              </a:rPr>
              <a:t>The actions they took</a:t>
            </a:r>
            <a:endParaRPr lang="en-US" sz="1100" dirty="0"/>
          </a:p>
        </p:txBody>
      </p:sp>
      <p:sp>
        <p:nvSpPr>
          <p:cNvPr id="15" name="Shape 13"/>
          <p:cNvSpPr/>
          <p:nvPr/>
        </p:nvSpPr>
        <p:spPr>
          <a:xfrm>
            <a:off x="7040880" y="2176272"/>
            <a:ext cx="1005840" cy="1005840"/>
          </a:xfrm>
          <a:prstGeom prst="ellipse">
            <a:avLst/>
          </a:prstGeom>
          <a:solidFill>
            <a:srgbClr val="16A34A"/>
          </a:solidFill>
          <a:ln w="12700">
            <a:solidFill>
              <a:srgbClr val="16A34A"/>
            </a:solidFill>
            <a:prstDash val="solid"/>
          </a:ln>
        </p:spPr>
        <p:txBody>
          <a:bodyPr/>
          <a:lstStyle/>
          <a:p>
            <a:endParaRPr lang="en-US"/>
          </a:p>
        </p:txBody>
      </p:sp>
      <p:sp>
        <p:nvSpPr>
          <p:cNvPr id="16" name="Text 14"/>
          <p:cNvSpPr/>
          <p:nvPr/>
        </p:nvSpPr>
        <p:spPr>
          <a:xfrm>
            <a:off x="7040880" y="2176272"/>
            <a:ext cx="1005840" cy="100584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3</a:t>
            </a:r>
            <a:endParaRPr lang="en-US" sz="2600" dirty="0"/>
          </a:p>
        </p:txBody>
      </p:sp>
      <p:sp>
        <p:nvSpPr>
          <p:cNvPr id="17" name="Text 15"/>
          <p:cNvSpPr/>
          <p:nvPr/>
        </p:nvSpPr>
        <p:spPr>
          <a:xfrm>
            <a:off x="6172200" y="3273552"/>
            <a:ext cx="2743200"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Results</a:t>
            </a:r>
            <a:endParaRPr lang="en-US" sz="1400" dirty="0"/>
          </a:p>
        </p:txBody>
      </p:sp>
      <p:sp>
        <p:nvSpPr>
          <p:cNvPr id="18" name="Text 16"/>
          <p:cNvSpPr/>
          <p:nvPr/>
        </p:nvSpPr>
        <p:spPr>
          <a:xfrm>
            <a:off x="6172200" y="3675888"/>
            <a:ext cx="2743200" cy="713232"/>
          </a:xfrm>
          <a:prstGeom prst="rect">
            <a:avLst/>
          </a:prstGeom>
          <a:noFill/>
          <a:ln/>
        </p:spPr>
        <p:txBody>
          <a:bodyPr wrap="square" rtlCol="0" anchor="ctr"/>
          <a:lstStyle/>
          <a:p>
            <a:pPr marL="0" indent="0" algn="ctr">
              <a:buNone/>
            </a:pPr>
            <a:r>
              <a:rPr lang="en-US" sz="1100" dirty="0">
                <a:solidFill>
                  <a:srgbClr val="C4B5FD"/>
                </a:solidFill>
                <a:latin typeface="Calibri" pitchFamily="34" charset="0"/>
                <a:ea typeface="Calibri" pitchFamily="34" charset="-122"/>
                <a:cs typeface="Calibri" pitchFamily="34" charset="-120"/>
              </a:rPr>
              <a:t>Both those that worked and those that did not</a:t>
            </a:r>
            <a:endParaRPr lang="en-US" sz="1100" dirty="0"/>
          </a:p>
        </p:txBody>
      </p:sp>
      <p:sp>
        <p:nvSpPr>
          <p:cNvPr id="19" name="Shape 17"/>
          <p:cNvSpPr/>
          <p:nvPr/>
        </p:nvSpPr>
        <p:spPr>
          <a:xfrm>
            <a:off x="548640" y="4572000"/>
            <a:ext cx="8046720" cy="402336"/>
          </a:xfrm>
          <a:prstGeom prst="rect">
            <a:avLst/>
          </a:prstGeom>
          <a:solidFill>
            <a:srgbClr val="D97706"/>
          </a:solidFill>
          <a:ln w="12700">
            <a:solidFill>
              <a:srgbClr val="D97706"/>
            </a:solidFill>
            <a:prstDash val="solid"/>
          </a:ln>
        </p:spPr>
        <p:txBody>
          <a:bodyPr/>
          <a:lstStyle/>
          <a:p>
            <a:endParaRPr lang="en-US"/>
          </a:p>
        </p:txBody>
      </p:sp>
      <p:sp>
        <p:nvSpPr>
          <p:cNvPr id="20" name="Text 18"/>
          <p:cNvSpPr/>
          <p:nvPr/>
        </p:nvSpPr>
        <p:spPr>
          <a:xfrm>
            <a:off x="548640" y="4599432"/>
            <a:ext cx="8046720"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Turning everyday operational experience into organizational intelligence.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E5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914400"/>
          </a:xfrm>
          <a:prstGeom prst="rect">
            <a:avLst/>
          </a:prstGeom>
        </p:spPr>
      </p:pic>
      <p:sp>
        <p:nvSpPr>
          <p:cNvPr id="3" name="Text 0"/>
          <p:cNvSpPr/>
          <p:nvPr/>
        </p:nvSpPr>
        <p:spPr>
          <a:xfrm>
            <a:off x="457200" y="109728"/>
            <a:ext cx="7772400" cy="804672"/>
          </a:xfrm>
          <a:prstGeom prst="rect">
            <a:avLst/>
          </a:prstGeom>
          <a:noFill/>
          <a:ln/>
        </p:spPr>
        <p:txBody>
          <a:bodyPr wrap="square" lIns="0" tIns="0" rIns="0" bIns="0" rtlCol="0" anchor="ctr"/>
          <a:lstStyle/>
          <a:p>
            <a:pPr marL="0" indent="0" algn="l">
              <a:buNone/>
            </a:pPr>
            <a:r>
              <a:rPr lang="en-US" sz="2600" b="1" dirty="0">
                <a:solidFill>
                  <a:srgbClr val="FFFFFF"/>
                </a:solidFill>
                <a:latin typeface="Calibri" pitchFamily="34" charset="0"/>
                <a:ea typeface="Calibri" pitchFamily="34" charset="-122"/>
                <a:cs typeface="Calibri" pitchFamily="34" charset="-120"/>
              </a:rPr>
              <a:t>The Organizational Learning Loop</a:t>
            </a:r>
            <a:endParaRPr lang="en-US" sz="2600" dirty="0"/>
          </a:p>
        </p:txBody>
      </p:sp>
      <p:sp>
        <p:nvSpPr>
          <p:cNvPr id="4" name="Text 1"/>
          <p:cNvSpPr/>
          <p:nvPr/>
        </p:nvSpPr>
        <p:spPr>
          <a:xfrm>
            <a:off x="721895" y="1641110"/>
            <a:ext cx="7680959" cy="502920"/>
          </a:xfrm>
          <a:prstGeom prst="rect">
            <a:avLst/>
          </a:prstGeom>
          <a:noFill/>
          <a:ln/>
        </p:spPr>
        <p:txBody>
          <a:bodyPr wrap="square" rtlCol="0" anchor="ctr"/>
          <a:lstStyle/>
          <a:p>
            <a:pPr marL="0" indent="0" algn="ctr">
              <a:buNone/>
            </a:pPr>
            <a:r>
              <a:rPr lang="en-US" sz="1600" b="1" dirty="0">
                <a:solidFill>
                  <a:srgbClr val="D97706"/>
                </a:solidFill>
                <a:latin typeface="Calibri" pitchFamily="34" charset="0"/>
                <a:ea typeface="Calibri" pitchFamily="34" charset="-122"/>
                <a:cs typeface="Calibri" pitchFamily="34" charset="-120"/>
              </a:rPr>
              <a:t>Work Experiences = Problem → Action → Result (Worked, No Change, Got Worse)</a:t>
            </a:r>
            <a:endParaRPr lang="en-US" sz="1600" dirty="0"/>
          </a:p>
        </p:txBody>
      </p:sp>
      <p:sp>
        <p:nvSpPr>
          <p:cNvPr id="5" name="Shape 2"/>
          <p:cNvSpPr/>
          <p:nvPr/>
        </p:nvSpPr>
        <p:spPr>
          <a:xfrm>
            <a:off x="256032" y="2442412"/>
            <a:ext cx="1572768" cy="1371600"/>
          </a:xfrm>
          <a:prstGeom prst="rect">
            <a:avLst/>
          </a:prstGeom>
          <a:solidFill>
            <a:srgbClr val="9333EA"/>
          </a:solidFill>
          <a:ln w="12700">
            <a:solidFill>
              <a:srgbClr val="9333EA"/>
            </a:solidFill>
            <a:prstDash val="solid"/>
          </a:ln>
          <a:effectLst>
            <a:outerShdw blurRad="101600" dist="38100" dir="8100000" algn="bl" rotWithShape="0">
              <a:srgbClr val="000000">
                <a:alpha val="12000"/>
              </a:srgbClr>
            </a:outerShdw>
          </a:effectLst>
        </p:spPr>
        <p:txBody>
          <a:bodyPr/>
          <a:lstStyle/>
          <a:p>
            <a:endParaRPr lang="en-US"/>
          </a:p>
        </p:txBody>
      </p:sp>
      <p:sp>
        <p:nvSpPr>
          <p:cNvPr id="6" name="Text 3"/>
          <p:cNvSpPr/>
          <p:nvPr/>
        </p:nvSpPr>
        <p:spPr>
          <a:xfrm>
            <a:off x="256032" y="2442412"/>
            <a:ext cx="1572768" cy="137160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Experiences</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captured</a:t>
            </a:r>
            <a:endParaRPr lang="en-US" sz="1200" dirty="0"/>
          </a:p>
        </p:txBody>
      </p:sp>
      <p:sp>
        <p:nvSpPr>
          <p:cNvPr id="7" name="Text 4"/>
          <p:cNvSpPr/>
          <p:nvPr/>
        </p:nvSpPr>
        <p:spPr>
          <a:xfrm>
            <a:off x="1828800" y="2927044"/>
            <a:ext cx="164592" cy="402336"/>
          </a:xfrm>
          <a:prstGeom prst="rect">
            <a:avLst/>
          </a:prstGeom>
          <a:noFill/>
          <a:ln/>
        </p:spPr>
        <p:txBody>
          <a:bodyPr wrap="square" lIns="0" tIns="0" rIns="0" bIns="0" rtlCol="0" anchor="ctr"/>
          <a:lstStyle/>
          <a:p>
            <a:pPr marL="0" indent="0" algn="ctr">
              <a:buNone/>
            </a:pPr>
            <a:r>
              <a:rPr lang="en-US" sz="1400" b="1" dirty="0">
                <a:solidFill>
                  <a:srgbClr val="9333EA"/>
                </a:solidFill>
                <a:latin typeface="Calibri" pitchFamily="34" charset="0"/>
                <a:ea typeface="Calibri" pitchFamily="34" charset="-122"/>
                <a:cs typeface="Calibri" pitchFamily="34" charset="-120"/>
              </a:rPr>
              <a:t>→</a:t>
            </a:r>
            <a:endParaRPr lang="en-US" sz="1400" dirty="0"/>
          </a:p>
        </p:txBody>
      </p:sp>
      <p:sp>
        <p:nvSpPr>
          <p:cNvPr id="8" name="Shape 5"/>
          <p:cNvSpPr/>
          <p:nvPr/>
        </p:nvSpPr>
        <p:spPr>
          <a:xfrm>
            <a:off x="1993392" y="2442412"/>
            <a:ext cx="1572768" cy="1371600"/>
          </a:xfrm>
          <a:prstGeom prst="rect">
            <a:avLst/>
          </a:prstGeom>
          <a:solidFill>
            <a:srgbClr val="7E22CE"/>
          </a:solidFill>
          <a:ln w="12700">
            <a:solidFill>
              <a:srgbClr val="7E22CE"/>
            </a:solidFill>
            <a:prstDash val="solid"/>
          </a:ln>
          <a:effectLst>
            <a:outerShdw blurRad="101600" dist="38100" dir="8100000" algn="bl" rotWithShape="0">
              <a:srgbClr val="000000">
                <a:alpha val="12000"/>
              </a:srgbClr>
            </a:outerShdw>
          </a:effectLst>
        </p:spPr>
        <p:txBody>
          <a:bodyPr/>
          <a:lstStyle/>
          <a:p>
            <a:endParaRPr lang="en-US"/>
          </a:p>
        </p:txBody>
      </p:sp>
      <p:sp>
        <p:nvSpPr>
          <p:cNvPr id="9" name="Text 6"/>
          <p:cNvSpPr/>
          <p:nvPr/>
        </p:nvSpPr>
        <p:spPr>
          <a:xfrm>
            <a:off x="1993392" y="2442412"/>
            <a:ext cx="1572768" cy="137160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Shared across</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the organization</a:t>
            </a:r>
            <a:endParaRPr lang="en-US" sz="1200" dirty="0"/>
          </a:p>
        </p:txBody>
      </p:sp>
      <p:sp>
        <p:nvSpPr>
          <p:cNvPr id="10" name="Text 7"/>
          <p:cNvSpPr/>
          <p:nvPr/>
        </p:nvSpPr>
        <p:spPr>
          <a:xfrm>
            <a:off x="3566160" y="2927044"/>
            <a:ext cx="164592" cy="402336"/>
          </a:xfrm>
          <a:prstGeom prst="rect">
            <a:avLst/>
          </a:prstGeom>
          <a:noFill/>
          <a:ln/>
        </p:spPr>
        <p:txBody>
          <a:bodyPr wrap="square" lIns="0" tIns="0" rIns="0" bIns="0" rtlCol="0" anchor="ctr"/>
          <a:lstStyle/>
          <a:p>
            <a:pPr marL="0" indent="0" algn="ctr">
              <a:buNone/>
            </a:pPr>
            <a:r>
              <a:rPr lang="en-US" sz="1400" b="1" dirty="0">
                <a:solidFill>
                  <a:srgbClr val="9333EA"/>
                </a:solidFill>
                <a:latin typeface="Calibri" pitchFamily="34" charset="0"/>
                <a:ea typeface="Calibri" pitchFamily="34" charset="-122"/>
                <a:cs typeface="Calibri" pitchFamily="34" charset="-120"/>
              </a:rPr>
              <a:t>→</a:t>
            </a:r>
            <a:endParaRPr lang="en-US" sz="1400" dirty="0"/>
          </a:p>
        </p:txBody>
      </p:sp>
      <p:sp>
        <p:nvSpPr>
          <p:cNvPr id="11" name="Shape 8"/>
          <p:cNvSpPr/>
          <p:nvPr/>
        </p:nvSpPr>
        <p:spPr>
          <a:xfrm>
            <a:off x="3730752" y="2442412"/>
            <a:ext cx="1572768" cy="1371600"/>
          </a:xfrm>
          <a:prstGeom prst="rect">
            <a:avLst/>
          </a:prstGeom>
          <a:solidFill>
            <a:srgbClr val="16A34A"/>
          </a:solidFill>
          <a:ln w="12700">
            <a:solidFill>
              <a:srgbClr val="16A34A"/>
            </a:solidFill>
            <a:prstDash val="solid"/>
          </a:ln>
          <a:effectLst>
            <a:outerShdw blurRad="101600" dist="38100" dir="8100000" algn="bl" rotWithShape="0">
              <a:srgbClr val="000000">
                <a:alpha val="12000"/>
              </a:srgbClr>
            </a:outerShdw>
          </a:effectLst>
        </p:spPr>
        <p:txBody>
          <a:bodyPr/>
          <a:lstStyle/>
          <a:p>
            <a:endParaRPr lang="en-US"/>
          </a:p>
        </p:txBody>
      </p:sp>
      <p:sp>
        <p:nvSpPr>
          <p:cNvPr id="12" name="Text 9"/>
          <p:cNvSpPr/>
          <p:nvPr/>
        </p:nvSpPr>
        <p:spPr>
          <a:xfrm>
            <a:off x="3730752" y="2442412"/>
            <a:ext cx="1572768" cy="1371600"/>
          </a:xfrm>
          <a:prstGeom prst="rect">
            <a:avLst/>
          </a:prstGeom>
          <a:noFill/>
          <a:ln/>
        </p:spPr>
        <p:txBody>
          <a:bodyPr wrap="square" rtlCol="0" anchor="ctr"/>
          <a:lstStyle/>
          <a:p>
            <a:pPr algn="ctr"/>
            <a:r>
              <a:rPr lang="en-US" sz="1200" b="1" dirty="0">
                <a:solidFill>
                  <a:srgbClr val="FFFFFF"/>
                </a:solidFill>
                <a:latin typeface="Calibri" pitchFamily="34" charset="0"/>
                <a:cs typeface="Calibri" pitchFamily="34" charset="-120"/>
              </a:rPr>
              <a:t>Enriched through peer feedback</a:t>
            </a:r>
          </a:p>
        </p:txBody>
      </p:sp>
      <p:sp>
        <p:nvSpPr>
          <p:cNvPr id="13" name="Text 10"/>
          <p:cNvSpPr/>
          <p:nvPr/>
        </p:nvSpPr>
        <p:spPr>
          <a:xfrm>
            <a:off x="5303520" y="2927044"/>
            <a:ext cx="164592" cy="402336"/>
          </a:xfrm>
          <a:prstGeom prst="rect">
            <a:avLst/>
          </a:prstGeom>
          <a:noFill/>
          <a:ln/>
        </p:spPr>
        <p:txBody>
          <a:bodyPr wrap="square" lIns="0" tIns="0" rIns="0" bIns="0" rtlCol="0" anchor="ctr"/>
          <a:lstStyle/>
          <a:p>
            <a:pPr marL="0" indent="0" algn="ctr">
              <a:buNone/>
            </a:pPr>
            <a:r>
              <a:rPr lang="en-US" sz="1400" b="1" dirty="0">
                <a:solidFill>
                  <a:srgbClr val="9333EA"/>
                </a:solidFill>
                <a:latin typeface="Calibri" pitchFamily="34" charset="0"/>
                <a:ea typeface="Calibri" pitchFamily="34" charset="-122"/>
                <a:cs typeface="Calibri" pitchFamily="34" charset="-120"/>
              </a:rPr>
              <a:t>→</a:t>
            </a:r>
            <a:endParaRPr lang="en-US" sz="1400" dirty="0"/>
          </a:p>
        </p:txBody>
      </p:sp>
      <p:sp>
        <p:nvSpPr>
          <p:cNvPr id="14" name="Shape 11"/>
          <p:cNvSpPr/>
          <p:nvPr/>
        </p:nvSpPr>
        <p:spPr>
          <a:xfrm>
            <a:off x="5468112" y="2442412"/>
            <a:ext cx="1572768" cy="1371600"/>
          </a:xfrm>
          <a:prstGeom prst="rect">
            <a:avLst/>
          </a:prstGeom>
          <a:solidFill>
            <a:srgbClr val="D97706"/>
          </a:solidFill>
          <a:ln w="12700">
            <a:solidFill>
              <a:srgbClr val="D97706"/>
            </a:solidFill>
            <a:prstDash val="solid"/>
          </a:ln>
          <a:effectLst>
            <a:outerShdw blurRad="101600" dist="38100" dir="8100000" algn="bl" rotWithShape="0">
              <a:srgbClr val="000000">
                <a:alpha val="12000"/>
              </a:srgbClr>
            </a:outerShdw>
          </a:effectLst>
        </p:spPr>
        <p:txBody>
          <a:bodyPr/>
          <a:lstStyle/>
          <a:p>
            <a:endParaRPr lang="en-US"/>
          </a:p>
        </p:txBody>
      </p:sp>
      <p:sp>
        <p:nvSpPr>
          <p:cNvPr id="15" name="Text 12"/>
          <p:cNvSpPr/>
          <p:nvPr/>
        </p:nvSpPr>
        <p:spPr>
          <a:xfrm>
            <a:off x="5468112" y="2442412"/>
            <a:ext cx="1572768" cy="1371600"/>
          </a:xfrm>
          <a:prstGeom prst="rect">
            <a:avLst/>
          </a:prstGeom>
          <a:noFill/>
          <a:ln/>
        </p:spPr>
        <p:txBody>
          <a:bodyPr wrap="square" rtlCol="0" anchor="ctr"/>
          <a:lstStyle/>
          <a:p>
            <a:pPr algn="ctr"/>
            <a:r>
              <a:rPr lang="en-US" sz="1200" b="1" dirty="0">
                <a:solidFill>
                  <a:srgbClr val="FFFFFF"/>
                </a:solidFill>
                <a:latin typeface="Calibri" pitchFamily="34" charset="0"/>
                <a:ea typeface="Calibri" pitchFamily="34" charset="-122"/>
                <a:cs typeface="Calibri" pitchFamily="34" charset="-120"/>
              </a:rPr>
              <a:t>Insights to Boost                    Problem-Solving Effectiveness</a:t>
            </a:r>
            <a:endParaRPr lang="en-US" sz="1200" dirty="0"/>
          </a:p>
        </p:txBody>
      </p:sp>
      <p:sp>
        <p:nvSpPr>
          <p:cNvPr id="16" name="Text 13"/>
          <p:cNvSpPr/>
          <p:nvPr/>
        </p:nvSpPr>
        <p:spPr>
          <a:xfrm>
            <a:off x="7040880" y="2927044"/>
            <a:ext cx="164592" cy="402336"/>
          </a:xfrm>
          <a:prstGeom prst="rect">
            <a:avLst/>
          </a:prstGeom>
          <a:noFill/>
          <a:ln/>
        </p:spPr>
        <p:txBody>
          <a:bodyPr wrap="square" lIns="0" tIns="0" rIns="0" bIns="0" rtlCol="0" anchor="ctr"/>
          <a:lstStyle/>
          <a:p>
            <a:pPr marL="0" indent="0" algn="ctr">
              <a:buNone/>
            </a:pPr>
            <a:r>
              <a:rPr lang="en-US" sz="1400" b="1" dirty="0">
                <a:solidFill>
                  <a:srgbClr val="9333EA"/>
                </a:solidFill>
                <a:latin typeface="Calibri" pitchFamily="34" charset="0"/>
                <a:ea typeface="Calibri" pitchFamily="34" charset="-122"/>
                <a:cs typeface="Calibri" pitchFamily="34" charset="-120"/>
              </a:rPr>
              <a:t>→</a:t>
            </a:r>
            <a:endParaRPr lang="en-US" sz="1400" dirty="0"/>
          </a:p>
        </p:txBody>
      </p:sp>
      <p:sp>
        <p:nvSpPr>
          <p:cNvPr id="17" name="Shape 14"/>
          <p:cNvSpPr/>
          <p:nvPr/>
        </p:nvSpPr>
        <p:spPr>
          <a:xfrm>
            <a:off x="7205472" y="2442412"/>
            <a:ext cx="1572768" cy="1371600"/>
          </a:xfrm>
          <a:prstGeom prst="rect">
            <a:avLst/>
          </a:prstGeom>
          <a:solidFill>
            <a:srgbClr val="2563EB"/>
          </a:solidFill>
          <a:ln w="12700">
            <a:solidFill>
              <a:srgbClr val="2563EB"/>
            </a:solidFill>
            <a:prstDash val="solid"/>
          </a:ln>
          <a:effectLst>
            <a:outerShdw blurRad="101600" dist="38100" dir="8100000" algn="bl" rotWithShape="0">
              <a:srgbClr val="000000">
                <a:alpha val="12000"/>
              </a:srgbClr>
            </a:outerShdw>
          </a:effectLst>
        </p:spPr>
        <p:txBody>
          <a:bodyPr/>
          <a:lstStyle/>
          <a:p>
            <a:endParaRPr lang="en-US"/>
          </a:p>
        </p:txBody>
      </p:sp>
      <p:sp>
        <p:nvSpPr>
          <p:cNvPr id="18" name="Text 15"/>
          <p:cNvSpPr/>
          <p:nvPr/>
        </p:nvSpPr>
        <p:spPr>
          <a:xfrm>
            <a:off x="7205472" y="2442412"/>
            <a:ext cx="1572768" cy="1371600"/>
          </a:xfrm>
          <a:prstGeom prst="rect">
            <a:avLst/>
          </a:prstGeom>
          <a:noFill/>
          <a:ln/>
        </p:spPr>
        <p:txBody>
          <a:bodyPr wrap="square" rtlCol="0" anchor="ctr"/>
          <a:lstStyle/>
          <a:p>
            <a:pPr algn="ctr"/>
            <a:r>
              <a:rPr lang="en-US" sz="1200" b="1" dirty="0">
                <a:solidFill>
                  <a:srgbClr val="FFFFFF"/>
                </a:solidFill>
                <a:latin typeface="Calibri" pitchFamily="34" charset="0"/>
                <a:ea typeface="Calibri" pitchFamily="34" charset="-122"/>
                <a:cs typeface="Calibri" pitchFamily="34" charset="-120"/>
              </a:rPr>
              <a:t>Improved</a:t>
            </a:r>
            <a:endParaRPr lang="en-US" sz="1200" dirty="0"/>
          </a:p>
          <a:p>
            <a:pPr algn="ctr"/>
            <a:r>
              <a:rPr lang="en-US" sz="1200" b="1" dirty="0">
                <a:solidFill>
                  <a:srgbClr val="FFFFFF"/>
                </a:solidFill>
                <a:latin typeface="Calibri" pitchFamily="34" charset="0"/>
                <a:ea typeface="Calibri" pitchFamily="34" charset="-122"/>
                <a:cs typeface="Calibri" pitchFamily="34" charset="-120"/>
              </a:rPr>
              <a:t>performance</a:t>
            </a:r>
            <a:endParaRPr lang="en-US" sz="1200" dirty="0"/>
          </a:p>
        </p:txBody>
      </p:sp>
      <p:sp>
        <p:nvSpPr>
          <p:cNvPr id="20" name="Shape 17"/>
          <p:cNvSpPr/>
          <p:nvPr/>
        </p:nvSpPr>
        <p:spPr>
          <a:xfrm>
            <a:off x="0" y="4315968"/>
            <a:ext cx="9144000" cy="845820"/>
          </a:xfrm>
          <a:prstGeom prst="rect">
            <a:avLst/>
          </a:prstGeom>
          <a:solidFill>
            <a:srgbClr val="D97706"/>
          </a:solidFill>
          <a:ln w="12700">
            <a:solidFill>
              <a:srgbClr val="D97706"/>
            </a:solidFill>
            <a:prstDash val="solid"/>
          </a:ln>
        </p:spPr>
        <p:txBody>
          <a:bodyPr/>
          <a:lstStyle/>
          <a:p>
            <a:endParaRPr lang="en-US"/>
          </a:p>
        </p:txBody>
      </p:sp>
      <p:sp>
        <p:nvSpPr>
          <p:cNvPr id="21" name="Text 18"/>
          <p:cNvSpPr/>
          <p:nvPr/>
        </p:nvSpPr>
        <p:spPr>
          <a:xfrm>
            <a:off x="457200" y="4389120"/>
            <a:ext cx="8229600" cy="75438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This creates a continuous organizational learning Loop.</a:t>
            </a:r>
            <a:endParaRPr lang="en-US" sz="1500" dirty="0"/>
          </a:p>
        </p:txBody>
      </p:sp>
      <p:cxnSp>
        <p:nvCxnSpPr>
          <p:cNvPr id="27" name="Elbow Connector 26">
            <a:extLst>
              <a:ext uri="{FF2B5EF4-FFF2-40B4-BE49-F238E27FC236}">
                <a16:creationId xmlns:a16="http://schemas.microsoft.com/office/drawing/2014/main" id="{051C3F51-38CB-351F-FD59-5B3B9C7752FA}"/>
              </a:ext>
            </a:extLst>
          </p:cNvPr>
          <p:cNvCxnSpPr>
            <a:cxnSpLocks/>
            <a:stCxn id="17" idx="2"/>
            <a:endCxn id="6" idx="2"/>
          </p:cNvCxnSpPr>
          <p:nvPr/>
        </p:nvCxnSpPr>
        <p:spPr>
          <a:xfrm rot="5400000">
            <a:off x="4517136" y="339292"/>
            <a:ext cx="12700" cy="6949440"/>
          </a:xfrm>
          <a:prstGeom prst="bentConnector3">
            <a:avLst>
              <a:gd name="adj1" fmla="val 1800000"/>
            </a:avLst>
          </a:prstGeom>
          <a:ln w="19050">
            <a:solidFill>
              <a:srgbClr val="8636C0"/>
            </a:solidFill>
            <a:tailEnd type="arrow"/>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79ECE7E1-3604-7605-ABD1-B31E8EDECFBA}"/>
              </a:ext>
            </a:extLst>
          </p:cNvPr>
          <p:cNvSpPr txBox="1"/>
          <p:nvPr/>
        </p:nvSpPr>
        <p:spPr>
          <a:xfrm>
            <a:off x="339287" y="996214"/>
            <a:ext cx="8698831" cy="492443"/>
          </a:xfrm>
          <a:prstGeom prst="rect">
            <a:avLst/>
          </a:prstGeom>
          <a:noFill/>
        </p:spPr>
        <p:txBody>
          <a:bodyPr wrap="square" rtlCol="0">
            <a:spAutoFit/>
          </a:bodyPr>
          <a:lstStyle/>
          <a:p>
            <a:r>
              <a:rPr lang="en-US" sz="1300" dirty="0">
                <a:solidFill>
                  <a:schemeClr val="bg1"/>
                </a:solidFill>
                <a:latin typeface="Calibri" pitchFamily="34" charset="0"/>
                <a:cs typeface="Calibri" pitchFamily="34" charset="-120"/>
              </a:rPr>
              <a:t>Starts by capturing work experiences as structured data for objective analysis, organized into three components: Problem, Action, and Result (what worked and what didn’t).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E2E5C"/>
        </a:solidFill>
        <a:effectLst/>
      </p:bgPr>
    </p:bg>
    <p:spTree>
      <p:nvGrpSpPr>
        <p:cNvPr id="1" name=""/>
        <p:cNvGrpSpPr/>
        <p:nvPr/>
      </p:nvGrpSpPr>
      <p:grpSpPr>
        <a:xfrm>
          <a:off x="0" y="0"/>
          <a:ext cx="0" cy="0"/>
          <a:chOff x="0" y="0"/>
          <a:chExt cx="0" cy="0"/>
        </a:xfrm>
      </p:grpSpPr>
      <p:sp>
        <p:nvSpPr>
          <p:cNvPr id="2" name="Shape 0"/>
          <p:cNvSpPr/>
          <p:nvPr/>
        </p:nvSpPr>
        <p:spPr>
          <a:xfrm>
            <a:off x="7132320" y="-274320"/>
            <a:ext cx="2286000" cy="2286000"/>
          </a:xfrm>
          <a:prstGeom prst="ellipse">
            <a:avLst/>
          </a:prstGeom>
          <a:solidFill>
            <a:srgbClr val="9333EA">
              <a:alpha val="32000"/>
            </a:srgbClr>
          </a:solidFill>
          <a:ln w="12700">
            <a:solidFill>
              <a:srgbClr val="9333EA">
                <a:alpha val="32000"/>
              </a:srgbClr>
            </a:solidFill>
            <a:prstDash val="solid"/>
          </a:ln>
        </p:spPr>
        <p:txBody>
          <a:bodyPr/>
          <a:lstStyle/>
          <a:p>
            <a:endParaRPr lang="en-US"/>
          </a:p>
        </p:txBody>
      </p:sp>
      <p:sp>
        <p:nvSpPr>
          <p:cNvPr id="3" name="Shape 1"/>
          <p:cNvSpPr/>
          <p:nvPr/>
        </p:nvSpPr>
        <p:spPr>
          <a:xfrm>
            <a:off x="-457200" y="3657600"/>
            <a:ext cx="1828800" cy="1828800"/>
          </a:xfrm>
          <a:prstGeom prst="ellipse">
            <a:avLst/>
          </a:prstGeom>
          <a:solidFill>
            <a:srgbClr val="2563EB">
              <a:alpha val="28000"/>
            </a:srgbClr>
          </a:solidFill>
          <a:ln w="12700">
            <a:solidFill>
              <a:srgbClr val="2563EB">
                <a:alpha val="28000"/>
              </a:srgbClr>
            </a:solidFill>
            <a:prstDash val="solid"/>
          </a:ln>
        </p:spPr>
        <p:txBody>
          <a:bodyPr/>
          <a:lstStyle/>
          <a:p>
            <a:endParaRPr lang="en-US"/>
          </a:p>
        </p:txBody>
      </p:sp>
      <p:sp>
        <p:nvSpPr>
          <p:cNvPr id="13" name="Text 1">
            <a:extLst>
              <a:ext uri="{FF2B5EF4-FFF2-40B4-BE49-F238E27FC236}">
                <a16:creationId xmlns:a16="http://schemas.microsoft.com/office/drawing/2014/main" id="{764DFC4A-DE7E-CA58-6DF2-B285EFF282D6}"/>
              </a:ext>
            </a:extLst>
          </p:cNvPr>
          <p:cNvSpPr/>
          <p:nvPr/>
        </p:nvSpPr>
        <p:spPr>
          <a:xfrm>
            <a:off x="548640" y="347472"/>
            <a:ext cx="7315200" cy="685800"/>
          </a:xfrm>
          <a:prstGeom prst="rect">
            <a:avLst/>
          </a:prstGeom>
          <a:noFill/>
          <a:ln/>
        </p:spPr>
        <p:txBody>
          <a:bodyPr wrap="square" lIns="0" tIns="0" rIns="0" bIns="0"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The Solution</a:t>
            </a:r>
            <a:endParaRPr lang="en-US" sz="3800" dirty="0"/>
          </a:p>
        </p:txBody>
      </p:sp>
      <p:sp>
        <p:nvSpPr>
          <p:cNvPr id="14" name="Shape 2">
            <a:extLst>
              <a:ext uri="{FF2B5EF4-FFF2-40B4-BE49-F238E27FC236}">
                <a16:creationId xmlns:a16="http://schemas.microsoft.com/office/drawing/2014/main" id="{0AA0A4D0-AEFD-C3A2-54A3-3407CB1CF215}"/>
              </a:ext>
            </a:extLst>
          </p:cNvPr>
          <p:cNvSpPr/>
          <p:nvPr/>
        </p:nvSpPr>
        <p:spPr>
          <a:xfrm>
            <a:off x="548640" y="1051560"/>
            <a:ext cx="1371600" cy="54864"/>
          </a:xfrm>
          <a:prstGeom prst="rect">
            <a:avLst/>
          </a:prstGeom>
          <a:solidFill>
            <a:srgbClr val="D97706"/>
          </a:solidFill>
          <a:ln w="12700">
            <a:solidFill>
              <a:srgbClr val="D97706"/>
            </a:solidFill>
            <a:prstDash val="solid"/>
          </a:ln>
        </p:spPr>
        <p:txBody>
          <a:bodyPr/>
          <a:lstStyle/>
          <a:p>
            <a:endParaRPr lang="en-US"/>
          </a:p>
        </p:txBody>
      </p:sp>
      <p:pic>
        <p:nvPicPr>
          <p:cNvPr id="15" name="Image 0" descr="preencoded.png">
            <a:extLst>
              <a:ext uri="{FF2B5EF4-FFF2-40B4-BE49-F238E27FC236}">
                <a16:creationId xmlns:a16="http://schemas.microsoft.com/office/drawing/2014/main" id="{A9835FBC-7962-311D-DF92-23ED197405D2}"/>
              </a:ext>
            </a:extLst>
          </p:cNvPr>
          <p:cNvPicPr>
            <a:picLocks noChangeAspect="1"/>
          </p:cNvPicPr>
          <p:nvPr/>
        </p:nvPicPr>
        <p:blipFill>
          <a:blip r:embed="rId3"/>
          <a:stretch>
            <a:fillRect/>
          </a:stretch>
        </p:blipFill>
        <p:spPr>
          <a:xfrm>
            <a:off x="640080" y="1234440"/>
            <a:ext cx="640080" cy="640080"/>
          </a:xfrm>
          <a:prstGeom prst="rect">
            <a:avLst/>
          </a:prstGeom>
        </p:spPr>
      </p:pic>
      <p:sp>
        <p:nvSpPr>
          <p:cNvPr id="16" name="Text 3">
            <a:extLst>
              <a:ext uri="{FF2B5EF4-FFF2-40B4-BE49-F238E27FC236}">
                <a16:creationId xmlns:a16="http://schemas.microsoft.com/office/drawing/2014/main" id="{43DD632A-4871-206B-9DFD-0B834D5CE49F}"/>
              </a:ext>
            </a:extLst>
          </p:cNvPr>
          <p:cNvSpPr/>
          <p:nvPr/>
        </p:nvSpPr>
        <p:spPr>
          <a:xfrm>
            <a:off x="1417320" y="1261872"/>
            <a:ext cx="4572000" cy="594360"/>
          </a:xfrm>
          <a:prstGeom prst="rect">
            <a:avLst/>
          </a:prstGeom>
          <a:noFill/>
          <a:ln/>
        </p:spPr>
        <p:txBody>
          <a:bodyPr wrap="square" lIns="0" tIns="0" rIns="0" bIns="0" rtlCol="0" anchor="ctr"/>
          <a:lstStyle/>
          <a:p>
            <a:pPr marL="0" indent="0">
              <a:buNone/>
            </a:pPr>
            <a:r>
              <a:rPr lang="en-US" sz="3000" b="1" dirty="0">
                <a:solidFill>
                  <a:srgbClr val="D97706"/>
                </a:solidFill>
                <a:latin typeface="Calibri" pitchFamily="34" charset="0"/>
                <a:ea typeface="Calibri" pitchFamily="34" charset="-122"/>
                <a:cs typeface="Calibri" pitchFamily="34" charset="-120"/>
              </a:rPr>
              <a:t>WhatIDid</a:t>
            </a:r>
            <a:endParaRPr lang="en-US" sz="3000" dirty="0"/>
          </a:p>
        </p:txBody>
      </p:sp>
      <p:sp>
        <p:nvSpPr>
          <p:cNvPr id="17" name="Text 4">
            <a:extLst>
              <a:ext uri="{FF2B5EF4-FFF2-40B4-BE49-F238E27FC236}">
                <a16:creationId xmlns:a16="http://schemas.microsoft.com/office/drawing/2014/main" id="{4723DACC-DED1-DC71-D2C8-8DEB88A3A061}"/>
              </a:ext>
            </a:extLst>
          </p:cNvPr>
          <p:cNvSpPr/>
          <p:nvPr/>
        </p:nvSpPr>
        <p:spPr>
          <a:xfrm>
            <a:off x="548640" y="1993392"/>
            <a:ext cx="7772400" cy="685800"/>
          </a:xfrm>
          <a:prstGeom prst="rect">
            <a:avLst/>
          </a:prstGeom>
          <a:noFill/>
          <a:ln/>
        </p:spPr>
        <p:txBody>
          <a:bodyPr wrap="square" rtlCol="0" anchor="ctr"/>
          <a:lstStyle/>
          <a:p>
            <a:pPr marL="0" indent="0">
              <a:buNone/>
            </a:pPr>
            <a:r>
              <a:rPr lang="en-US" sz="1500" dirty="0">
                <a:solidFill>
                  <a:srgbClr val="C4B5FD"/>
                </a:solidFill>
                <a:latin typeface="Calibri" pitchFamily="34" charset="0"/>
                <a:ea typeface="Calibri" pitchFamily="34" charset="-122"/>
                <a:cs typeface="Calibri" pitchFamily="34" charset="-120"/>
              </a:rPr>
              <a:t>A platform designed to capture and structure</a:t>
            </a:r>
            <a:endParaRPr lang="en-US" sz="1500" dirty="0"/>
          </a:p>
          <a:p>
            <a:pPr marL="0" indent="0">
              <a:buNone/>
            </a:pPr>
            <a:r>
              <a:rPr lang="en-US" sz="1500" dirty="0">
                <a:solidFill>
                  <a:srgbClr val="C4B5FD"/>
                </a:solidFill>
                <a:latin typeface="Calibri" pitchFamily="34" charset="0"/>
                <a:ea typeface="Calibri" pitchFamily="34" charset="-122"/>
                <a:cs typeface="Calibri" pitchFamily="34" charset="-120"/>
              </a:rPr>
              <a:t>work experiences using a simple format:</a:t>
            </a:r>
            <a:endParaRPr lang="en-US" sz="1500" dirty="0"/>
          </a:p>
        </p:txBody>
      </p:sp>
      <p:sp>
        <p:nvSpPr>
          <p:cNvPr id="18" name="Shape 5">
            <a:extLst>
              <a:ext uri="{FF2B5EF4-FFF2-40B4-BE49-F238E27FC236}">
                <a16:creationId xmlns:a16="http://schemas.microsoft.com/office/drawing/2014/main" id="{15FE57EA-665D-8872-ABA5-D889C1F30A26}"/>
              </a:ext>
            </a:extLst>
          </p:cNvPr>
          <p:cNvSpPr/>
          <p:nvPr/>
        </p:nvSpPr>
        <p:spPr>
          <a:xfrm>
            <a:off x="1828800" y="2788920"/>
            <a:ext cx="5486400" cy="777240"/>
          </a:xfrm>
          <a:prstGeom prst="rect">
            <a:avLst/>
          </a:prstGeom>
          <a:solidFill>
            <a:srgbClr val="9333EA"/>
          </a:solidFill>
          <a:ln w="12700">
            <a:solidFill>
              <a:srgbClr val="9333EA"/>
            </a:solidFill>
            <a:prstDash val="solid"/>
          </a:ln>
          <a:effectLst>
            <a:outerShdw blurRad="101600" dist="38100" dir="8100000" algn="bl" rotWithShape="0">
              <a:srgbClr val="000000">
                <a:alpha val="12000"/>
              </a:srgbClr>
            </a:outerShdw>
          </a:effectLst>
        </p:spPr>
        <p:txBody>
          <a:bodyPr/>
          <a:lstStyle/>
          <a:p>
            <a:endParaRPr lang="en-US"/>
          </a:p>
        </p:txBody>
      </p:sp>
      <p:sp>
        <p:nvSpPr>
          <p:cNvPr id="19" name="Text 6">
            <a:extLst>
              <a:ext uri="{FF2B5EF4-FFF2-40B4-BE49-F238E27FC236}">
                <a16:creationId xmlns:a16="http://schemas.microsoft.com/office/drawing/2014/main" id="{87AF35D3-9EBF-C64B-7408-982E902C867D}"/>
              </a:ext>
            </a:extLst>
          </p:cNvPr>
          <p:cNvSpPr/>
          <p:nvPr/>
        </p:nvSpPr>
        <p:spPr>
          <a:xfrm>
            <a:off x="1828800" y="2788920"/>
            <a:ext cx="5486400" cy="77724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Problem → Action → Result</a:t>
            </a:r>
            <a:endParaRPr lang="en-US" sz="2200" dirty="0"/>
          </a:p>
        </p:txBody>
      </p:sp>
      <p:sp>
        <p:nvSpPr>
          <p:cNvPr id="20" name="Text 7">
            <a:extLst>
              <a:ext uri="{FF2B5EF4-FFF2-40B4-BE49-F238E27FC236}">
                <a16:creationId xmlns:a16="http://schemas.microsoft.com/office/drawing/2014/main" id="{1DA2C27A-AECB-6E24-7773-BAF081ED24DD}"/>
              </a:ext>
            </a:extLst>
          </p:cNvPr>
          <p:cNvSpPr/>
          <p:nvPr/>
        </p:nvSpPr>
        <p:spPr>
          <a:xfrm>
            <a:off x="548640" y="3703320"/>
            <a:ext cx="7772400" cy="502920"/>
          </a:xfrm>
          <a:prstGeom prst="rect">
            <a:avLst/>
          </a:prstGeom>
          <a:noFill/>
          <a:ln/>
        </p:spPr>
        <p:txBody>
          <a:bodyPr wrap="square" rtlCol="0" anchor="ctr"/>
          <a:lstStyle/>
          <a:p>
            <a:pPr marL="0" indent="0" algn="ctr">
              <a:buNone/>
            </a:pPr>
            <a:r>
              <a:rPr lang="en-US" sz="1400" i="1" dirty="0">
                <a:solidFill>
                  <a:srgbClr val="C4B5FD"/>
                </a:solidFill>
                <a:latin typeface="Calibri" pitchFamily="34" charset="0"/>
                <a:ea typeface="Calibri" pitchFamily="34" charset="-122"/>
                <a:cs typeface="Calibri" pitchFamily="34" charset="-120"/>
              </a:rPr>
              <a:t>Each experience becomes part of a growing institutional knowledge base.</a:t>
            </a:r>
            <a:endParaRPr lang="en-US" sz="1400" dirty="0"/>
          </a:p>
        </p:txBody>
      </p:sp>
      <p:sp>
        <p:nvSpPr>
          <p:cNvPr id="21" name="Shape 8">
            <a:extLst>
              <a:ext uri="{FF2B5EF4-FFF2-40B4-BE49-F238E27FC236}">
                <a16:creationId xmlns:a16="http://schemas.microsoft.com/office/drawing/2014/main" id="{05868182-31A5-35E5-8F95-B98B9570AFF7}"/>
              </a:ext>
            </a:extLst>
          </p:cNvPr>
          <p:cNvSpPr/>
          <p:nvPr/>
        </p:nvSpPr>
        <p:spPr>
          <a:xfrm>
            <a:off x="548640" y="4462272"/>
            <a:ext cx="8046720" cy="420624"/>
          </a:xfrm>
          <a:prstGeom prst="rect">
            <a:avLst/>
          </a:prstGeom>
          <a:solidFill>
            <a:srgbClr val="D97706"/>
          </a:solidFill>
          <a:ln w="12700">
            <a:solidFill>
              <a:srgbClr val="D97706"/>
            </a:solidFill>
            <a:prstDash val="solid"/>
          </a:ln>
        </p:spPr>
        <p:txBody>
          <a:bodyPr/>
          <a:lstStyle/>
          <a:p>
            <a:endParaRPr lang="en-US"/>
          </a:p>
        </p:txBody>
      </p:sp>
      <p:sp>
        <p:nvSpPr>
          <p:cNvPr id="22" name="Text 9">
            <a:extLst>
              <a:ext uri="{FF2B5EF4-FFF2-40B4-BE49-F238E27FC236}">
                <a16:creationId xmlns:a16="http://schemas.microsoft.com/office/drawing/2014/main" id="{434E062E-25AA-6D9B-1F5C-088FAADB6DA0}"/>
              </a:ext>
            </a:extLst>
          </p:cNvPr>
          <p:cNvSpPr/>
          <p:nvPr/>
        </p:nvSpPr>
        <p:spPr>
          <a:xfrm>
            <a:off x="548640" y="4480560"/>
            <a:ext cx="8046720"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Simple format. Powerful impact.</a:t>
            </a:r>
            <a:endParaRPr lang="en-US" sz="1400" dirty="0"/>
          </a:p>
        </p:txBody>
      </p:sp>
      <p:grpSp>
        <p:nvGrpSpPr>
          <p:cNvPr id="4" name="Group 3">
            <a:extLst>
              <a:ext uri="{FF2B5EF4-FFF2-40B4-BE49-F238E27FC236}">
                <a16:creationId xmlns:a16="http://schemas.microsoft.com/office/drawing/2014/main" id="{2F656D63-D9FF-AB0B-C928-980745A25E99}"/>
              </a:ext>
            </a:extLst>
          </p:cNvPr>
          <p:cNvGrpSpPr/>
          <p:nvPr/>
        </p:nvGrpSpPr>
        <p:grpSpPr>
          <a:xfrm>
            <a:off x="7492180" y="200950"/>
            <a:ext cx="1440637" cy="850610"/>
            <a:chOff x="4663440" y="1152144"/>
            <a:chExt cx="4352544" cy="1911096"/>
          </a:xfrm>
        </p:grpSpPr>
        <p:sp>
          <p:nvSpPr>
            <p:cNvPr id="5" name="Shape 3">
              <a:extLst>
                <a:ext uri="{FF2B5EF4-FFF2-40B4-BE49-F238E27FC236}">
                  <a16:creationId xmlns:a16="http://schemas.microsoft.com/office/drawing/2014/main" id="{15C00057-0751-171A-8E3C-59BA3B40BF1C}"/>
                </a:ext>
              </a:extLst>
            </p:cNvPr>
            <p:cNvSpPr/>
            <p:nvPr/>
          </p:nvSpPr>
          <p:spPr>
            <a:xfrm>
              <a:off x="4663440" y="1874520"/>
              <a:ext cx="1417320" cy="914400"/>
            </a:xfrm>
            <a:prstGeom prst="rect">
              <a:avLst/>
            </a:prstGeom>
            <a:solidFill>
              <a:srgbClr val="1E2E5C"/>
            </a:solidFill>
            <a:ln w="12700">
              <a:solidFill>
                <a:srgbClr val="47556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a:extLst>
                <a:ext uri="{FF2B5EF4-FFF2-40B4-BE49-F238E27FC236}">
                  <a16:creationId xmlns:a16="http://schemas.microsoft.com/office/drawing/2014/main" id="{9E77956A-EE47-195B-4FD8-9ADDD8CA13B3}"/>
                </a:ext>
              </a:extLst>
            </p:cNvPr>
            <p:cNvSpPr/>
            <p:nvPr/>
          </p:nvSpPr>
          <p:spPr>
            <a:xfrm>
              <a:off x="4773168" y="1984248"/>
              <a:ext cx="155448" cy="246888"/>
            </a:xfrm>
            <a:prstGeom prst="rect">
              <a:avLst/>
            </a:prstGeom>
            <a:solidFill>
              <a:srgbClr val="D97706"/>
            </a:solidFill>
            <a:ln w="12700">
              <a:solidFill>
                <a:srgbClr val="D9770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a:extLst>
                <a:ext uri="{FF2B5EF4-FFF2-40B4-BE49-F238E27FC236}">
                  <a16:creationId xmlns:a16="http://schemas.microsoft.com/office/drawing/2014/main" id="{572E6990-404E-0B01-9F9A-D071CBACF091}"/>
                </a:ext>
              </a:extLst>
            </p:cNvPr>
            <p:cNvSpPr/>
            <p:nvPr/>
          </p:nvSpPr>
          <p:spPr>
            <a:xfrm>
              <a:off x="4965192" y="1883664"/>
              <a:ext cx="155448" cy="347472"/>
            </a:xfrm>
            <a:prstGeom prst="rect">
              <a:avLst/>
            </a:prstGeom>
            <a:solidFill>
              <a:srgbClr val="8B5CF6"/>
            </a:solidFill>
            <a:ln w="12700">
              <a:solidFill>
                <a:srgbClr val="8B5C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a:extLst>
                <a:ext uri="{FF2B5EF4-FFF2-40B4-BE49-F238E27FC236}">
                  <a16:creationId xmlns:a16="http://schemas.microsoft.com/office/drawing/2014/main" id="{C4607332-C3F7-619F-04BE-C1DF648293DB}"/>
                </a:ext>
              </a:extLst>
            </p:cNvPr>
            <p:cNvSpPr/>
            <p:nvPr/>
          </p:nvSpPr>
          <p:spPr>
            <a:xfrm>
              <a:off x="5157216" y="1792224"/>
              <a:ext cx="155448" cy="438912"/>
            </a:xfrm>
            <a:prstGeom prst="rect">
              <a:avLst/>
            </a:prstGeom>
            <a:solidFill>
              <a:srgbClr val="34D399"/>
            </a:solidFill>
            <a:ln w="12700">
              <a:solidFill>
                <a:srgbClr val="34D39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7">
              <a:extLst>
                <a:ext uri="{FF2B5EF4-FFF2-40B4-BE49-F238E27FC236}">
                  <a16:creationId xmlns:a16="http://schemas.microsoft.com/office/drawing/2014/main" id="{AAED0928-789B-86B4-67B3-91264648E20F}"/>
                </a:ext>
              </a:extLst>
            </p:cNvPr>
            <p:cNvSpPr/>
            <p:nvPr/>
          </p:nvSpPr>
          <p:spPr>
            <a:xfrm>
              <a:off x="5349240" y="1920240"/>
              <a:ext cx="155448" cy="310896"/>
            </a:xfrm>
            <a:prstGeom prst="rect">
              <a:avLst/>
            </a:prstGeom>
            <a:solidFill>
              <a:srgbClr val="60A5FA"/>
            </a:solidFill>
            <a:ln w="12700">
              <a:solidFill>
                <a:srgbClr val="60A5F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8">
              <a:extLst>
                <a:ext uri="{FF2B5EF4-FFF2-40B4-BE49-F238E27FC236}">
                  <a16:creationId xmlns:a16="http://schemas.microsoft.com/office/drawing/2014/main" id="{20B45B5F-8238-83B1-1E75-4BB1851B73BC}"/>
                </a:ext>
              </a:extLst>
            </p:cNvPr>
            <p:cNvSpPr/>
            <p:nvPr/>
          </p:nvSpPr>
          <p:spPr>
            <a:xfrm>
              <a:off x="5285232" y="2788920"/>
              <a:ext cx="64008" cy="182880"/>
            </a:xfrm>
            <a:prstGeom prst="rect">
              <a:avLst/>
            </a:prstGeom>
            <a:solidFill>
              <a:srgbClr val="8B5CF6">
                <a:alpha val="70000"/>
              </a:srgbClr>
            </a:solidFill>
            <a:ln w="12700">
              <a:solidFill>
                <a:srgbClr val="8B5CF6">
                  <a:alpha val="7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9">
              <a:extLst>
                <a:ext uri="{FF2B5EF4-FFF2-40B4-BE49-F238E27FC236}">
                  <a16:creationId xmlns:a16="http://schemas.microsoft.com/office/drawing/2014/main" id="{5FC65101-57F8-F2C6-06E4-F303B5BEAAF3}"/>
                </a:ext>
              </a:extLst>
            </p:cNvPr>
            <p:cNvSpPr/>
            <p:nvPr/>
          </p:nvSpPr>
          <p:spPr>
            <a:xfrm>
              <a:off x="5047488" y="2944368"/>
              <a:ext cx="530352" cy="64008"/>
            </a:xfrm>
            <a:prstGeom prst="rect">
              <a:avLst/>
            </a:prstGeom>
            <a:solidFill>
              <a:srgbClr val="8B5CF6">
                <a:alpha val="70000"/>
              </a:srgbClr>
            </a:solidFill>
            <a:ln w="12700">
              <a:solidFill>
                <a:srgbClr val="8B5CF6">
                  <a:alpha val="7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10">
              <a:extLst>
                <a:ext uri="{FF2B5EF4-FFF2-40B4-BE49-F238E27FC236}">
                  <a16:creationId xmlns:a16="http://schemas.microsoft.com/office/drawing/2014/main" id="{B3D133BD-8669-9D00-C135-C2A30F3A3A0B}"/>
                </a:ext>
              </a:extLst>
            </p:cNvPr>
            <p:cNvSpPr/>
            <p:nvPr/>
          </p:nvSpPr>
          <p:spPr>
            <a:xfrm>
              <a:off x="6199632" y="1755648"/>
              <a:ext cx="310896" cy="310896"/>
            </a:xfrm>
            <a:prstGeom prst="ellipse">
              <a:avLst/>
            </a:prstGeom>
            <a:solidFill>
              <a:srgbClr val="D97706"/>
            </a:solidFill>
            <a:ln w="12700">
              <a:solidFill>
                <a:srgbClr val="D9770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11">
              <a:extLst>
                <a:ext uri="{FF2B5EF4-FFF2-40B4-BE49-F238E27FC236}">
                  <a16:creationId xmlns:a16="http://schemas.microsoft.com/office/drawing/2014/main" id="{57325FAF-0378-250D-2BD9-4187B6522453}"/>
                </a:ext>
              </a:extLst>
            </p:cNvPr>
            <p:cNvSpPr/>
            <p:nvPr/>
          </p:nvSpPr>
          <p:spPr>
            <a:xfrm>
              <a:off x="6135624" y="2066544"/>
              <a:ext cx="438912" cy="594360"/>
            </a:xfrm>
            <a:prstGeom prst="rect">
              <a:avLst/>
            </a:prstGeom>
            <a:solidFill>
              <a:srgbClr val="2563EB"/>
            </a:solidFill>
            <a:ln w="12700">
              <a:solidFill>
                <a:srgbClr val="2563E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Shape 12">
              <a:extLst>
                <a:ext uri="{FF2B5EF4-FFF2-40B4-BE49-F238E27FC236}">
                  <a16:creationId xmlns:a16="http://schemas.microsoft.com/office/drawing/2014/main" id="{59B871D2-C726-0F78-E1B1-7F2DF88E7D7A}"/>
                </a:ext>
              </a:extLst>
            </p:cNvPr>
            <p:cNvSpPr/>
            <p:nvPr/>
          </p:nvSpPr>
          <p:spPr>
            <a:xfrm>
              <a:off x="5779008" y="2157984"/>
              <a:ext cx="402336" cy="82296"/>
            </a:xfrm>
            <a:prstGeom prst="rect">
              <a:avLst/>
            </a:prstGeom>
            <a:solidFill>
              <a:srgbClr val="D97706"/>
            </a:solidFill>
            <a:ln w="12700">
              <a:solidFill>
                <a:srgbClr val="D9770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Shape 13">
              <a:extLst>
                <a:ext uri="{FF2B5EF4-FFF2-40B4-BE49-F238E27FC236}">
                  <a16:creationId xmlns:a16="http://schemas.microsoft.com/office/drawing/2014/main" id="{55130FCA-6AF5-00A7-FEAE-E5AE73E0699F}"/>
                </a:ext>
              </a:extLst>
            </p:cNvPr>
            <p:cNvSpPr/>
            <p:nvPr/>
          </p:nvSpPr>
          <p:spPr>
            <a:xfrm>
              <a:off x="6172200" y="2642616"/>
              <a:ext cx="155448" cy="420624"/>
            </a:xfrm>
            <a:prstGeom prst="rect">
              <a:avLst/>
            </a:prstGeom>
            <a:solidFill>
              <a:srgbClr val="1E3A8A"/>
            </a:solidFill>
            <a:ln w="12700">
              <a:solidFill>
                <a:srgbClr val="1E3A8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Shape 14">
              <a:extLst>
                <a:ext uri="{FF2B5EF4-FFF2-40B4-BE49-F238E27FC236}">
                  <a16:creationId xmlns:a16="http://schemas.microsoft.com/office/drawing/2014/main" id="{0B19DBC7-37E7-B5CF-705F-378C6EB91476}"/>
                </a:ext>
              </a:extLst>
            </p:cNvPr>
            <p:cNvSpPr/>
            <p:nvPr/>
          </p:nvSpPr>
          <p:spPr>
            <a:xfrm>
              <a:off x="6382512" y="2642616"/>
              <a:ext cx="155448" cy="420624"/>
            </a:xfrm>
            <a:prstGeom prst="rect">
              <a:avLst/>
            </a:prstGeom>
            <a:solidFill>
              <a:srgbClr val="1E3A8A"/>
            </a:solidFill>
            <a:ln w="12700">
              <a:solidFill>
                <a:srgbClr val="1E3A8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Shape 15">
              <a:extLst>
                <a:ext uri="{FF2B5EF4-FFF2-40B4-BE49-F238E27FC236}">
                  <a16:creationId xmlns:a16="http://schemas.microsoft.com/office/drawing/2014/main" id="{C48D9167-92F4-0B10-7693-30B8A6ED59A6}"/>
                </a:ext>
              </a:extLst>
            </p:cNvPr>
            <p:cNvSpPr/>
            <p:nvPr/>
          </p:nvSpPr>
          <p:spPr>
            <a:xfrm>
              <a:off x="7040880" y="2414016"/>
              <a:ext cx="1234440" cy="82296"/>
            </a:xfrm>
            <a:prstGeom prst="rect">
              <a:avLst/>
            </a:prstGeom>
            <a:solidFill>
              <a:srgbClr val="4C1D95">
                <a:alpha val="80000"/>
              </a:srgbClr>
            </a:solidFill>
            <a:ln w="12700">
              <a:solidFill>
                <a:srgbClr val="4C1D95">
                  <a:alpha val="8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Shape 16">
              <a:extLst>
                <a:ext uri="{FF2B5EF4-FFF2-40B4-BE49-F238E27FC236}">
                  <a16:creationId xmlns:a16="http://schemas.microsoft.com/office/drawing/2014/main" id="{3C7DFE93-8CDB-7188-42E7-7FCB66AC78D5}"/>
                </a:ext>
              </a:extLst>
            </p:cNvPr>
            <p:cNvSpPr/>
            <p:nvPr/>
          </p:nvSpPr>
          <p:spPr>
            <a:xfrm>
              <a:off x="7114032" y="2496312"/>
              <a:ext cx="64008" cy="411480"/>
            </a:xfrm>
            <a:prstGeom prst="rect">
              <a:avLst/>
            </a:prstGeom>
            <a:solidFill>
              <a:srgbClr val="4C1D95">
                <a:alpha val="60000"/>
              </a:srgbClr>
            </a:solidFill>
            <a:ln w="12700">
              <a:solidFill>
                <a:srgbClr val="4C1D95">
                  <a:alpha val="6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Shape 17">
              <a:extLst>
                <a:ext uri="{FF2B5EF4-FFF2-40B4-BE49-F238E27FC236}">
                  <a16:creationId xmlns:a16="http://schemas.microsoft.com/office/drawing/2014/main" id="{133371D2-4274-D994-16F6-ADB77E4787F1}"/>
                </a:ext>
              </a:extLst>
            </p:cNvPr>
            <p:cNvSpPr/>
            <p:nvPr/>
          </p:nvSpPr>
          <p:spPr>
            <a:xfrm>
              <a:off x="7260336" y="2496312"/>
              <a:ext cx="64008" cy="411480"/>
            </a:xfrm>
            <a:prstGeom prst="rect">
              <a:avLst/>
            </a:prstGeom>
            <a:solidFill>
              <a:srgbClr val="4C1D95">
                <a:alpha val="60000"/>
              </a:srgbClr>
            </a:solidFill>
            <a:ln w="12700">
              <a:solidFill>
                <a:srgbClr val="4C1D95">
                  <a:alpha val="6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Shape 18">
              <a:extLst>
                <a:ext uri="{FF2B5EF4-FFF2-40B4-BE49-F238E27FC236}">
                  <a16:creationId xmlns:a16="http://schemas.microsoft.com/office/drawing/2014/main" id="{83E2B433-E421-990B-5727-1A61BBA8EB8F}"/>
                </a:ext>
              </a:extLst>
            </p:cNvPr>
            <p:cNvSpPr/>
            <p:nvPr/>
          </p:nvSpPr>
          <p:spPr>
            <a:xfrm>
              <a:off x="7077456" y="1920240"/>
              <a:ext cx="877824" cy="566928"/>
            </a:xfrm>
            <a:prstGeom prst="rect">
              <a:avLst/>
            </a:prstGeom>
            <a:solidFill>
              <a:srgbClr val="1E2E5C"/>
            </a:solidFill>
            <a:ln w="12700">
              <a:solidFill>
                <a:srgbClr val="33415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Shape 19">
              <a:extLst>
                <a:ext uri="{FF2B5EF4-FFF2-40B4-BE49-F238E27FC236}">
                  <a16:creationId xmlns:a16="http://schemas.microsoft.com/office/drawing/2014/main" id="{75D5BBC5-92A8-2D99-B0E6-BF1647E2A0B2}"/>
                </a:ext>
              </a:extLst>
            </p:cNvPr>
            <p:cNvSpPr/>
            <p:nvPr/>
          </p:nvSpPr>
          <p:spPr>
            <a:xfrm>
              <a:off x="7571232" y="1993392"/>
              <a:ext cx="301752" cy="301752"/>
            </a:xfrm>
            <a:prstGeom prst="ellipse">
              <a:avLst/>
            </a:prstGeom>
            <a:solidFill>
              <a:srgbClr val="1E3A8A"/>
            </a:solidFill>
            <a:ln w="12700">
              <a:solidFill>
                <a:srgbClr val="1E3A8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Shape 20">
              <a:extLst>
                <a:ext uri="{FF2B5EF4-FFF2-40B4-BE49-F238E27FC236}">
                  <a16:creationId xmlns:a16="http://schemas.microsoft.com/office/drawing/2014/main" id="{A84F51CA-5B39-F66A-716D-1628FC379979}"/>
                </a:ext>
              </a:extLst>
            </p:cNvPr>
            <p:cNvSpPr/>
            <p:nvPr/>
          </p:nvSpPr>
          <p:spPr>
            <a:xfrm>
              <a:off x="6967728" y="2450592"/>
              <a:ext cx="1042416" cy="64008"/>
            </a:xfrm>
            <a:prstGeom prst="rect">
              <a:avLst/>
            </a:prstGeom>
            <a:solidFill>
              <a:srgbClr val="334155"/>
            </a:solidFill>
            <a:ln w="12700">
              <a:solidFill>
                <a:srgbClr val="33415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Shape 21">
              <a:extLst>
                <a:ext uri="{FF2B5EF4-FFF2-40B4-BE49-F238E27FC236}">
                  <a16:creationId xmlns:a16="http://schemas.microsoft.com/office/drawing/2014/main" id="{0E4E900E-B67A-0102-F41A-97B38BBEC692}"/>
                </a:ext>
              </a:extLst>
            </p:cNvPr>
            <p:cNvSpPr/>
            <p:nvPr/>
          </p:nvSpPr>
          <p:spPr>
            <a:xfrm>
              <a:off x="7424928" y="1444752"/>
              <a:ext cx="292608" cy="292608"/>
            </a:xfrm>
            <a:prstGeom prst="ellipse">
              <a:avLst/>
            </a:prstGeom>
            <a:solidFill>
              <a:srgbClr val="FCA5A5"/>
            </a:solidFill>
            <a:ln w="12700">
              <a:solidFill>
                <a:srgbClr val="FCA5A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Shape 22">
              <a:extLst>
                <a:ext uri="{FF2B5EF4-FFF2-40B4-BE49-F238E27FC236}">
                  <a16:creationId xmlns:a16="http://schemas.microsoft.com/office/drawing/2014/main" id="{957E0A4C-621C-7EB1-B597-24499FB147A5}"/>
                </a:ext>
              </a:extLst>
            </p:cNvPr>
            <p:cNvSpPr/>
            <p:nvPr/>
          </p:nvSpPr>
          <p:spPr>
            <a:xfrm>
              <a:off x="7351776" y="1737360"/>
              <a:ext cx="438912" cy="475488"/>
            </a:xfrm>
            <a:prstGeom prst="rect">
              <a:avLst/>
            </a:prstGeom>
            <a:solidFill>
              <a:srgbClr val="DC2626"/>
            </a:solidFill>
            <a:ln w="12700">
              <a:solidFill>
                <a:srgbClr val="DC262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Shape 23">
              <a:extLst>
                <a:ext uri="{FF2B5EF4-FFF2-40B4-BE49-F238E27FC236}">
                  <a16:creationId xmlns:a16="http://schemas.microsoft.com/office/drawing/2014/main" id="{0EB86691-56A4-8DC6-DC29-2BE681120B35}"/>
                </a:ext>
              </a:extLst>
            </p:cNvPr>
            <p:cNvSpPr/>
            <p:nvPr/>
          </p:nvSpPr>
          <p:spPr>
            <a:xfrm>
              <a:off x="7114032" y="2029968"/>
              <a:ext cx="292608" cy="82296"/>
            </a:xfrm>
            <a:prstGeom prst="rect">
              <a:avLst/>
            </a:prstGeom>
            <a:solidFill>
              <a:srgbClr val="FCA5A5"/>
            </a:solidFill>
            <a:ln w="12700">
              <a:solidFill>
                <a:srgbClr val="FCA5A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Shape 24">
              <a:extLst>
                <a:ext uri="{FF2B5EF4-FFF2-40B4-BE49-F238E27FC236}">
                  <a16:creationId xmlns:a16="http://schemas.microsoft.com/office/drawing/2014/main" id="{0763D728-D31E-23E1-46E8-3CE4BE62E8C8}"/>
                </a:ext>
              </a:extLst>
            </p:cNvPr>
            <p:cNvSpPr/>
            <p:nvPr/>
          </p:nvSpPr>
          <p:spPr>
            <a:xfrm>
              <a:off x="7754112" y="2029968"/>
              <a:ext cx="292608" cy="82296"/>
            </a:xfrm>
            <a:prstGeom prst="rect">
              <a:avLst/>
            </a:prstGeom>
            <a:solidFill>
              <a:srgbClr val="FCA5A5"/>
            </a:solidFill>
            <a:ln w="12700">
              <a:solidFill>
                <a:srgbClr val="FCA5A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Shape 25">
              <a:extLst>
                <a:ext uri="{FF2B5EF4-FFF2-40B4-BE49-F238E27FC236}">
                  <a16:creationId xmlns:a16="http://schemas.microsoft.com/office/drawing/2014/main" id="{428B3CE2-BB6C-0459-F7D6-DD61492C99BA}"/>
                </a:ext>
              </a:extLst>
            </p:cNvPr>
            <p:cNvSpPr/>
            <p:nvPr/>
          </p:nvSpPr>
          <p:spPr>
            <a:xfrm>
              <a:off x="8183880" y="1737360"/>
              <a:ext cx="292608" cy="292608"/>
            </a:xfrm>
            <a:prstGeom prst="ellipse">
              <a:avLst/>
            </a:prstGeom>
            <a:solidFill>
              <a:srgbClr val="6EE7B7"/>
            </a:solidFill>
            <a:ln w="12700">
              <a:solidFill>
                <a:srgbClr val="6EE7B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Shape 26">
              <a:extLst>
                <a:ext uri="{FF2B5EF4-FFF2-40B4-BE49-F238E27FC236}">
                  <a16:creationId xmlns:a16="http://schemas.microsoft.com/office/drawing/2014/main" id="{B57D51F6-ACFA-B0F7-3826-A901AAA1E225}"/>
                </a:ext>
              </a:extLst>
            </p:cNvPr>
            <p:cNvSpPr/>
            <p:nvPr/>
          </p:nvSpPr>
          <p:spPr>
            <a:xfrm>
              <a:off x="8119872" y="2029968"/>
              <a:ext cx="420624" cy="585216"/>
            </a:xfrm>
            <a:prstGeom prst="rect">
              <a:avLst/>
            </a:prstGeom>
            <a:solidFill>
              <a:srgbClr val="059669"/>
            </a:solidFill>
            <a:ln w="12700">
              <a:solidFill>
                <a:srgbClr val="05966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Shape 27">
              <a:extLst>
                <a:ext uri="{FF2B5EF4-FFF2-40B4-BE49-F238E27FC236}">
                  <a16:creationId xmlns:a16="http://schemas.microsoft.com/office/drawing/2014/main" id="{827D8E5D-5ECB-61F3-3C5A-242195933DA5}"/>
                </a:ext>
              </a:extLst>
            </p:cNvPr>
            <p:cNvSpPr/>
            <p:nvPr/>
          </p:nvSpPr>
          <p:spPr>
            <a:xfrm>
              <a:off x="7872984" y="2139696"/>
              <a:ext cx="292608" cy="82296"/>
            </a:xfrm>
            <a:prstGeom prst="rect">
              <a:avLst/>
            </a:prstGeom>
            <a:solidFill>
              <a:srgbClr val="6EE7B7"/>
            </a:solidFill>
            <a:ln w="12700">
              <a:solidFill>
                <a:srgbClr val="6EE7B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Shape 28">
              <a:extLst>
                <a:ext uri="{FF2B5EF4-FFF2-40B4-BE49-F238E27FC236}">
                  <a16:creationId xmlns:a16="http://schemas.microsoft.com/office/drawing/2014/main" id="{D88D3B6F-22A9-4894-B922-B18701E84422}"/>
                </a:ext>
              </a:extLst>
            </p:cNvPr>
            <p:cNvSpPr/>
            <p:nvPr/>
          </p:nvSpPr>
          <p:spPr>
            <a:xfrm>
              <a:off x="8494776" y="2139696"/>
              <a:ext cx="292608" cy="82296"/>
            </a:xfrm>
            <a:prstGeom prst="rect">
              <a:avLst/>
            </a:prstGeom>
            <a:solidFill>
              <a:srgbClr val="6EE7B7"/>
            </a:solidFill>
            <a:ln w="12700">
              <a:solidFill>
                <a:srgbClr val="6EE7B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Shape 29">
              <a:extLst>
                <a:ext uri="{FF2B5EF4-FFF2-40B4-BE49-F238E27FC236}">
                  <a16:creationId xmlns:a16="http://schemas.microsoft.com/office/drawing/2014/main" id="{76E25281-6735-070D-4F1C-507FFB19798E}"/>
                </a:ext>
              </a:extLst>
            </p:cNvPr>
            <p:cNvSpPr/>
            <p:nvPr/>
          </p:nvSpPr>
          <p:spPr>
            <a:xfrm>
              <a:off x="8156448" y="2596896"/>
              <a:ext cx="146304" cy="438912"/>
            </a:xfrm>
            <a:prstGeom prst="rect">
              <a:avLst/>
            </a:prstGeom>
            <a:solidFill>
              <a:srgbClr val="065F46"/>
            </a:solidFill>
            <a:ln w="12700">
              <a:solidFill>
                <a:srgbClr val="065F4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Shape 30">
              <a:extLst>
                <a:ext uri="{FF2B5EF4-FFF2-40B4-BE49-F238E27FC236}">
                  <a16:creationId xmlns:a16="http://schemas.microsoft.com/office/drawing/2014/main" id="{E4AA3B23-86A0-FCB5-C18F-2A77AF99D989}"/>
                </a:ext>
              </a:extLst>
            </p:cNvPr>
            <p:cNvSpPr/>
            <p:nvPr/>
          </p:nvSpPr>
          <p:spPr>
            <a:xfrm>
              <a:off x="8357616" y="2596896"/>
              <a:ext cx="146304" cy="438912"/>
            </a:xfrm>
            <a:prstGeom prst="rect">
              <a:avLst/>
            </a:prstGeom>
            <a:solidFill>
              <a:srgbClr val="065F46"/>
            </a:solidFill>
            <a:ln w="12700">
              <a:solidFill>
                <a:srgbClr val="065F4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Shape 31">
              <a:extLst>
                <a:ext uri="{FF2B5EF4-FFF2-40B4-BE49-F238E27FC236}">
                  <a16:creationId xmlns:a16="http://schemas.microsoft.com/office/drawing/2014/main" id="{A2C8D950-2346-FA01-13AC-58DF8EDCA207}"/>
                </a:ext>
              </a:extLst>
            </p:cNvPr>
            <p:cNvSpPr/>
            <p:nvPr/>
          </p:nvSpPr>
          <p:spPr>
            <a:xfrm>
              <a:off x="5303520" y="1481328"/>
              <a:ext cx="137160" cy="137160"/>
            </a:xfrm>
            <a:prstGeom prst="ellipse">
              <a:avLst/>
            </a:prstGeom>
            <a:solidFill>
              <a:srgbClr val="8B5CF6">
                <a:alpha val="55000"/>
              </a:srgbClr>
            </a:solidFill>
            <a:ln w="12700">
              <a:solidFill>
                <a:srgbClr val="8B5CF6">
                  <a:alpha val="5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Shape 32">
              <a:extLst>
                <a:ext uri="{FF2B5EF4-FFF2-40B4-BE49-F238E27FC236}">
                  <a16:creationId xmlns:a16="http://schemas.microsoft.com/office/drawing/2014/main" id="{6B0E87E8-9D26-6ACF-B6A7-DDFD39242AEF}"/>
                </a:ext>
              </a:extLst>
            </p:cNvPr>
            <p:cNvSpPr/>
            <p:nvPr/>
          </p:nvSpPr>
          <p:spPr>
            <a:xfrm>
              <a:off x="6437376" y="1389888"/>
              <a:ext cx="118872" cy="118872"/>
            </a:xfrm>
            <a:prstGeom prst="ellipse">
              <a:avLst/>
            </a:prstGeom>
            <a:solidFill>
              <a:srgbClr val="D97706">
                <a:alpha val="55000"/>
              </a:srgbClr>
            </a:solidFill>
            <a:ln w="12700">
              <a:solidFill>
                <a:srgbClr val="D97706">
                  <a:alpha val="5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 name="Shape 33">
              <a:extLst>
                <a:ext uri="{FF2B5EF4-FFF2-40B4-BE49-F238E27FC236}">
                  <a16:creationId xmlns:a16="http://schemas.microsoft.com/office/drawing/2014/main" id="{395858B7-9794-83C7-761C-4BCDAA629B9F}"/>
                </a:ext>
              </a:extLst>
            </p:cNvPr>
            <p:cNvSpPr/>
            <p:nvPr/>
          </p:nvSpPr>
          <p:spPr>
            <a:xfrm>
              <a:off x="7735824" y="1335024"/>
              <a:ext cx="128016" cy="128016"/>
            </a:xfrm>
            <a:prstGeom prst="ellipse">
              <a:avLst/>
            </a:prstGeom>
            <a:solidFill>
              <a:srgbClr val="34D399">
                <a:alpha val="55000"/>
              </a:srgbClr>
            </a:solidFill>
            <a:ln w="12700">
              <a:solidFill>
                <a:srgbClr val="34D399">
                  <a:alpha val="5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 name="Shape 34">
              <a:extLst>
                <a:ext uri="{FF2B5EF4-FFF2-40B4-BE49-F238E27FC236}">
                  <a16:creationId xmlns:a16="http://schemas.microsoft.com/office/drawing/2014/main" id="{35FF309B-761F-1605-B6B6-99EB5ACF1E03}"/>
                </a:ext>
              </a:extLst>
            </p:cNvPr>
            <p:cNvSpPr/>
            <p:nvPr/>
          </p:nvSpPr>
          <p:spPr>
            <a:xfrm>
              <a:off x="7918704" y="1152144"/>
              <a:ext cx="1097280" cy="457200"/>
            </a:xfrm>
            <a:prstGeom prst="roundRect">
              <a:avLst/>
            </a:prstGeom>
            <a:solidFill>
              <a:srgbClr val="FFFFFF">
                <a:alpha val="22000"/>
              </a:srgbClr>
            </a:solidFill>
            <a:ln w="12700">
              <a:solidFill>
                <a:srgbClr val="FFFFFF">
                  <a:alpha val="4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 name="Shape 35">
              <a:extLst>
                <a:ext uri="{FF2B5EF4-FFF2-40B4-BE49-F238E27FC236}">
                  <a16:creationId xmlns:a16="http://schemas.microsoft.com/office/drawing/2014/main" id="{9BF997ED-5E32-5C7F-7063-3BC0BAD3B82D}"/>
                </a:ext>
              </a:extLst>
            </p:cNvPr>
            <p:cNvSpPr/>
            <p:nvPr/>
          </p:nvSpPr>
          <p:spPr>
            <a:xfrm>
              <a:off x="8357616" y="1225296"/>
              <a:ext cx="201168" cy="201168"/>
            </a:xfrm>
            <a:prstGeom prst="ellipse">
              <a:avLst/>
            </a:prstGeom>
            <a:solidFill>
              <a:srgbClr val="D97706">
                <a:alpha val="75000"/>
              </a:srgbClr>
            </a:solidFill>
            <a:ln w="12700">
              <a:solidFill>
                <a:srgbClr val="D97706">
                  <a:alpha val="7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Shape 36">
              <a:extLst>
                <a:ext uri="{FF2B5EF4-FFF2-40B4-BE49-F238E27FC236}">
                  <a16:creationId xmlns:a16="http://schemas.microsoft.com/office/drawing/2014/main" id="{41143C6E-D881-799D-D8E2-DF5574292F04}"/>
                </a:ext>
              </a:extLst>
            </p:cNvPr>
            <p:cNvSpPr/>
            <p:nvPr/>
          </p:nvSpPr>
          <p:spPr>
            <a:xfrm>
              <a:off x="7982712" y="1243584"/>
              <a:ext cx="301752" cy="54864"/>
            </a:xfrm>
            <a:prstGeom prst="rect">
              <a:avLst/>
            </a:prstGeom>
            <a:solidFill>
              <a:srgbClr val="FFFFFF">
                <a:alpha val="55000"/>
              </a:srgbClr>
            </a:solidFill>
            <a:ln w="12700">
              <a:solidFill>
                <a:srgbClr val="FFFFFF">
                  <a:alpha val="5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 name="Shape 37">
              <a:extLst>
                <a:ext uri="{FF2B5EF4-FFF2-40B4-BE49-F238E27FC236}">
                  <a16:creationId xmlns:a16="http://schemas.microsoft.com/office/drawing/2014/main" id="{2CA6DD8C-4C5F-DEAD-F54D-1A307B4D3B1C}"/>
                </a:ext>
              </a:extLst>
            </p:cNvPr>
            <p:cNvSpPr/>
            <p:nvPr/>
          </p:nvSpPr>
          <p:spPr>
            <a:xfrm>
              <a:off x="7982712" y="1325880"/>
              <a:ext cx="237744" cy="54864"/>
            </a:xfrm>
            <a:prstGeom prst="rect">
              <a:avLst/>
            </a:prstGeom>
            <a:solidFill>
              <a:srgbClr val="FFFFFF">
                <a:alpha val="55000"/>
              </a:srgbClr>
            </a:solidFill>
            <a:ln w="12700">
              <a:solidFill>
                <a:srgbClr val="FFFFFF">
                  <a:alpha val="5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914400"/>
          </a:xfrm>
          <a:prstGeom prst="rect">
            <a:avLst/>
          </a:prstGeom>
        </p:spPr>
      </p:pic>
      <p:sp>
        <p:nvSpPr>
          <p:cNvPr id="3" name="Text 0"/>
          <p:cNvSpPr/>
          <p:nvPr/>
        </p:nvSpPr>
        <p:spPr>
          <a:xfrm>
            <a:off x="457200" y="109728"/>
            <a:ext cx="7772400" cy="804672"/>
          </a:xfrm>
          <a:prstGeom prst="rect">
            <a:avLst/>
          </a:prstGeom>
          <a:noFill/>
          <a:ln/>
        </p:spPr>
        <p:txBody>
          <a:bodyPr wrap="square" lIns="0" tIns="0" rIns="0" bIns="0" rtlCol="0" anchor="ctr"/>
          <a:lstStyle/>
          <a:p>
            <a:pPr marL="0" indent="0" algn="l">
              <a:buNone/>
            </a:pPr>
            <a:r>
              <a:rPr lang="en-US" sz="2600" b="1" dirty="0">
                <a:solidFill>
                  <a:srgbClr val="FFFFFF"/>
                </a:solidFill>
                <a:latin typeface="Calibri" pitchFamily="34" charset="0"/>
                <a:ea typeface="Calibri" pitchFamily="34" charset="-122"/>
                <a:cs typeface="Calibri" pitchFamily="34" charset="-120"/>
              </a:rPr>
              <a:t>Structured &amp; Concise Experiences</a:t>
            </a:r>
            <a:endParaRPr lang="en-US" sz="2600" dirty="0"/>
          </a:p>
        </p:txBody>
      </p:sp>
      <p:sp>
        <p:nvSpPr>
          <p:cNvPr id="4" name="Text 1"/>
          <p:cNvSpPr/>
          <p:nvPr/>
        </p:nvSpPr>
        <p:spPr>
          <a:xfrm>
            <a:off x="409075" y="1014984"/>
            <a:ext cx="8503920" cy="384048"/>
          </a:xfrm>
          <a:prstGeom prst="rect">
            <a:avLst/>
          </a:prstGeom>
          <a:noFill/>
          <a:ln/>
        </p:spPr>
        <p:txBody>
          <a:bodyPr wrap="square" rtlCol="0" anchor="ctr"/>
          <a:lstStyle/>
          <a:p>
            <a:r>
              <a:rPr lang="en-US" sz="1300" i="1" dirty="0">
                <a:solidFill>
                  <a:srgbClr val="1F2937"/>
                </a:solidFill>
                <a:latin typeface="Calibri" pitchFamily="34" charset="0"/>
                <a:cs typeface="Calibri" pitchFamily="34" charset="-120"/>
              </a:rPr>
              <a:t>Designed to capture individual work experiences in a short/concise, structured format — easy to consume and learn from.</a:t>
            </a:r>
          </a:p>
        </p:txBody>
      </p:sp>
      <p:sp>
        <p:nvSpPr>
          <p:cNvPr id="5" name="Shape 2"/>
          <p:cNvSpPr/>
          <p:nvPr/>
        </p:nvSpPr>
        <p:spPr>
          <a:xfrm>
            <a:off x="457200" y="1536192"/>
            <a:ext cx="2651760" cy="2423160"/>
          </a:xfrm>
          <a:prstGeom prst="rect">
            <a:avLst/>
          </a:prstGeom>
          <a:solidFill>
            <a:srgbClr val="FFFFFF"/>
          </a:solidFill>
          <a:ln w="12700">
            <a:solidFill>
              <a:srgbClr val="E9D5FF"/>
            </a:solidFill>
            <a:prstDash val="solid"/>
          </a:ln>
          <a:effectLst>
            <a:outerShdw blurRad="101600" dist="38100" dir="8100000" algn="bl" rotWithShape="0">
              <a:srgbClr val="000000">
                <a:alpha val="12000"/>
              </a:srgbClr>
            </a:outerShdw>
          </a:effectLst>
        </p:spPr>
        <p:txBody>
          <a:bodyPr/>
          <a:lstStyle/>
          <a:p>
            <a:endParaRPr lang="en-US"/>
          </a:p>
        </p:txBody>
      </p:sp>
      <p:sp>
        <p:nvSpPr>
          <p:cNvPr id="6" name="Shape 3"/>
          <p:cNvSpPr/>
          <p:nvPr/>
        </p:nvSpPr>
        <p:spPr>
          <a:xfrm>
            <a:off x="457200" y="1536192"/>
            <a:ext cx="2651760" cy="502920"/>
          </a:xfrm>
          <a:prstGeom prst="rect">
            <a:avLst/>
          </a:prstGeom>
          <a:solidFill>
            <a:srgbClr val="DC2626"/>
          </a:solidFill>
          <a:ln w="12700">
            <a:solidFill>
              <a:srgbClr val="DC2626"/>
            </a:solidFill>
            <a:prstDash val="solid"/>
          </a:ln>
        </p:spPr>
        <p:txBody>
          <a:bodyPr/>
          <a:lstStyle/>
          <a:p>
            <a:endParaRPr lang="en-US"/>
          </a:p>
        </p:txBody>
      </p:sp>
      <p:sp>
        <p:nvSpPr>
          <p:cNvPr id="7" name="Text 4"/>
          <p:cNvSpPr/>
          <p:nvPr/>
        </p:nvSpPr>
        <p:spPr>
          <a:xfrm>
            <a:off x="457200" y="1563624"/>
            <a:ext cx="2651760" cy="457200"/>
          </a:xfrm>
          <a:prstGeom prst="rect">
            <a:avLst/>
          </a:prstGeom>
          <a:noFill/>
          <a:ln/>
        </p:spPr>
        <p:txBody>
          <a:bodyPr wrap="square" lIns="0" tIns="0" rIns="0" bIns="0" rtlCol="0" anchor="ctr"/>
          <a:lstStyle/>
          <a:p>
            <a:pPr marL="0" indent="0" algn="ctr">
              <a:buNone/>
            </a:pPr>
            <a:r>
              <a:rPr lang="en-US" sz="1500" b="1" dirty="0">
                <a:solidFill>
                  <a:srgbClr val="FFFF00"/>
                </a:solidFill>
                <a:highlight>
                  <a:srgbClr val="FFFF00"/>
                </a:highlight>
                <a:latin typeface="Calibri" pitchFamily="34" charset="0"/>
                <a:ea typeface="Calibri" pitchFamily="34" charset="-122"/>
                <a:cs typeface="Calibri" pitchFamily="34" charset="-120"/>
              </a:rPr>
              <a:t>❗</a:t>
            </a:r>
            <a:r>
              <a:rPr lang="en-US" sz="1500" b="1" dirty="0">
                <a:solidFill>
                  <a:srgbClr val="FFFFFF"/>
                </a:solidFill>
                <a:latin typeface="Calibri" pitchFamily="34" charset="0"/>
                <a:ea typeface="Calibri" pitchFamily="34" charset="-122"/>
                <a:cs typeface="Calibri" pitchFamily="34" charset="-120"/>
              </a:rPr>
              <a:t>  Problem</a:t>
            </a:r>
            <a:endParaRPr lang="en-US" sz="1500" dirty="0"/>
          </a:p>
        </p:txBody>
      </p:sp>
      <p:sp>
        <p:nvSpPr>
          <p:cNvPr id="8" name="Text 5"/>
          <p:cNvSpPr/>
          <p:nvPr/>
        </p:nvSpPr>
        <p:spPr>
          <a:xfrm>
            <a:off x="594360" y="2121408"/>
            <a:ext cx="2377440" cy="1600200"/>
          </a:xfrm>
          <a:prstGeom prst="rect">
            <a:avLst/>
          </a:prstGeom>
          <a:noFill/>
          <a:ln/>
        </p:spPr>
        <p:txBody>
          <a:bodyPr wrap="square" rtlCol="0" anchor="ctr"/>
          <a:lstStyle/>
          <a:p>
            <a:pPr marL="0" indent="0">
              <a:buNone/>
            </a:pPr>
            <a:r>
              <a:rPr lang="en-US" sz="1300" dirty="0">
                <a:solidFill>
                  <a:srgbClr val="1F2937"/>
                </a:solidFill>
                <a:latin typeface="Calibri" pitchFamily="34" charset="0"/>
                <a:ea typeface="Calibri" pitchFamily="34" charset="-122"/>
                <a:cs typeface="Calibri" pitchFamily="34" charset="-120"/>
              </a:rPr>
              <a:t>What was the challenge or situation faced?</a:t>
            </a:r>
            <a:endParaRPr lang="en-US" sz="1300" dirty="0"/>
          </a:p>
        </p:txBody>
      </p:sp>
      <p:sp>
        <p:nvSpPr>
          <p:cNvPr id="9" name="Shape 6"/>
          <p:cNvSpPr/>
          <p:nvPr/>
        </p:nvSpPr>
        <p:spPr>
          <a:xfrm>
            <a:off x="3337560" y="1536192"/>
            <a:ext cx="2651760" cy="2423160"/>
          </a:xfrm>
          <a:prstGeom prst="rect">
            <a:avLst/>
          </a:prstGeom>
          <a:solidFill>
            <a:srgbClr val="FFFFFF"/>
          </a:solidFill>
          <a:ln w="12700">
            <a:solidFill>
              <a:srgbClr val="E9D5FF"/>
            </a:solidFill>
            <a:prstDash val="solid"/>
          </a:ln>
          <a:effectLst>
            <a:outerShdw blurRad="101600" dist="38100" dir="8100000" algn="bl" rotWithShape="0">
              <a:srgbClr val="000000">
                <a:alpha val="12000"/>
              </a:srgbClr>
            </a:outerShdw>
          </a:effectLst>
        </p:spPr>
        <p:txBody>
          <a:bodyPr/>
          <a:lstStyle/>
          <a:p>
            <a:endParaRPr lang="en-US"/>
          </a:p>
        </p:txBody>
      </p:sp>
      <p:sp>
        <p:nvSpPr>
          <p:cNvPr id="10" name="Shape 7"/>
          <p:cNvSpPr/>
          <p:nvPr/>
        </p:nvSpPr>
        <p:spPr>
          <a:xfrm>
            <a:off x="3337560" y="1536192"/>
            <a:ext cx="2651760" cy="502920"/>
          </a:xfrm>
          <a:prstGeom prst="rect">
            <a:avLst/>
          </a:prstGeom>
          <a:solidFill>
            <a:srgbClr val="9333EA"/>
          </a:solidFill>
          <a:ln w="12700">
            <a:solidFill>
              <a:srgbClr val="9333EA"/>
            </a:solidFill>
            <a:prstDash val="solid"/>
          </a:ln>
        </p:spPr>
        <p:txBody>
          <a:bodyPr/>
          <a:lstStyle/>
          <a:p>
            <a:endParaRPr lang="en-US"/>
          </a:p>
        </p:txBody>
      </p:sp>
      <p:sp>
        <p:nvSpPr>
          <p:cNvPr id="11" name="Text 8"/>
          <p:cNvSpPr/>
          <p:nvPr/>
        </p:nvSpPr>
        <p:spPr>
          <a:xfrm>
            <a:off x="3337560" y="1563624"/>
            <a:ext cx="265176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  Action</a:t>
            </a:r>
            <a:endParaRPr lang="en-US" sz="1500" dirty="0"/>
          </a:p>
        </p:txBody>
      </p:sp>
      <p:sp>
        <p:nvSpPr>
          <p:cNvPr id="12" name="Text 9"/>
          <p:cNvSpPr/>
          <p:nvPr/>
        </p:nvSpPr>
        <p:spPr>
          <a:xfrm>
            <a:off x="3474720" y="2121408"/>
            <a:ext cx="2377440" cy="1600200"/>
          </a:xfrm>
          <a:prstGeom prst="rect">
            <a:avLst/>
          </a:prstGeom>
          <a:noFill/>
          <a:ln/>
        </p:spPr>
        <p:txBody>
          <a:bodyPr wrap="square" rtlCol="0" anchor="ctr"/>
          <a:lstStyle/>
          <a:p>
            <a:pPr marL="0" indent="0">
              <a:buNone/>
            </a:pPr>
            <a:r>
              <a:rPr lang="en-US" sz="1300" dirty="0">
                <a:solidFill>
                  <a:srgbClr val="1F2937"/>
                </a:solidFill>
                <a:latin typeface="Calibri" pitchFamily="34" charset="0"/>
                <a:ea typeface="Calibri" pitchFamily="34" charset="-122"/>
                <a:cs typeface="Calibri" pitchFamily="34" charset="-120"/>
              </a:rPr>
              <a:t>What steps were taken to address it?</a:t>
            </a:r>
            <a:endParaRPr lang="en-US" sz="1300" dirty="0"/>
          </a:p>
        </p:txBody>
      </p:sp>
      <p:sp>
        <p:nvSpPr>
          <p:cNvPr id="13" name="Shape 10"/>
          <p:cNvSpPr/>
          <p:nvPr/>
        </p:nvSpPr>
        <p:spPr>
          <a:xfrm>
            <a:off x="6217920" y="1536192"/>
            <a:ext cx="2651760" cy="2423160"/>
          </a:xfrm>
          <a:prstGeom prst="rect">
            <a:avLst/>
          </a:prstGeom>
          <a:solidFill>
            <a:srgbClr val="FFFFFF"/>
          </a:solidFill>
          <a:ln w="12700">
            <a:solidFill>
              <a:srgbClr val="E9D5FF"/>
            </a:solidFill>
            <a:prstDash val="solid"/>
          </a:ln>
          <a:effectLst>
            <a:outerShdw blurRad="101600" dist="38100" dir="8100000" algn="bl" rotWithShape="0">
              <a:srgbClr val="000000">
                <a:alpha val="12000"/>
              </a:srgbClr>
            </a:outerShdw>
          </a:effectLst>
        </p:spPr>
        <p:txBody>
          <a:bodyPr/>
          <a:lstStyle/>
          <a:p>
            <a:endParaRPr lang="en-US"/>
          </a:p>
        </p:txBody>
      </p:sp>
      <p:sp>
        <p:nvSpPr>
          <p:cNvPr id="14" name="Shape 11"/>
          <p:cNvSpPr/>
          <p:nvPr/>
        </p:nvSpPr>
        <p:spPr>
          <a:xfrm>
            <a:off x="6217920" y="1536192"/>
            <a:ext cx="2651760" cy="502920"/>
          </a:xfrm>
          <a:prstGeom prst="rect">
            <a:avLst/>
          </a:prstGeom>
          <a:solidFill>
            <a:srgbClr val="16A34A"/>
          </a:solidFill>
          <a:ln w="12700">
            <a:solidFill>
              <a:srgbClr val="16A34A"/>
            </a:solidFill>
            <a:prstDash val="solid"/>
          </a:ln>
        </p:spPr>
        <p:txBody>
          <a:bodyPr/>
          <a:lstStyle/>
          <a:p>
            <a:endParaRPr lang="en-US"/>
          </a:p>
        </p:txBody>
      </p:sp>
      <p:sp>
        <p:nvSpPr>
          <p:cNvPr id="15" name="Text 12"/>
          <p:cNvSpPr/>
          <p:nvPr/>
        </p:nvSpPr>
        <p:spPr>
          <a:xfrm>
            <a:off x="6217920" y="1563624"/>
            <a:ext cx="265176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  Result</a:t>
            </a:r>
            <a:endParaRPr lang="en-US" sz="1500" dirty="0"/>
          </a:p>
        </p:txBody>
      </p:sp>
      <p:sp>
        <p:nvSpPr>
          <p:cNvPr id="16" name="Text 13"/>
          <p:cNvSpPr/>
          <p:nvPr/>
        </p:nvSpPr>
        <p:spPr>
          <a:xfrm>
            <a:off x="6355080" y="2121408"/>
            <a:ext cx="2377440" cy="1600200"/>
          </a:xfrm>
          <a:prstGeom prst="rect">
            <a:avLst/>
          </a:prstGeom>
          <a:noFill/>
          <a:ln/>
        </p:spPr>
        <p:txBody>
          <a:bodyPr wrap="square" rtlCol="0" anchor="ctr"/>
          <a:lstStyle/>
          <a:p>
            <a:pPr marL="0" indent="0">
              <a:buNone/>
            </a:pPr>
            <a:r>
              <a:rPr lang="en-US" sz="1300" dirty="0">
                <a:solidFill>
                  <a:srgbClr val="1F2937"/>
                </a:solidFill>
                <a:latin typeface="Calibri" pitchFamily="34" charset="0"/>
                <a:ea typeface="Calibri" pitchFamily="34" charset="-122"/>
                <a:cs typeface="Calibri" pitchFamily="34" charset="-120"/>
              </a:rPr>
              <a:t>What was the result — worked, no change, or got worse?</a:t>
            </a:r>
            <a:endParaRPr lang="en-US" sz="1300" dirty="0"/>
          </a:p>
        </p:txBody>
      </p:sp>
      <p:sp>
        <p:nvSpPr>
          <p:cNvPr id="17" name="Text 14"/>
          <p:cNvSpPr/>
          <p:nvPr/>
        </p:nvSpPr>
        <p:spPr>
          <a:xfrm>
            <a:off x="457200" y="4069080"/>
            <a:ext cx="8229600" cy="384048"/>
          </a:xfrm>
          <a:prstGeom prst="rect">
            <a:avLst/>
          </a:prstGeom>
          <a:noFill/>
          <a:ln/>
        </p:spPr>
        <p:txBody>
          <a:bodyPr wrap="square" rtlCol="0" anchor="ctr"/>
          <a:lstStyle/>
          <a:p>
            <a:pPr marL="0" indent="0" algn="ctr">
              <a:buNone/>
            </a:pPr>
            <a:r>
              <a:rPr lang="en-US" sz="1200" i="1" dirty="0">
                <a:solidFill>
                  <a:srgbClr val="6B7280"/>
                </a:solidFill>
                <a:latin typeface="Calibri" pitchFamily="34" charset="0"/>
                <a:ea typeface="Calibri" pitchFamily="34" charset="-122"/>
                <a:cs typeface="Calibri" pitchFamily="34" charset="-120"/>
              </a:rPr>
              <a:t>This makes the platform efficient and practical for day-to-day work situations.</a:t>
            </a:r>
            <a:endParaRPr lang="en-US" sz="1200" dirty="0"/>
          </a:p>
        </p:txBody>
      </p:sp>
      <p:sp>
        <p:nvSpPr>
          <p:cNvPr id="18" name="Shape 15"/>
          <p:cNvSpPr/>
          <p:nvPr/>
        </p:nvSpPr>
        <p:spPr>
          <a:xfrm>
            <a:off x="0" y="4617720"/>
            <a:ext cx="9144000" cy="434340"/>
          </a:xfrm>
          <a:prstGeom prst="rect">
            <a:avLst/>
          </a:prstGeom>
          <a:solidFill>
            <a:srgbClr val="D97706"/>
          </a:solidFill>
          <a:ln w="12700">
            <a:solidFill>
              <a:srgbClr val="D97706"/>
            </a:solidFill>
            <a:prstDash val="solid"/>
          </a:ln>
        </p:spPr>
        <p:txBody>
          <a:bodyPr/>
          <a:lstStyle/>
          <a:p>
            <a:endParaRPr lang="en-US"/>
          </a:p>
        </p:txBody>
      </p:sp>
      <p:sp>
        <p:nvSpPr>
          <p:cNvPr id="19" name="Text 16"/>
          <p:cNvSpPr/>
          <p:nvPr/>
        </p:nvSpPr>
        <p:spPr>
          <a:xfrm>
            <a:off x="365760" y="4654296"/>
            <a:ext cx="841248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Each experience intentionally synthesized for fast reading and immediate learning.</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EE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914400"/>
          </a:xfrm>
          <a:prstGeom prst="rect">
            <a:avLst/>
          </a:prstGeom>
        </p:spPr>
      </p:pic>
      <p:sp>
        <p:nvSpPr>
          <p:cNvPr id="3" name="Text 0"/>
          <p:cNvSpPr/>
          <p:nvPr/>
        </p:nvSpPr>
        <p:spPr>
          <a:xfrm>
            <a:off x="457200" y="109728"/>
            <a:ext cx="8138160" cy="804672"/>
          </a:xfrm>
          <a:prstGeom prst="rect">
            <a:avLst/>
          </a:prstGeom>
          <a:noFill/>
          <a:ln/>
        </p:spPr>
        <p:txBody>
          <a:bodyPr wrap="square" lIns="0" tIns="0" rIns="0" bIns="0" rtlCol="0" anchor="ctr"/>
          <a:lstStyle/>
          <a:p>
            <a:r>
              <a:rPr lang="en-US" sz="2400" b="1" dirty="0">
                <a:solidFill>
                  <a:srgbClr val="FFFFFF"/>
                </a:solidFill>
                <a:latin typeface="Calibri" pitchFamily="34" charset="0"/>
                <a:cs typeface="Calibri" pitchFamily="34" charset="-120"/>
              </a:rPr>
              <a:t>Who Uses </a:t>
            </a:r>
            <a:r>
              <a:rPr lang="en-US" sz="2400" b="1" dirty="0" err="1">
                <a:solidFill>
                  <a:srgbClr val="FFFFFF"/>
                </a:solidFill>
                <a:latin typeface="Calibri" pitchFamily="34" charset="0"/>
                <a:cs typeface="Calibri" pitchFamily="34" charset="-120"/>
              </a:rPr>
              <a:t>WhatIDid</a:t>
            </a:r>
            <a:r>
              <a:rPr lang="en-US" sz="2400" b="1" dirty="0">
                <a:solidFill>
                  <a:srgbClr val="FFFFFF"/>
                </a:solidFill>
                <a:latin typeface="Calibri" pitchFamily="34" charset="0"/>
                <a:cs typeface="Calibri" pitchFamily="34" charset="-120"/>
              </a:rPr>
              <a:t> in Organizations &amp; How They Create Value</a:t>
            </a:r>
          </a:p>
        </p:txBody>
      </p:sp>
      <p:sp>
        <p:nvSpPr>
          <p:cNvPr id="4" name="Shape 1"/>
          <p:cNvSpPr/>
          <p:nvPr/>
        </p:nvSpPr>
        <p:spPr>
          <a:xfrm>
            <a:off x="365760" y="1051560"/>
            <a:ext cx="4023360" cy="3520440"/>
          </a:xfrm>
          <a:prstGeom prst="rect">
            <a:avLst/>
          </a:prstGeom>
          <a:solidFill>
            <a:srgbClr val="FFFFFF"/>
          </a:solidFill>
          <a:ln w="12700">
            <a:solidFill>
              <a:srgbClr val="E9D5FF"/>
            </a:solidFill>
            <a:prstDash val="solid"/>
          </a:ln>
          <a:effectLst>
            <a:outerShdw blurRad="101600" dist="38100" dir="8100000" algn="bl" rotWithShape="0">
              <a:srgbClr val="000000">
                <a:alpha val="12000"/>
              </a:srgbClr>
            </a:outerShdw>
          </a:effectLst>
        </p:spPr>
        <p:txBody>
          <a:bodyPr/>
          <a:lstStyle/>
          <a:p>
            <a:endParaRPr lang="en-US"/>
          </a:p>
        </p:txBody>
      </p:sp>
      <p:sp>
        <p:nvSpPr>
          <p:cNvPr id="5" name="Shape 2"/>
          <p:cNvSpPr/>
          <p:nvPr/>
        </p:nvSpPr>
        <p:spPr>
          <a:xfrm>
            <a:off x="365760" y="1051560"/>
            <a:ext cx="4023360" cy="502920"/>
          </a:xfrm>
          <a:prstGeom prst="rect">
            <a:avLst/>
          </a:prstGeom>
          <a:solidFill>
            <a:srgbClr val="9333EA"/>
          </a:solidFill>
          <a:ln w="12700">
            <a:solidFill>
              <a:srgbClr val="9333EA"/>
            </a:solidFill>
            <a:prstDash val="solid"/>
          </a:ln>
        </p:spPr>
        <p:txBody>
          <a:bodyPr/>
          <a:lstStyle/>
          <a:p>
            <a:endParaRPr lang="en-US"/>
          </a:p>
        </p:txBody>
      </p:sp>
      <p:sp>
        <p:nvSpPr>
          <p:cNvPr id="6" name="Text 3"/>
          <p:cNvSpPr/>
          <p:nvPr/>
        </p:nvSpPr>
        <p:spPr>
          <a:xfrm>
            <a:off x="502920" y="1078992"/>
            <a:ext cx="3749040" cy="45720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  Employees</a:t>
            </a:r>
            <a:endParaRPr lang="en-US" sz="1500" dirty="0"/>
          </a:p>
        </p:txBody>
      </p:sp>
      <p:sp>
        <p:nvSpPr>
          <p:cNvPr id="7" name="Text 4"/>
          <p:cNvSpPr/>
          <p:nvPr/>
        </p:nvSpPr>
        <p:spPr>
          <a:xfrm>
            <a:off x="594360" y="1664208"/>
            <a:ext cx="3657600" cy="2560320"/>
          </a:xfrm>
          <a:prstGeom prst="rect">
            <a:avLst/>
          </a:prstGeom>
          <a:noFill/>
          <a:ln/>
        </p:spPr>
        <p:txBody>
          <a:bodyPr wrap="square" rtlCol="0" anchor="ctr"/>
          <a:lstStyle/>
          <a:p>
            <a:pPr marL="342900" indent="-342900">
              <a:buSzPct val="100000"/>
              <a:buChar char="•"/>
            </a:pPr>
            <a:r>
              <a:rPr lang="en-US" sz="1400" dirty="0">
                <a:solidFill>
                  <a:srgbClr val="1F2937"/>
                </a:solidFill>
                <a:latin typeface="Calibri" pitchFamily="34" charset="0"/>
                <a:ea typeface="Calibri" pitchFamily="34" charset="-122"/>
                <a:cs typeface="Calibri" pitchFamily="34" charset="-120"/>
              </a:rPr>
              <a:t>Learn from others when facing a problem</a:t>
            </a:r>
            <a:endParaRPr lang="en-US" sz="1400" dirty="0"/>
          </a:p>
          <a:p>
            <a:pPr marL="342900" indent="-342900">
              <a:buSzPct val="100000"/>
              <a:buChar char="•"/>
            </a:pPr>
            <a:r>
              <a:rPr lang="en-US" sz="1400" dirty="0">
                <a:solidFill>
                  <a:srgbClr val="1F2937"/>
                </a:solidFill>
                <a:latin typeface="Calibri" pitchFamily="34" charset="0"/>
                <a:ea typeface="Calibri" pitchFamily="34" charset="-122"/>
                <a:cs typeface="Calibri" pitchFamily="34" charset="-120"/>
              </a:rPr>
              <a:t>Share their own experiences after solving one</a:t>
            </a:r>
            <a:endParaRPr lang="en-US" sz="1400" dirty="0"/>
          </a:p>
        </p:txBody>
      </p:sp>
      <p:sp>
        <p:nvSpPr>
          <p:cNvPr id="8" name="Shape 5"/>
          <p:cNvSpPr/>
          <p:nvPr/>
        </p:nvSpPr>
        <p:spPr>
          <a:xfrm>
            <a:off x="4754880" y="1051560"/>
            <a:ext cx="4023360" cy="3520440"/>
          </a:xfrm>
          <a:prstGeom prst="rect">
            <a:avLst/>
          </a:prstGeom>
          <a:solidFill>
            <a:srgbClr val="FFFFFF"/>
          </a:solidFill>
          <a:ln w="12700">
            <a:solidFill>
              <a:srgbClr val="E9D5FF"/>
            </a:solidFill>
            <a:prstDash val="solid"/>
          </a:ln>
          <a:effectLst>
            <a:outerShdw blurRad="101600" dist="38100" dir="8100000" algn="bl" rotWithShape="0">
              <a:srgbClr val="000000">
                <a:alpha val="12000"/>
              </a:srgbClr>
            </a:outerShdw>
          </a:effectLst>
        </p:spPr>
        <p:txBody>
          <a:bodyPr/>
          <a:lstStyle/>
          <a:p>
            <a:endParaRPr lang="en-US"/>
          </a:p>
        </p:txBody>
      </p:sp>
      <p:sp>
        <p:nvSpPr>
          <p:cNvPr id="9" name="Shape 6"/>
          <p:cNvSpPr/>
          <p:nvPr/>
        </p:nvSpPr>
        <p:spPr>
          <a:xfrm>
            <a:off x="4754880" y="1051560"/>
            <a:ext cx="4023360" cy="502920"/>
          </a:xfrm>
          <a:prstGeom prst="rect">
            <a:avLst/>
          </a:prstGeom>
          <a:solidFill>
            <a:srgbClr val="1E2E5C"/>
          </a:solidFill>
          <a:ln w="12700">
            <a:solidFill>
              <a:srgbClr val="1E2E5C"/>
            </a:solidFill>
            <a:prstDash val="solid"/>
          </a:ln>
        </p:spPr>
        <p:txBody>
          <a:bodyPr/>
          <a:lstStyle/>
          <a:p>
            <a:endParaRPr lang="en-US"/>
          </a:p>
        </p:txBody>
      </p:sp>
      <p:sp>
        <p:nvSpPr>
          <p:cNvPr id="10" name="Text 7"/>
          <p:cNvSpPr/>
          <p:nvPr/>
        </p:nvSpPr>
        <p:spPr>
          <a:xfrm>
            <a:off x="4892040" y="1078992"/>
            <a:ext cx="3749040" cy="45720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  Leadership</a:t>
            </a:r>
            <a:endParaRPr lang="en-US" sz="1500" dirty="0"/>
          </a:p>
        </p:txBody>
      </p:sp>
      <p:sp>
        <p:nvSpPr>
          <p:cNvPr id="11" name="Text 8"/>
          <p:cNvSpPr/>
          <p:nvPr/>
        </p:nvSpPr>
        <p:spPr>
          <a:xfrm>
            <a:off x="4937760" y="1664208"/>
            <a:ext cx="3657600" cy="2560320"/>
          </a:xfrm>
          <a:prstGeom prst="rect">
            <a:avLst/>
          </a:prstGeom>
          <a:noFill/>
          <a:ln/>
        </p:spPr>
        <p:txBody>
          <a:bodyPr wrap="square" rtlCol="0" anchor="ctr"/>
          <a:lstStyle/>
          <a:p>
            <a:pPr marL="342900" indent="-342900">
              <a:buSzPct val="100000"/>
              <a:buChar char="•"/>
            </a:pPr>
            <a:r>
              <a:rPr lang="en-US" sz="1400" dirty="0">
                <a:solidFill>
                  <a:srgbClr val="1F2937"/>
                </a:solidFill>
                <a:latin typeface="Calibri" pitchFamily="34" charset="0"/>
                <a:ea typeface="Calibri" pitchFamily="34" charset="-122"/>
                <a:cs typeface="Calibri" pitchFamily="34" charset="-120"/>
              </a:rPr>
              <a:t>Identify recurring business pain points</a:t>
            </a:r>
            <a:endParaRPr lang="en-US" sz="1400" dirty="0"/>
          </a:p>
          <a:p>
            <a:pPr marL="342900" indent="-342900">
              <a:buSzPct val="100000"/>
              <a:buChar char="•"/>
            </a:pPr>
            <a:r>
              <a:rPr lang="en-US" sz="1400" dirty="0">
                <a:solidFill>
                  <a:srgbClr val="1F2937"/>
                </a:solidFill>
                <a:latin typeface="Calibri" pitchFamily="34" charset="0"/>
                <a:ea typeface="Calibri" pitchFamily="34" charset="-122"/>
                <a:cs typeface="Calibri" pitchFamily="34" charset="-120"/>
              </a:rPr>
              <a:t>Understand where operational problems are concentrated</a:t>
            </a:r>
            <a:endParaRPr lang="en-US" sz="1400" dirty="0"/>
          </a:p>
          <a:p>
            <a:pPr marL="342900" indent="-342900">
              <a:buSzPct val="100000"/>
              <a:buChar char="•"/>
            </a:pPr>
            <a:r>
              <a:rPr lang="en-US" sz="1400" dirty="0">
                <a:solidFill>
                  <a:srgbClr val="1F2937"/>
                </a:solidFill>
                <a:latin typeface="Calibri" pitchFamily="34" charset="0"/>
                <a:ea typeface="Calibri" pitchFamily="34" charset="-122"/>
                <a:cs typeface="Calibri" pitchFamily="34" charset="-120"/>
              </a:rPr>
              <a:t>Prioritize improvement initiatives and budgeting</a:t>
            </a:r>
            <a:endParaRPr lang="en-US" sz="1400" dirty="0"/>
          </a:p>
        </p:txBody>
      </p:sp>
      <p:sp>
        <p:nvSpPr>
          <p:cNvPr id="12" name="Shape 9"/>
          <p:cNvSpPr/>
          <p:nvPr/>
        </p:nvSpPr>
        <p:spPr>
          <a:xfrm>
            <a:off x="0" y="4709160"/>
            <a:ext cx="9144000" cy="434340"/>
          </a:xfrm>
          <a:prstGeom prst="rect">
            <a:avLst/>
          </a:prstGeom>
          <a:solidFill>
            <a:srgbClr val="D97706"/>
          </a:solidFill>
          <a:ln w="12700">
            <a:solidFill>
              <a:srgbClr val="D97706"/>
            </a:solidFill>
            <a:prstDash val="solid"/>
          </a:ln>
        </p:spPr>
        <p:txBody>
          <a:bodyPr/>
          <a:lstStyle/>
          <a:p>
            <a:endParaRPr lang="en-US"/>
          </a:p>
        </p:txBody>
      </p:sp>
      <p:sp>
        <p:nvSpPr>
          <p:cNvPr id="13" name="Text 10"/>
          <p:cNvSpPr/>
          <p:nvPr/>
        </p:nvSpPr>
        <p:spPr>
          <a:xfrm>
            <a:off x="365760" y="4745736"/>
            <a:ext cx="841248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One platform. Two powerful perspectives.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914400"/>
          </a:xfrm>
          <a:prstGeom prst="rect">
            <a:avLst/>
          </a:prstGeom>
        </p:spPr>
      </p:pic>
      <p:sp>
        <p:nvSpPr>
          <p:cNvPr id="3" name="Text 0"/>
          <p:cNvSpPr/>
          <p:nvPr/>
        </p:nvSpPr>
        <p:spPr>
          <a:xfrm>
            <a:off x="457200" y="109728"/>
            <a:ext cx="7772400" cy="804672"/>
          </a:xfrm>
          <a:prstGeom prst="rect">
            <a:avLst/>
          </a:prstGeom>
          <a:noFill/>
          <a:ln/>
        </p:spPr>
        <p:txBody>
          <a:bodyPr wrap="square" lIns="0" tIns="0" rIns="0" bIns="0" rtlCol="0" anchor="ctr"/>
          <a:lstStyle/>
          <a:p>
            <a:pPr marL="0" indent="0" algn="l">
              <a:buNone/>
            </a:pPr>
            <a:r>
              <a:rPr lang="en-US" sz="2600" b="1" dirty="0">
                <a:solidFill>
                  <a:srgbClr val="FFFFFF"/>
                </a:solidFill>
                <a:latin typeface="Calibri" pitchFamily="34" charset="0"/>
                <a:ea typeface="Calibri" pitchFamily="34" charset="-122"/>
                <a:cs typeface="Calibri" pitchFamily="34" charset="-120"/>
              </a:rPr>
              <a:t>How Employees Explore Experiences</a:t>
            </a:r>
            <a:endParaRPr lang="en-US" sz="2600" dirty="0"/>
          </a:p>
        </p:txBody>
      </p:sp>
      <p:sp>
        <p:nvSpPr>
          <p:cNvPr id="4" name="Text 1"/>
          <p:cNvSpPr/>
          <p:nvPr/>
        </p:nvSpPr>
        <p:spPr>
          <a:xfrm>
            <a:off x="457200" y="866694"/>
            <a:ext cx="8229600" cy="457200"/>
          </a:xfrm>
          <a:prstGeom prst="rect">
            <a:avLst/>
          </a:prstGeom>
          <a:noFill/>
          <a:ln/>
        </p:spPr>
        <p:txBody>
          <a:bodyPr wrap="square" rtlCol="0" anchor="ctr"/>
          <a:lstStyle/>
          <a:p>
            <a:pPr marL="0" indent="0">
              <a:buNone/>
            </a:pPr>
            <a:r>
              <a:rPr lang="en-US" sz="1300" i="1" dirty="0">
                <a:solidFill>
                  <a:srgbClr val="1F2937"/>
                </a:solidFill>
                <a:latin typeface="Calibri" pitchFamily="34" charset="0"/>
                <a:ea typeface="Calibri" pitchFamily="34" charset="-122"/>
                <a:cs typeface="Calibri" pitchFamily="34" charset="-120"/>
              </a:rPr>
              <a:t>When facing a problem, employees click "See What Others Did" and explore in two ways:</a:t>
            </a:r>
            <a:endParaRPr lang="en-US" sz="1300" dirty="0"/>
          </a:p>
        </p:txBody>
      </p:sp>
      <p:sp>
        <p:nvSpPr>
          <p:cNvPr id="5" name="Shape 2"/>
          <p:cNvSpPr/>
          <p:nvPr/>
        </p:nvSpPr>
        <p:spPr>
          <a:xfrm>
            <a:off x="365760" y="2015255"/>
            <a:ext cx="3931920" cy="2510028"/>
          </a:xfrm>
          <a:prstGeom prst="rect">
            <a:avLst/>
          </a:prstGeom>
          <a:solidFill>
            <a:srgbClr val="FFFFFF"/>
          </a:solidFill>
          <a:ln w="12700">
            <a:solidFill>
              <a:srgbClr val="E9D5FF"/>
            </a:solidFill>
            <a:prstDash val="solid"/>
          </a:ln>
          <a:effectLst>
            <a:outerShdw blurRad="101600" dist="38100" dir="8100000" algn="bl" rotWithShape="0">
              <a:srgbClr val="000000">
                <a:alpha val="12000"/>
              </a:srgbClr>
            </a:outerShdw>
          </a:effectLst>
        </p:spPr>
        <p:txBody>
          <a:bodyPr/>
          <a:lstStyle/>
          <a:p>
            <a:endParaRPr lang="en-US"/>
          </a:p>
        </p:txBody>
      </p:sp>
      <p:sp>
        <p:nvSpPr>
          <p:cNvPr id="6" name="Shape 3"/>
          <p:cNvSpPr/>
          <p:nvPr/>
        </p:nvSpPr>
        <p:spPr>
          <a:xfrm>
            <a:off x="365760" y="2015255"/>
            <a:ext cx="3931920" cy="548640"/>
          </a:xfrm>
          <a:prstGeom prst="rect">
            <a:avLst/>
          </a:prstGeom>
          <a:solidFill>
            <a:srgbClr val="9333EA"/>
          </a:solidFill>
          <a:ln w="12700">
            <a:solidFill>
              <a:srgbClr val="9333EA"/>
            </a:solidFill>
            <a:prstDash val="solid"/>
          </a:ln>
        </p:spPr>
        <p:txBody>
          <a:bodyPr/>
          <a:lstStyle/>
          <a:p>
            <a:endParaRPr lang="en-US"/>
          </a:p>
        </p:txBody>
      </p:sp>
      <p:sp>
        <p:nvSpPr>
          <p:cNvPr id="7" name="Text 4"/>
          <p:cNvSpPr/>
          <p:nvPr/>
        </p:nvSpPr>
        <p:spPr>
          <a:xfrm>
            <a:off x="502920" y="2042687"/>
            <a:ext cx="3657600" cy="5029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1️⃣  Individual Experiences</a:t>
            </a:r>
            <a:endParaRPr lang="en-US" sz="1400" dirty="0"/>
          </a:p>
        </p:txBody>
      </p:sp>
      <p:sp>
        <p:nvSpPr>
          <p:cNvPr id="8" name="Text 5"/>
          <p:cNvSpPr/>
          <p:nvPr/>
        </p:nvSpPr>
        <p:spPr>
          <a:xfrm>
            <a:off x="548640" y="2476433"/>
            <a:ext cx="3566160" cy="2148840"/>
          </a:xfrm>
          <a:prstGeom prst="rect">
            <a:avLst/>
          </a:prstGeom>
          <a:noFill/>
          <a:ln/>
        </p:spPr>
        <p:txBody>
          <a:bodyPr wrap="square" rtlCol="0" anchor="ctr"/>
          <a:lstStyle/>
          <a:p>
            <a:pPr marL="0" indent="0">
              <a:buNone/>
            </a:pPr>
            <a:r>
              <a:rPr lang="en-US" sz="1300" dirty="0">
                <a:solidFill>
                  <a:srgbClr val="1F2937"/>
                </a:solidFill>
                <a:latin typeface="Calibri" pitchFamily="34" charset="0"/>
                <a:ea typeface="Calibri" pitchFamily="34" charset="-122"/>
                <a:cs typeface="Calibri" pitchFamily="34" charset="-120"/>
              </a:rPr>
              <a:t>Employees can review detailed experiences shared by colleagues:</a:t>
            </a:r>
            <a:endParaRPr lang="en-US" sz="1300" dirty="0"/>
          </a:p>
          <a:p>
            <a:pPr marL="0" indent="0">
              <a:buNone/>
            </a:pPr>
            <a:endParaRPr lang="en-US" sz="1300" dirty="0"/>
          </a:p>
          <a:p>
            <a:pPr marL="0" indent="0">
              <a:buNone/>
            </a:pPr>
            <a:r>
              <a:rPr lang="en-US" sz="1300" dirty="0">
                <a:solidFill>
                  <a:srgbClr val="1F2937"/>
                </a:solidFill>
                <a:latin typeface="Calibri" pitchFamily="34" charset="0"/>
                <a:ea typeface="Calibri" pitchFamily="34" charset="-122"/>
                <a:cs typeface="Calibri" pitchFamily="34" charset="-120"/>
              </a:rPr>
              <a:t>Problem → Action → Result</a:t>
            </a:r>
            <a:endParaRPr lang="en-US" sz="1300" dirty="0"/>
          </a:p>
          <a:p>
            <a:pPr marL="0" indent="0">
              <a:buNone/>
            </a:pPr>
            <a:endParaRPr lang="en-US" sz="1300" dirty="0"/>
          </a:p>
          <a:p>
            <a:pPr marL="0" indent="0">
              <a:buNone/>
            </a:pPr>
            <a:r>
              <a:rPr lang="en-US" sz="1300" dirty="0">
                <a:solidFill>
                  <a:srgbClr val="1F2937"/>
                </a:solidFill>
                <a:latin typeface="Calibri" pitchFamily="34" charset="0"/>
                <a:ea typeface="Calibri" pitchFamily="34" charset="-122"/>
                <a:cs typeface="Calibri" pitchFamily="34" charset="-120"/>
              </a:rPr>
              <a:t>Providing real examples of how others handled similar situations.</a:t>
            </a:r>
            <a:endParaRPr lang="en-US" sz="1300" dirty="0"/>
          </a:p>
        </p:txBody>
      </p:sp>
      <p:sp>
        <p:nvSpPr>
          <p:cNvPr id="9" name="Shape 6"/>
          <p:cNvSpPr/>
          <p:nvPr/>
        </p:nvSpPr>
        <p:spPr>
          <a:xfrm>
            <a:off x="4846320" y="2015255"/>
            <a:ext cx="3931920" cy="2510028"/>
          </a:xfrm>
          <a:prstGeom prst="rect">
            <a:avLst/>
          </a:prstGeom>
          <a:solidFill>
            <a:srgbClr val="FFFFFF"/>
          </a:solidFill>
          <a:ln w="12700">
            <a:solidFill>
              <a:srgbClr val="E9D5FF"/>
            </a:solidFill>
            <a:prstDash val="solid"/>
          </a:ln>
          <a:effectLst>
            <a:outerShdw blurRad="101600" dist="38100" dir="8100000" algn="bl" rotWithShape="0">
              <a:srgbClr val="000000">
                <a:alpha val="12000"/>
              </a:srgbClr>
            </a:outerShdw>
          </a:effectLst>
        </p:spPr>
        <p:txBody>
          <a:bodyPr/>
          <a:lstStyle/>
          <a:p>
            <a:endParaRPr lang="en-US"/>
          </a:p>
        </p:txBody>
      </p:sp>
      <p:sp>
        <p:nvSpPr>
          <p:cNvPr id="10" name="Shape 7"/>
          <p:cNvSpPr/>
          <p:nvPr/>
        </p:nvSpPr>
        <p:spPr>
          <a:xfrm>
            <a:off x="4846320" y="2015255"/>
            <a:ext cx="3931920" cy="548640"/>
          </a:xfrm>
          <a:prstGeom prst="rect">
            <a:avLst/>
          </a:prstGeom>
          <a:solidFill>
            <a:srgbClr val="2563EB"/>
          </a:solidFill>
          <a:ln w="12700">
            <a:solidFill>
              <a:srgbClr val="2563EB"/>
            </a:solidFill>
            <a:prstDash val="solid"/>
          </a:ln>
        </p:spPr>
        <p:txBody>
          <a:bodyPr/>
          <a:lstStyle/>
          <a:p>
            <a:endParaRPr lang="en-US"/>
          </a:p>
        </p:txBody>
      </p:sp>
      <p:sp>
        <p:nvSpPr>
          <p:cNvPr id="11" name="Text 8"/>
          <p:cNvSpPr/>
          <p:nvPr/>
        </p:nvSpPr>
        <p:spPr>
          <a:xfrm>
            <a:off x="4983480" y="2042687"/>
            <a:ext cx="3657600" cy="5029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2️⃣  Key Insights – Common Cases</a:t>
            </a:r>
            <a:endParaRPr lang="en-US" sz="1400" dirty="0"/>
          </a:p>
        </p:txBody>
      </p:sp>
      <p:sp>
        <p:nvSpPr>
          <p:cNvPr id="12" name="Text 9"/>
          <p:cNvSpPr/>
          <p:nvPr/>
        </p:nvSpPr>
        <p:spPr>
          <a:xfrm>
            <a:off x="4983480" y="2476433"/>
            <a:ext cx="3566160" cy="2148840"/>
          </a:xfrm>
          <a:prstGeom prst="rect">
            <a:avLst/>
          </a:prstGeom>
          <a:noFill/>
          <a:ln/>
        </p:spPr>
        <p:txBody>
          <a:bodyPr wrap="square" rtlCol="0" anchor="ctr"/>
          <a:lstStyle/>
          <a:p>
            <a:pPr marL="0" indent="0">
              <a:buNone/>
            </a:pPr>
            <a:r>
              <a:rPr lang="en-US" sz="1300" dirty="0">
                <a:solidFill>
                  <a:srgbClr val="1F2937"/>
                </a:solidFill>
                <a:latin typeface="Calibri" pitchFamily="34" charset="0"/>
                <a:ea typeface="Calibri" pitchFamily="34" charset="-122"/>
                <a:cs typeface="Calibri" pitchFamily="34" charset="-120"/>
              </a:rPr>
              <a:t>Highlights the most frequently shared experiences across the organization.</a:t>
            </a:r>
            <a:endParaRPr lang="en-US" sz="1300" dirty="0"/>
          </a:p>
          <a:p>
            <a:pPr marL="0" indent="0">
              <a:buNone/>
            </a:pPr>
            <a:endParaRPr lang="en-US" sz="1300" dirty="0"/>
          </a:p>
          <a:p>
            <a:pPr marL="0" indent="0">
              <a:buNone/>
            </a:pPr>
            <a:r>
              <a:rPr lang="en-US" sz="1300" dirty="0">
                <a:solidFill>
                  <a:srgbClr val="1F2937"/>
                </a:solidFill>
                <a:latin typeface="Calibri" pitchFamily="34" charset="0"/>
                <a:ea typeface="Calibri" pitchFamily="34" charset="-122"/>
                <a:cs typeface="Calibri" pitchFamily="34" charset="-120"/>
              </a:rPr>
              <a:t>Summarizes patterns observed across multiple individual experiences.</a:t>
            </a:r>
            <a:endParaRPr lang="en-US" sz="1300" dirty="0"/>
          </a:p>
        </p:txBody>
      </p:sp>
      <p:sp>
        <p:nvSpPr>
          <p:cNvPr id="13" name="Shape 10"/>
          <p:cNvSpPr/>
          <p:nvPr/>
        </p:nvSpPr>
        <p:spPr>
          <a:xfrm>
            <a:off x="0" y="4709160"/>
            <a:ext cx="9144000" cy="434340"/>
          </a:xfrm>
          <a:prstGeom prst="rect">
            <a:avLst/>
          </a:prstGeom>
          <a:solidFill>
            <a:srgbClr val="1E2E5C"/>
          </a:solidFill>
          <a:ln w="12700">
            <a:solidFill>
              <a:srgbClr val="1E2E5C"/>
            </a:solidFill>
            <a:prstDash val="solid"/>
          </a:ln>
        </p:spPr>
        <p:txBody>
          <a:bodyPr/>
          <a:lstStyle/>
          <a:p>
            <a:endParaRPr lang="en-US"/>
          </a:p>
        </p:txBody>
      </p:sp>
      <p:sp>
        <p:nvSpPr>
          <p:cNvPr id="14" name="Text 11"/>
          <p:cNvSpPr/>
          <p:nvPr/>
        </p:nvSpPr>
        <p:spPr>
          <a:xfrm>
            <a:off x="365760" y="4745736"/>
            <a:ext cx="8412480" cy="347472"/>
          </a:xfrm>
          <a:prstGeom prst="rect">
            <a:avLst/>
          </a:prstGeom>
          <a:noFill/>
          <a:ln/>
        </p:spPr>
        <p:txBody>
          <a:bodyPr wrap="square" lIns="0" tIns="0" rIns="0" bIns="0" rtlCol="0" anchor="ctr"/>
          <a:lstStyle/>
          <a:p>
            <a:pPr indent="0" algn="ctr">
              <a:buNone/>
            </a:pPr>
            <a:r>
              <a:rPr lang="en-US" sz="1200" b="1" dirty="0">
                <a:solidFill>
                  <a:srgbClr val="D97706"/>
                </a:solidFill>
                <a:latin typeface="Calibri" pitchFamily="34" charset="0"/>
                <a:cs typeface="Calibri" pitchFamily="34" charset="-120"/>
              </a:rPr>
              <a:t>Two views. One goal: learn faster from real operational experience.</a:t>
            </a:r>
          </a:p>
        </p:txBody>
      </p:sp>
      <p:sp>
        <p:nvSpPr>
          <p:cNvPr id="15" name="Text 5">
            <a:extLst>
              <a:ext uri="{FF2B5EF4-FFF2-40B4-BE49-F238E27FC236}">
                <a16:creationId xmlns:a16="http://schemas.microsoft.com/office/drawing/2014/main" id="{A3E12CCE-6424-7FA0-66F5-0BEF096BFFC6}"/>
              </a:ext>
            </a:extLst>
          </p:cNvPr>
          <p:cNvSpPr/>
          <p:nvPr/>
        </p:nvSpPr>
        <p:spPr>
          <a:xfrm>
            <a:off x="2331720" y="1358480"/>
            <a:ext cx="4572000" cy="402337"/>
          </a:xfrm>
          <a:prstGeom prst="rect">
            <a:avLst/>
          </a:prstGeom>
          <a:solidFill>
            <a:srgbClr val="D97706"/>
          </a:solidFill>
          <a:ln w="12700">
            <a:solidFill>
              <a:srgbClr val="D97706"/>
            </a:solidFill>
            <a:prstDash val="solid"/>
          </a:ln>
        </p:spPr>
        <p:txBody>
          <a:bodyPr anchor="ctr" anchorCtr="0"/>
          <a:lstStyle/>
          <a:p>
            <a:pPr algn="ctr"/>
            <a:r>
              <a:rPr lang="en-US" b="1" dirty="0">
                <a:solidFill>
                  <a:schemeClr val="bg1"/>
                </a:solidFill>
              </a:rPr>
              <a:t>”See What Others Did"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3EEFF"/>
        </a:solidFill>
        <a:effectLst/>
      </p:bgPr>
    </p:bg>
    <p:spTree>
      <p:nvGrpSpPr>
        <p:cNvPr id="1" name="">
          <a:extLst>
            <a:ext uri="{FF2B5EF4-FFF2-40B4-BE49-F238E27FC236}">
              <a16:creationId xmlns:a16="http://schemas.microsoft.com/office/drawing/2014/main" id="{068BB818-E0EA-5F4C-652C-CFDD2081EED2}"/>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47E5D6ED-C25F-8A95-99ED-002F06D4E99A}"/>
              </a:ext>
            </a:extLst>
          </p:cNvPr>
          <p:cNvPicPr>
            <a:picLocks noChangeAspect="1"/>
          </p:cNvPicPr>
          <p:nvPr/>
        </p:nvPicPr>
        <p:blipFill>
          <a:blip r:embed="rId3"/>
          <a:stretch>
            <a:fillRect/>
          </a:stretch>
        </p:blipFill>
        <p:spPr>
          <a:xfrm>
            <a:off x="0" y="0"/>
            <a:ext cx="9144000" cy="914400"/>
          </a:xfrm>
          <a:prstGeom prst="rect">
            <a:avLst/>
          </a:prstGeom>
        </p:spPr>
      </p:pic>
      <p:sp>
        <p:nvSpPr>
          <p:cNvPr id="3" name="Text 0">
            <a:extLst>
              <a:ext uri="{FF2B5EF4-FFF2-40B4-BE49-F238E27FC236}">
                <a16:creationId xmlns:a16="http://schemas.microsoft.com/office/drawing/2014/main" id="{E5689EE1-B2E5-E355-60BA-641FA1FE841A}"/>
              </a:ext>
            </a:extLst>
          </p:cNvPr>
          <p:cNvSpPr/>
          <p:nvPr/>
        </p:nvSpPr>
        <p:spPr>
          <a:xfrm>
            <a:off x="457200" y="109728"/>
            <a:ext cx="7772400" cy="8046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Individual Experiences</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1">
            <a:extLst>
              <a:ext uri="{FF2B5EF4-FFF2-40B4-BE49-F238E27FC236}">
                <a16:creationId xmlns:a16="http://schemas.microsoft.com/office/drawing/2014/main" id="{76C64CFC-AD96-3CC4-9428-60D52E4C751D}"/>
              </a:ext>
            </a:extLst>
          </p:cNvPr>
          <p:cNvSpPr/>
          <p:nvPr/>
        </p:nvSpPr>
        <p:spPr>
          <a:xfrm>
            <a:off x="365759" y="1051559"/>
            <a:ext cx="2697479" cy="2526527"/>
          </a:xfrm>
          <a:prstGeom prst="rect">
            <a:avLst/>
          </a:prstGeom>
          <a:solidFill>
            <a:srgbClr val="FFFFFF"/>
          </a:solidFill>
          <a:ln w="12700">
            <a:solidFill>
              <a:srgbClr val="E9D5FF"/>
            </a:solidFill>
            <a:prstDash val="solid"/>
          </a:ln>
          <a:effectLst>
            <a:outerShdw blurRad="101600" dist="381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2">
            <a:extLst>
              <a:ext uri="{FF2B5EF4-FFF2-40B4-BE49-F238E27FC236}">
                <a16:creationId xmlns:a16="http://schemas.microsoft.com/office/drawing/2014/main" id="{F8C13917-D38E-7312-B7D3-B7167F238D14}"/>
              </a:ext>
            </a:extLst>
          </p:cNvPr>
          <p:cNvSpPr/>
          <p:nvPr/>
        </p:nvSpPr>
        <p:spPr>
          <a:xfrm>
            <a:off x="365760" y="1051559"/>
            <a:ext cx="91440" cy="2526527"/>
          </a:xfrm>
          <a:prstGeom prst="rect">
            <a:avLst/>
          </a:prstGeom>
          <a:solidFill>
            <a:srgbClr val="9333EA"/>
          </a:solidFill>
          <a:ln w="12700">
            <a:solidFill>
              <a:srgbClr val="9333E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3">
            <a:extLst>
              <a:ext uri="{FF2B5EF4-FFF2-40B4-BE49-F238E27FC236}">
                <a16:creationId xmlns:a16="http://schemas.microsoft.com/office/drawing/2014/main" id="{9C5A1A04-B3FF-CF6E-6BBC-FD64A5F4ED24}"/>
              </a:ext>
            </a:extLst>
          </p:cNvPr>
          <p:cNvSpPr/>
          <p:nvPr/>
        </p:nvSpPr>
        <p:spPr>
          <a:xfrm>
            <a:off x="566928" y="1133457"/>
            <a:ext cx="1874520" cy="34747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9333EA"/>
                </a:solidFill>
                <a:effectLst/>
                <a:uLnTx/>
                <a:uFillTx/>
                <a:latin typeface="Calibri" pitchFamily="34" charset="0"/>
                <a:ea typeface="Calibri" pitchFamily="34" charset="-122"/>
                <a:cs typeface="Calibri" pitchFamily="34" charset="-120"/>
              </a:rPr>
              <a:t>In each experience, employees can review:</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4">
            <a:extLst>
              <a:ext uri="{FF2B5EF4-FFF2-40B4-BE49-F238E27FC236}">
                <a16:creationId xmlns:a16="http://schemas.microsoft.com/office/drawing/2014/main" id="{F5958230-7D5F-3F45-84CA-2206565ED0FE}"/>
              </a:ext>
            </a:extLst>
          </p:cNvPr>
          <p:cNvSpPr/>
          <p:nvPr/>
        </p:nvSpPr>
        <p:spPr>
          <a:xfrm>
            <a:off x="594359" y="1768094"/>
            <a:ext cx="2302535" cy="1645920"/>
          </a:xfrm>
          <a:prstGeom prst="rect">
            <a:avLst/>
          </a:prstGeom>
          <a:noFill/>
          <a:ln/>
        </p:spPr>
        <p:txBody>
          <a:bodyPr wrap="square" rtlCol="0" anchor="ctr"/>
          <a:lstStyle/>
          <a:p>
            <a:pPr marR="0" lvl="0" algn="l" defTabSz="914400" rtl="0" eaLnBrk="1" fontAlgn="auto" latinLnBrk="0" hangingPunct="1">
              <a:lnSpc>
                <a:spcPct val="100000"/>
              </a:lnSpc>
              <a:spcBef>
                <a:spcPts val="0"/>
              </a:spcBef>
              <a:spcAft>
                <a:spcPts val="0"/>
              </a:spcAft>
              <a:buClrTx/>
              <a:buSzPct val="100000"/>
              <a:tabLst/>
              <a:defRPr/>
            </a:pPr>
            <a:r>
              <a:rPr kumimoji="0" lang="en-US" sz="1300" b="0" i="0" u="none" strike="noStrike" kern="1200" cap="none" spc="0" normalizeH="0" baseline="0" noProof="0" dirty="0">
                <a:ln>
                  <a:noFill/>
                </a:ln>
                <a:solidFill>
                  <a:srgbClr val="1F2937"/>
                </a:solidFill>
                <a:effectLst/>
                <a:uLnTx/>
                <a:uFillTx/>
                <a:latin typeface="Calibri" pitchFamily="34" charset="0"/>
                <a:ea typeface="Calibri" pitchFamily="34" charset="-122"/>
                <a:cs typeface="Calibri" pitchFamily="34" charset="-120"/>
              </a:rPr>
              <a:t>The problem faced by other employees</a:t>
            </a:r>
          </a:p>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R="0" lvl="0" algn="l" defTabSz="914400" rtl="0" eaLnBrk="1" fontAlgn="auto" latinLnBrk="0" hangingPunct="1">
              <a:lnSpc>
                <a:spcPct val="100000"/>
              </a:lnSpc>
              <a:spcBef>
                <a:spcPts val="0"/>
              </a:spcBef>
              <a:spcAft>
                <a:spcPts val="0"/>
              </a:spcAft>
              <a:buClrTx/>
              <a:buSzPct val="100000"/>
              <a:tabLst/>
              <a:defRPr/>
            </a:pPr>
            <a:r>
              <a:rPr kumimoji="0" lang="en-US" sz="1300" b="0" i="0" u="none" strike="noStrike" kern="1200" cap="none" spc="0" normalizeH="0" baseline="0" noProof="0" dirty="0">
                <a:ln>
                  <a:noFill/>
                </a:ln>
                <a:solidFill>
                  <a:srgbClr val="1F2937"/>
                </a:solidFill>
                <a:effectLst/>
                <a:uLnTx/>
                <a:uFillTx/>
                <a:latin typeface="Calibri" pitchFamily="34" charset="0"/>
                <a:ea typeface="Calibri" pitchFamily="34" charset="-122"/>
                <a:cs typeface="Calibri" pitchFamily="34" charset="-120"/>
              </a:rPr>
              <a:t>The action taken</a:t>
            </a:r>
          </a:p>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R="0" lvl="0" algn="l" defTabSz="914400" rtl="0" eaLnBrk="1" fontAlgn="auto" latinLnBrk="0" hangingPunct="1">
              <a:lnSpc>
                <a:spcPct val="100000"/>
              </a:lnSpc>
              <a:spcBef>
                <a:spcPts val="0"/>
              </a:spcBef>
              <a:spcAft>
                <a:spcPts val="0"/>
              </a:spcAft>
              <a:buClrTx/>
              <a:buSzPct val="100000"/>
              <a:tabLst/>
              <a:defRPr/>
            </a:pPr>
            <a:r>
              <a:rPr kumimoji="0" lang="en-US" sz="1300" b="0" i="0" u="none" strike="noStrike" kern="1200" cap="none" spc="0" normalizeH="0" baseline="0" noProof="0" dirty="0">
                <a:ln>
                  <a:noFill/>
                </a:ln>
                <a:solidFill>
                  <a:srgbClr val="1F2937"/>
                </a:solidFill>
                <a:effectLst/>
                <a:uLnTx/>
                <a:uFillTx/>
                <a:latin typeface="Calibri" pitchFamily="34" charset="0"/>
                <a:ea typeface="Calibri" pitchFamily="34" charset="-122"/>
                <a:cs typeface="Calibri" pitchFamily="34" charset="-120"/>
              </a:rPr>
              <a:t>The outcome achieved</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5">
            <a:extLst>
              <a:ext uri="{FF2B5EF4-FFF2-40B4-BE49-F238E27FC236}">
                <a16:creationId xmlns:a16="http://schemas.microsoft.com/office/drawing/2014/main" id="{FFA338AB-6269-3C70-8E72-6BAC0616AB2D}"/>
              </a:ext>
            </a:extLst>
          </p:cNvPr>
          <p:cNvSpPr/>
          <p:nvPr/>
        </p:nvSpPr>
        <p:spPr>
          <a:xfrm>
            <a:off x="6126479" y="1051559"/>
            <a:ext cx="2701455" cy="2526527"/>
          </a:xfrm>
          <a:prstGeom prst="rect">
            <a:avLst/>
          </a:prstGeom>
          <a:solidFill>
            <a:srgbClr val="6B21A8"/>
          </a:solidFill>
          <a:ln w="12700">
            <a:solidFill>
              <a:srgbClr val="6B21A8"/>
            </a:solidFill>
            <a:prstDash val="solid"/>
          </a:ln>
          <a:effectLst>
            <a:outerShdw blurRad="101600" dist="381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6">
            <a:extLst>
              <a:ext uri="{FF2B5EF4-FFF2-40B4-BE49-F238E27FC236}">
                <a16:creationId xmlns:a16="http://schemas.microsoft.com/office/drawing/2014/main" id="{26BC0EA4-15B6-0060-0CC1-9E782521D0A6}"/>
              </a:ext>
            </a:extLst>
          </p:cNvPr>
          <p:cNvSpPr/>
          <p:nvPr/>
        </p:nvSpPr>
        <p:spPr>
          <a:xfrm>
            <a:off x="6175638" y="1133457"/>
            <a:ext cx="2468882" cy="34747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D97706"/>
                </a:solidFill>
                <a:effectLst/>
                <a:uLnTx/>
                <a:uFillTx/>
                <a:latin typeface="Calibri" pitchFamily="34" charset="0"/>
                <a:ea typeface="Calibri" pitchFamily="34" charset="-122"/>
                <a:cs typeface="Calibri" pitchFamily="34" charset="-120"/>
              </a:rPr>
              <a:t>Employees can also:</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7">
            <a:extLst>
              <a:ext uri="{FF2B5EF4-FFF2-40B4-BE49-F238E27FC236}">
                <a16:creationId xmlns:a16="http://schemas.microsoft.com/office/drawing/2014/main" id="{C29852BC-94AE-FB96-E2C9-373CB861B25D}"/>
              </a:ext>
            </a:extLst>
          </p:cNvPr>
          <p:cNvSpPr/>
          <p:nvPr/>
        </p:nvSpPr>
        <p:spPr>
          <a:xfrm>
            <a:off x="5853614" y="1768094"/>
            <a:ext cx="2973786" cy="1645920"/>
          </a:xfrm>
          <a:prstGeom prst="rect">
            <a:avLst/>
          </a:prstGeom>
          <a:noFill/>
          <a:ln/>
        </p:spPr>
        <p:txBody>
          <a:bodyPr wrap="square" rtlCol="0" anchor="ctr"/>
          <a:lstStyle/>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kumimoji="0" lang="en-US" sz="13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Rate experiences</a:t>
            </a:r>
          </a:p>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kumimoji="0" lang="en-US" sz="13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Add comments </a:t>
            </a:r>
            <a:r>
              <a:rPr kumimoji="0" lang="en-US" sz="1300" b="0" i="0" u="none" strike="noStrike" kern="1200" cap="none" spc="0" normalizeH="0" baseline="0" noProof="0" dirty="0">
                <a:ln>
                  <a:noFill/>
                </a:ln>
                <a:solidFill>
                  <a:srgbClr val="FFFFFF"/>
                </a:solidFill>
                <a:effectLst/>
                <a:uLnTx/>
                <a:uFillTx/>
                <a:latin typeface="Calibri" pitchFamily="34" charset="0"/>
                <a:ea typeface="+mn-ea"/>
                <a:cs typeface="Calibri" pitchFamily="34" charset="-120"/>
              </a:rPr>
              <a:t>(enrich the content with additional perspectives)</a:t>
            </a:r>
          </a:p>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kumimoji="0" lang="en-US" sz="13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Attach supporting files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32" name="Group 31">
            <a:extLst>
              <a:ext uri="{FF2B5EF4-FFF2-40B4-BE49-F238E27FC236}">
                <a16:creationId xmlns:a16="http://schemas.microsoft.com/office/drawing/2014/main" id="{06A85FBF-F079-D9A2-D32C-3C55C2712EF6}"/>
              </a:ext>
            </a:extLst>
          </p:cNvPr>
          <p:cNvGrpSpPr/>
          <p:nvPr/>
        </p:nvGrpSpPr>
        <p:grpSpPr>
          <a:xfrm>
            <a:off x="365760" y="3776472"/>
            <a:ext cx="8412480" cy="658368"/>
            <a:chOff x="365760" y="3474720"/>
            <a:chExt cx="8412480" cy="960120"/>
          </a:xfrm>
        </p:grpSpPr>
        <p:sp>
          <p:nvSpPr>
            <p:cNvPr id="11" name="Shape 8">
              <a:extLst>
                <a:ext uri="{FF2B5EF4-FFF2-40B4-BE49-F238E27FC236}">
                  <a16:creationId xmlns:a16="http://schemas.microsoft.com/office/drawing/2014/main" id="{4AA37597-AACF-56EE-20C8-9A9B401C31F3}"/>
                </a:ext>
              </a:extLst>
            </p:cNvPr>
            <p:cNvSpPr/>
            <p:nvPr/>
          </p:nvSpPr>
          <p:spPr>
            <a:xfrm>
              <a:off x="365760" y="3474720"/>
              <a:ext cx="8412480" cy="960120"/>
            </a:xfrm>
            <a:prstGeom prst="rect">
              <a:avLst/>
            </a:prstGeom>
            <a:solidFill>
              <a:srgbClr val="FFFFFF"/>
            </a:solidFill>
            <a:ln w="12700">
              <a:solidFill>
                <a:srgbClr val="E9D5FF"/>
              </a:solidFill>
              <a:prstDash val="solid"/>
            </a:ln>
            <a:effectLst>
              <a:outerShdw blurRad="101600" dist="381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9">
              <a:extLst>
                <a:ext uri="{FF2B5EF4-FFF2-40B4-BE49-F238E27FC236}">
                  <a16:creationId xmlns:a16="http://schemas.microsoft.com/office/drawing/2014/main" id="{E16FD558-5E61-82C3-4463-A113B4A32F4C}"/>
                </a:ext>
              </a:extLst>
            </p:cNvPr>
            <p:cNvSpPr/>
            <p:nvPr/>
          </p:nvSpPr>
          <p:spPr>
            <a:xfrm>
              <a:off x="365760" y="3474720"/>
              <a:ext cx="91440" cy="960120"/>
            </a:xfrm>
            <a:prstGeom prst="rect">
              <a:avLst/>
            </a:prstGeom>
            <a:solidFill>
              <a:srgbClr val="D97706"/>
            </a:solidFill>
            <a:ln w="12700">
              <a:solidFill>
                <a:srgbClr val="D9770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10">
              <a:extLst>
                <a:ext uri="{FF2B5EF4-FFF2-40B4-BE49-F238E27FC236}">
                  <a16:creationId xmlns:a16="http://schemas.microsoft.com/office/drawing/2014/main" id="{63B7A245-9484-8884-CAFB-3BE37BF666E3}"/>
                </a:ext>
              </a:extLst>
            </p:cNvPr>
            <p:cNvSpPr/>
            <p:nvPr/>
          </p:nvSpPr>
          <p:spPr>
            <a:xfrm>
              <a:off x="566928" y="3547872"/>
              <a:ext cx="8046720" cy="80467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1F2937"/>
                  </a:solidFill>
                  <a:effectLst/>
                  <a:uLnTx/>
                  <a:uFillTx/>
                  <a:latin typeface="Calibri" pitchFamily="34" charset="0"/>
                  <a:ea typeface="Calibri" pitchFamily="34" charset="-122"/>
                  <a:cs typeface="Calibri" pitchFamily="34" charset="-120"/>
                </a:rPr>
                <a:t>Each experience represents a real operational situation shared by someone in the organization — helping enrich the collective knowledge base.</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14" name="Shape 11">
            <a:extLst>
              <a:ext uri="{FF2B5EF4-FFF2-40B4-BE49-F238E27FC236}">
                <a16:creationId xmlns:a16="http://schemas.microsoft.com/office/drawing/2014/main" id="{4EB51E4D-7B0C-6A18-2133-DCD5921DD3B4}"/>
              </a:ext>
            </a:extLst>
          </p:cNvPr>
          <p:cNvSpPr/>
          <p:nvPr/>
        </p:nvSpPr>
        <p:spPr>
          <a:xfrm>
            <a:off x="0" y="4709160"/>
            <a:ext cx="9144000" cy="434340"/>
          </a:xfrm>
          <a:prstGeom prst="rect">
            <a:avLst/>
          </a:prstGeom>
          <a:solidFill>
            <a:srgbClr val="D97706"/>
          </a:solidFill>
          <a:ln w="12700">
            <a:solidFill>
              <a:srgbClr val="D9770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2">
            <a:extLst>
              <a:ext uri="{FF2B5EF4-FFF2-40B4-BE49-F238E27FC236}">
                <a16:creationId xmlns:a16="http://schemas.microsoft.com/office/drawing/2014/main" id="{67243807-181A-FD8E-B67A-3A6B41F294E6}"/>
              </a:ext>
            </a:extLst>
          </p:cNvPr>
          <p:cNvSpPr/>
          <p:nvPr/>
        </p:nvSpPr>
        <p:spPr>
          <a:xfrm>
            <a:off x="365760" y="4745736"/>
            <a:ext cx="8412480"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Real experiences. Real people. Real learning.</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8">
            <a:extLst>
              <a:ext uri="{FF2B5EF4-FFF2-40B4-BE49-F238E27FC236}">
                <a16:creationId xmlns:a16="http://schemas.microsoft.com/office/drawing/2014/main" id="{0F751421-C50C-73A5-4FC0-5870CDEF5F2E}"/>
              </a:ext>
            </a:extLst>
          </p:cNvPr>
          <p:cNvSpPr/>
          <p:nvPr/>
        </p:nvSpPr>
        <p:spPr>
          <a:xfrm>
            <a:off x="3242146" y="1051559"/>
            <a:ext cx="2697480" cy="2526527"/>
          </a:xfrm>
          <a:prstGeom prst="rect">
            <a:avLst/>
          </a:prstGeom>
          <a:solidFill>
            <a:srgbClr val="FFFFFF"/>
          </a:solidFill>
          <a:ln w="12700">
            <a:solidFill>
              <a:srgbClr val="E9D5FF"/>
            </a:solidFill>
            <a:prstDash val="solid"/>
          </a:ln>
          <a:effectLst>
            <a:outerShdw blurRad="101600" dist="38100" dir="8100000" algn="bl" rotWithShape="0">
              <a:srgbClr val="000000">
                <a:alpha val="12000"/>
              </a:srgbClr>
            </a:outerShdw>
          </a:effectLst>
        </p:spPr>
        <p:txBody>
          <a:bodyPr/>
          <a:lstStyle/>
          <a:p>
            <a:endParaRPr lang="en-US"/>
          </a:p>
        </p:txBody>
      </p:sp>
      <p:sp>
        <p:nvSpPr>
          <p:cNvPr id="19" name="Shape 9">
            <a:extLst>
              <a:ext uri="{FF2B5EF4-FFF2-40B4-BE49-F238E27FC236}">
                <a16:creationId xmlns:a16="http://schemas.microsoft.com/office/drawing/2014/main" id="{944F723B-EAC0-6FD0-B561-E9AA78E712DB}"/>
              </a:ext>
            </a:extLst>
          </p:cNvPr>
          <p:cNvSpPr/>
          <p:nvPr/>
        </p:nvSpPr>
        <p:spPr>
          <a:xfrm>
            <a:off x="3242146" y="1051559"/>
            <a:ext cx="61306" cy="2526527"/>
          </a:xfrm>
          <a:prstGeom prst="rect">
            <a:avLst/>
          </a:prstGeom>
          <a:solidFill>
            <a:srgbClr val="2563EB"/>
          </a:solidFill>
          <a:ln w="12700">
            <a:solidFill>
              <a:srgbClr val="2563EB"/>
            </a:solidFill>
            <a:prstDash val="solid"/>
          </a:ln>
        </p:spPr>
        <p:txBody>
          <a:bodyPr/>
          <a:lstStyle/>
          <a:p>
            <a:endParaRPr lang="en-US"/>
          </a:p>
        </p:txBody>
      </p:sp>
      <p:sp>
        <p:nvSpPr>
          <p:cNvPr id="20" name="Text 10">
            <a:extLst>
              <a:ext uri="{FF2B5EF4-FFF2-40B4-BE49-F238E27FC236}">
                <a16:creationId xmlns:a16="http://schemas.microsoft.com/office/drawing/2014/main" id="{3F753D58-B1DC-D88A-76DB-CC7F6C3AC35E}"/>
              </a:ext>
            </a:extLst>
          </p:cNvPr>
          <p:cNvSpPr/>
          <p:nvPr/>
        </p:nvSpPr>
        <p:spPr>
          <a:xfrm>
            <a:off x="3433583" y="1522139"/>
            <a:ext cx="2525822" cy="2137831"/>
          </a:xfrm>
          <a:prstGeom prst="rect">
            <a:avLst/>
          </a:prstGeom>
          <a:noFill/>
          <a:ln/>
        </p:spPr>
        <p:txBody>
          <a:bodyPr wrap="square" rtlCol="0" anchor="ctr"/>
          <a:lstStyle/>
          <a:p>
            <a:r>
              <a:rPr lang="en-US" sz="1300" dirty="0">
                <a:latin typeface="Calibri" pitchFamily="34" charset="0"/>
                <a:ea typeface="Calibri" pitchFamily="34" charset="-122"/>
                <a:cs typeface="Calibri" pitchFamily="34" charset="-120"/>
              </a:rPr>
              <a:t>Work Categories (</a:t>
            </a:r>
            <a:r>
              <a:rPr lang="en-US" sz="1100" dirty="0">
                <a:latin typeface="Calibri" pitchFamily="34" charset="0"/>
                <a:ea typeface="Calibri" pitchFamily="34" charset="-122"/>
                <a:cs typeface="Calibri" pitchFamily="34" charset="-120"/>
              </a:rPr>
              <a:t>e.g., Operations, Project Management,    Customer Service)</a:t>
            </a:r>
          </a:p>
          <a:p>
            <a:endParaRPr lang="en-US" sz="1200" dirty="0">
              <a:latin typeface="Calibri" pitchFamily="34" charset="0"/>
              <a:cs typeface="Calibri" pitchFamily="34" charset="-120"/>
            </a:endParaRPr>
          </a:p>
          <a:p>
            <a:r>
              <a:rPr lang="en-US" sz="1300" dirty="0">
                <a:latin typeface="Calibri" pitchFamily="34" charset="0"/>
                <a:ea typeface="Calibri" pitchFamily="34" charset="-122"/>
                <a:cs typeface="Calibri" pitchFamily="34" charset="-120"/>
              </a:rPr>
              <a:t>Outcomes (</a:t>
            </a:r>
            <a:r>
              <a:rPr lang="en-US" sz="1100" dirty="0">
                <a:latin typeface="Calibri" pitchFamily="34" charset="0"/>
                <a:ea typeface="Calibri" pitchFamily="34" charset="-122"/>
                <a:cs typeface="Calibri" pitchFamily="34" charset="-120"/>
              </a:rPr>
              <a:t>Worked  •  No Change  •  Got Worse)</a:t>
            </a:r>
          </a:p>
          <a:p>
            <a:endParaRPr lang="en-US" sz="1200" dirty="0">
              <a:latin typeface="Calibri" pitchFamily="34" charset="0"/>
              <a:cs typeface="Calibri" pitchFamily="34" charset="-120"/>
            </a:endParaRPr>
          </a:p>
          <a:p>
            <a:r>
              <a:rPr lang="en-US" sz="1300" dirty="0">
                <a:latin typeface="Calibri" pitchFamily="34" charset="0"/>
                <a:ea typeface="Calibri" pitchFamily="34" charset="-122"/>
                <a:cs typeface="Calibri" pitchFamily="34" charset="-120"/>
              </a:rPr>
              <a:t>Keywords &amp; More (</a:t>
            </a:r>
            <a:r>
              <a:rPr lang="en-US" sz="1100" dirty="0">
                <a:latin typeface="Calibri" pitchFamily="34" charset="0"/>
                <a:ea typeface="Calibri" pitchFamily="34" charset="-122"/>
                <a:cs typeface="Calibri" pitchFamily="34" charset="-120"/>
              </a:rPr>
              <a:t>Search by keyword, rating, demographics, and other criteria)</a:t>
            </a:r>
            <a:endParaRPr lang="en-US" sz="1100" dirty="0"/>
          </a:p>
        </p:txBody>
      </p:sp>
      <p:sp>
        <p:nvSpPr>
          <p:cNvPr id="31" name="Text 1">
            <a:extLst>
              <a:ext uri="{FF2B5EF4-FFF2-40B4-BE49-F238E27FC236}">
                <a16:creationId xmlns:a16="http://schemas.microsoft.com/office/drawing/2014/main" id="{64814F2D-EAA5-94D6-A58F-4C65CAB7E8E7}"/>
              </a:ext>
            </a:extLst>
          </p:cNvPr>
          <p:cNvSpPr/>
          <p:nvPr/>
        </p:nvSpPr>
        <p:spPr>
          <a:xfrm>
            <a:off x="3382108" y="1115169"/>
            <a:ext cx="2587129" cy="384048"/>
          </a:xfrm>
          <a:prstGeom prst="rect">
            <a:avLst/>
          </a:prstGeom>
          <a:noFill/>
          <a:ln/>
        </p:spPr>
        <p:txBody>
          <a:bodyPr wrap="square" rtlCol="0" anchor="ctr"/>
          <a:lstStyle/>
          <a:p>
            <a:r>
              <a:rPr lang="en-US" sz="1200" b="1" dirty="0">
                <a:solidFill>
                  <a:srgbClr val="2563EB"/>
                </a:solidFill>
                <a:latin typeface="Calibri" pitchFamily="34" charset="0"/>
                <a:cs typeface="Calibri" pitchFamily="34" charset="-120"/>
              </a:rPr>
              <a:t>Can filter individual experiences to quickly find relevant cases: </a:t>
            </a:r>
          </a:p>
        </p:txBody>
      </p:sp>
    </p:spTree>
    <p:extLst>
      <p:ext uri="{BB962C8B-B14F-4D97-AF65-F5344CB8AC3E}">
        <p14:creationId xmlns:p14="http://schemas.microsoft.com/office/powerpoint/2010/main" val="18066143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1E2E5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914400"/>
          </a:xfrm>
          <a:prstGeom prst="rect">
            <a:avLst/>
          </a:prstGeom>
        </p:spPr>
      </p:pic>
      <p:sp>
        <p:nvSpPr>
          <p:cNvPr id="3" name="Text 0"/>
          <p:cNvSpPr/>
          <p:nvPr/>
        </p:nvSpPr>
        <p:spPr>
          <a:xfrm>
            <a:off x="457200" y="109728"/>
            <a:ext cx="7772400" cy="804672"/>
          </a:xfrm>
          <a:prstGeom prst="rect">
            <a:avLst/>
          </a:prstGeom>
          <a:noFill/>
          <a:ln/>
        </p:spPr>
        <p:txBody>
          <a:bodyPr wrap="square" lIns="0" tIns="0" rIns="0" bIns="0" rtlCol="0" anchor="ctr"/>
          <a:lstStyle/>
          <a:p>
            <a:pPr marL="0" indent="0" algn="l">
              <a:buNone/>
            </a:pPr>
            <a:r>
              <a:rPr lang="en-US" sz="2600" b="1" dirty="0">
                <a:solidFill>
                  <a:srgbClr val="FFFFFF"/>
                </a:solidFill>
                <a:latin typeface="Calibri" pitchFamily="34" charset="0"/>
                <a:ea typeface="Calibri" pitchFamily="34" charset="-122"/>
                <a:cs typeface="Calibri" pitchFamily="34" charset="-120"/>
              </a:rPr>
              <a:t>Key Insights – </a:t>
            </a:r>
            <a:r>
              <a:rPr lang="en-US" sz="2600" b="1" i="1" dirty="0">
                <a:solidFill>
                  <a:srgbClr val="FFFFFF"/>
                </a:solidFill>
                <a:latin typeface="Calibri" pitchFamily="34" charset="0"/>
                <a:ea typeface="Calibri" pitchFamily="34" charset="-122"/>
                <a:cs typeface="Calibri" pitchFamily="34" charset="-120"/>
              </a:rPr>
              <a:t>Common Cases</a:t>
            </a:r>
            <a:endParaRPr lang="en-US" sz="2600" i="1" dirty="0"/>
          </a:p>
        </p:txBody>
      </p:sp>
      <p:sp>
        <p:nvSpPr>
          <p:cNvPr id="4" name="Text 1"/>
          <p:cNvSpPr/>
          <p:nvPr/>
        </p:nvSpPr>
        <p:spPr>
          <a:xfrm>
            <a:off x="457200" y="1005840"/>
            <a:ext cx="8229600" cy="502920"/>
          </a:xfrm>
          <a:prstGeom prst="rect">
            <a:avLst/>
          </a:prstGeom>
          <a:noFill/>
          <a:ln/>
        </p:spPr>
        <p:txBody>
          <a:bodyPr wrap="square" rtlCol="0" anchor="ctr"/>
          <a:lstStyle/>
          <a:p>
            <a:r>
              <a:rPr lang="en-US" sz="1300" i="1" dirty="0">
                <a:solidFill>
                  <a:srgbClr val="FFFFFF"/>
                </a:solidFill>
                <a:latin typeface="Calibri" pitchFamily="34" charset="0"/>
                <a:cs typeface="Calibri" pitchFamily="34" charset="-120"/>
              </a:rPr>
              <a:t>The Key Insights section highlights the most common experiences across work categories (Common Cases), based on observed market patterns, along with examples of common actions and the results they typically produce.</a:t>
            </a:r>
            <a:endParaRPr lang="en-US" sz="1300" dirty="0"/>
          </a:p>
        </p:txBody>
      </p:sp>
      <p:sp>
        <p:nvSpPr>
          <p:cNvPr id="5" name="Shape 2"/>
          <p:cNvSpPr/>
          <p:nvPr/>
        </p:nvSpPr>
        <p:spPr>
          <a:xfrm>
            <a:off x="365760" y="1664208"/>
            <a:ext cx="2697480" cy="1691640"/>
          </a:xfrm>
          <a:prstGeom prst="rect">
            <a:avLst/>
          </a:prstGeom>
          <a:solidFill>
            <a:srgbClr val="FFFFFF"/>
          </a:solidFill>
          <a:ln w="25400">
            <a:solidFill>
              <a:srgbClr val="16A34A"/>
            </a:solidFill>
            <a:prstDash val="solid"/>
          </a:ln>
          <a:effectLst>
            <a:outerShdw blurRad="101600" dist="38100" dir="8100000" algn="bl" rotWithShape="0">
              <a:srgbClr val="000000">
                <a:alpha val="12000"/>
              </a:srgbClr>
            </a:outerShdw>
          </a:effectLst>
        </p:spPr>
        <p:txBody>
          <a:bodyPr/>
          <a:lstStyle/>
          <a:p>
            <a:endParaRPr lang="en-US"/>
          </a:p>
        </p:txBody>
      </p:sp>
      <p:sp>
        <p:nvSpPr>
          <p:cNvPr id="6" name="Text 3"/>
          <p:cNvSpPr/>
          <p:nvPr/>
        </p:nvSpPr>
        <p:spPr>
          <a:xfrm>
            <a:off x="502920" y="1755648"/>
            <a:ext cx="2423160" cy="411480"/>
          </a:xfrm>
          <a:prstGeom prst="rect">
            <a:avLst/>
          </a:prstGeom>
          <a:noFill/>
          <a:ln/>
        </p:spPr>
        <p:txBody>
          <a:bodyPr wrap="square" lIns="0" tIns="0" rIns="0" bIns="0" rtlCol="0" anchor="ctr"/>
          <a:lstStyle/>
          <a:p>
            <a:pPr marL="0" indent="0">
              <a:buNone/>
            </a:pPr>
            <a:r>
              <a:rPr lang="en-US" sz="1400" b="1" dirty="0">
                <a:solidFill>
                  <a:srgbClr val="16A34A"/>
                </a:solidFill>
                <a:latin typeface="Calibri" pitchFamily="34" charset="0"/>
                <a:ea typeface="Calibri" pitchFamily="34" charset="-122"/>
                <a:cs typeface="Calibri" pitchFamily="34" charset="-120"/>
              </a:rPr>
              <a:t>✅  Worked</a:t>
            </a:r>
            <a:endParaRPr lang="en-US" sz="1400" dirty="0"/>
          </a:p>
        </p:txBody>
      </p:sp>
      <p:sp>
        <p:nvSpPr>
          <p:cNvPr id="7" name="Text 4"/>
          <p:cNvSpPr/>
          <p:nvPr/>
        </p:nvSpPr>
        <p:spPr>
          <a:xfrm>
            <a:off x="502920" y="2212848"/>
            <a:ext cx="2423160" cy="960120"/>
          </a:xfrm>
          <a:prstGeom prst="rect">
            <a:avLst/>
          </a:prstGeom>
          <a:noFill/>
          <a:ln/>
        </p:spPr>
        <p:txBody>
          <a:bodyPr wrap="square" rtlCol="0" anchor="ctr"/>
          <a:lstStyle/>
          <a:p>
            <a:pPr marL="0" indent="0">
              <a:buNone/>
            </a:pPr>
            <a:r>
              <a:rPr lang="en-US" sz="1200" dirty="0">
                <a:solidFill>
                  <a:srgbClr val="1F2937"/>
                </a:solidFill>
                <a:latin typeface="Calibri" pitchFamily="34" charset="0"/>
                <a:ea typeface="Calibri" pitchFamily="34" charset="-122"/>
                <a:cs typeface="Calibri" pitchFamily="34" charset="-120"/>
              </a:rPr>
              <a:t>Actions that typically lead to positive outcomes</a:t>
            </a:r>
            <a:endParaRPr lang="en-US" sz="1200" dirty="0"/>
          </a:p>
        </p:txBody>
      </p:sp>
      <p:sp>
        <p:nvSpPr>
          <p:cNvPr id="8" name="Shape 5"/>
          <p:cNvSpPr/>
          <p:nvPr/>
        </p:nvSpPr>
        <p:spPr>
          <a:xfrm>
            <a:off x="3246120" y="1664208"/>
            <a:ext cx="2697480" cy="1691640"/>
          </a:xfrm>
          <a:prstGeom prst="rect">
            <a:avLst/>
          </a:prstGeom>
          <a:solidFill>
            <a:srgbClr val="FFFFFF"/>
          </a:solidFill>
          <a:ln w="25400">
            <a:solidFill>
              <a:srgbClr val="D97706"/>
            </a:solidFill>
            <a:prstDash val="solid"/>
          </a:ln>
          <a:effectLst>
            <a:outerShdw blurRad="101600" dist="38100" dir="8100000" algn="bl" rotWithShape="0">
              <a:srgbClr val="000000">
                <a:alpha val="12000"/>
              </a:srgbClr>
            </a:outerShdw>
          </a:effectLst>
        </p:spPr>
        <p:txBody>
          <a:bodyPr/>
          <a:lstStyle/>
          <a:p>
            <a:endParaRPr lang="en-US"/>
          </a:p>
        </p:txBody>
      </p:sp>
      <p:sp>
        <p:nvSpPr>
          <p:cNvPr id="9" name="Text 6"/>
          <p:cNvSpPr/>
          <p:nvPr/>
        </p:nvSpPr>
        <p:spPr>
          <a:xfrm>
            <a:off x="3383280" y="1755648"/>
            <a:ext cx="2423160" cy="411480"/>
          </a:xfrm>
          <a:prstGeom prst="rect">
            <a:avLst/>
          </a:prstGeom>
          <a:noFill/>
          <a:ln/>
        </p:spPr>
        <p:txBody>
          <a:bodyPr wrap="square" lIns="0" tIns="0" rIns="0" bIns="0" rtlCol="0" anchor="ctr"/>
          <a:lstStyle/>
          <a:p>
            <a:pPr marL="0" indent="0">
              <a:buNone/>
            </a:pPr>
            <a:r>
              <a:rPr lang="en-US" sz="1400" b="1" dirty="0">
                <a:solidFill>
                  <a:srgbClr val="D97706"/>
                </a:solidFill>
                <a:latin typeface="Calibri" pitchFamily="34" charset="0"/>
                <a:ea typeface="Calibri" pitchFamily="34" charset="-122"/>
                <a:cs typeface="Calibri" pitchFamily="34" charset="-120"/>
              </a:rPr>
              <a:t>⚠️  No Change</a:t>
            </a:r>
            <a:endParaRPr lang="en-US" sz="1400" dirty="0"/>
          </a:p>
        </p:txBody>
      </p:sp>
      <p:sp>
        <p:nvSpPr>
          <p:cNvPr id="10" name="Text 7"/>
          <p:cNvSpPr/>
          <p:nvPr/>
        </p:nvSpPr>
        <p:spPr>
          <a:xfrm>
            <a:off x="3383280" y="2212848"/>
            <a:ext cx="2423160" cy="960120"/>
          </a:xfrm>
          <a:prstGeom prst="rect">
            <a:avLst/>
          </a:prstGeom>
          <a:noFill/>
          <a:ln/>
        </p:spPr>
        <p:txBody>
          <a:bodyPr wrap="square" rtlCol="0" anchor="ctr"/>
          <a:lstStyle/>
          <a:p>
            <a:pPr marL="0" indent="0">
              <a:buNone/>
            </a:pPr>
            <a:r>
              <a:rPr lang="en-US" sz="1200" dirty="0">
                <a:solidFill>
                  <a:srgbClr val="1F2937"/>
                </a:solidFill>
                <a:latin typeface="Calibri" pitchFamily="34" charset="0"/>
                <a:ea typeface="Calibri" pitchFamily="34" charset="-122"/>
                <a:cs typeface="Calibri" pitchFamily="34" charset="-120"/>
              </a:rPr>
              <a:t>Actions that usually don't move the needle</a:t>
            </a:r>
            <a:endParaRPr lang="en-US" sz="1200" dirty="0"/>
          </a:p>
        </p:txBody>
      </p:sp>
      <p:sp>
        <p:nvSpPr>
          <p:cNvPr id="11" name="Shape 8"/>
          <p:cNvSpPr/>
          <p:nvPr/>
        </p:nvSpPr>
        <p:spPr>
          <a:xfrm>
            <a:off x="6126480" y="1664208"/>
            <a:ext cx="2697480" cy="1691640"/>
          </a:xfrm>
          <a:prstGeom prst="rect">
            <a:avLst/>
          </a:prstGeom>
          <a:solidFill>
            <a:srgbClr val="FFFFFF"/>
          </a:solidFill>
          <a:ln w="25400">
            <a:solidFill>
              <a:srgbClr val="DC2626"/>
            </a:solidFill>
            <a:prstDash val="solid"/>
          </a:ln>
          <a:effectLst>
            <a:outerShdw blurRad="101600" dist="38100" dir="8100000" algn="bl" rotWithShape="0">
              <a:srgbClr val="000000">
                <a:alpha val="12000"/>
              </a:srgbClr>
            </a:outerShdw>
          </a:effectLst>
        </p:spPr>
        <p:txBody>
          <a:bodyPr/>
          <a:lstStyle/>
          <a:p>
            <a:endParaRPr lang="en-US"/>
          </a:p>
        </p:txBody>
      </p:sp>
      <p:sp>
        <p:nvSpPr>
          <p:cNvPr id="12" name="Text 9"/>
          <p:cNvSpPr/>
          <p:nvPr/>
        </p:nvSpPr>
        <p:spPr>
          <a:xfrm>
            <a:off x="6263640" y="1755648"/>
            <a:ext cx="2423160" cy="411480"/>
          </a:xfrm>
          <a:prstGeom prst="rect">
            <a:avLst/>
          </a:prstGeom>
          <a:noFill/>
          <a:ln/>
        </p:spPr>
        <p:txBody>
          <a:bodyPr wrap="square" lIns="0" tIns="0" rIns="0" bIns="0" rtlCol="0" anchor="ctr"/>
          <a:lstStyle/>
          <a:p>
            <a:pPr marL="0" indent="0">
              <a:buNone/>
            </a:pPr>
            <a:r>
              <a:rPr lang="en-US" sz="1400" b="1" dirty="0">
                <a:solidFill>
                  <a:srgbClr val="DC2626"/>
                </a:solidFill>
                <a:latin typeface="Calibri" pitchFamily="34" charset="0"/>
                <a:ea typeface="Calibri" pitchFamily="34" charset="-122"/>
                <a:cs typeface="Calibri" pitchFamily="34" charset="-120"/>
              </a:rPr>
              <a:t>❌  Got Worse</a:t>
            </a:r>
            <a:endParaRPr lang="en-US" sz="1400" dirty="0"/>
          </a:p>
        </p:txBody>
      </p:sp>
      <p:sp>
        <p:nvSpPr>
          <p:cNvPr id="13" name="Text 10"/>
          <p:cNvSpPr/>
          <p:nvPr/>
        </p:nvSpPr>
        <p:spPr>
          <a:xfrm>
            <a:off x="6263640" y="2212848"/>
            <a:ext cx="2423160" cy="960120"/>
          </a:xfrm>
          <a:prstGeom prst="rect">
            <a:avLst/>
          </a:prstGeom>
          <a:noFill/>
          <a:ln/>
        </p:spPr>
        <p:txBody>
          <a:bodyPr wrap="square" rtlCol="0" anchor="ctr"/>
          <a:lstStyle/>
          <a:p>
            <a:pPr marL="0" indent="0">
              <a:buNone/>
            </a:pPr>
            <a:r>
              <a:rPr lang="en-US" sz="1200" dirty="0">
                <a:solidFill>
                  <a:srgbClr val="1F2937"/>
                </a:solidFill>
                <a:latin typeface="Calibri" pitchFamily="34" charset="0"/>
                <a:ea typeface="Calibri" pitchFamily="34" charset="-122"/>
                <a:cs typeface="Calibri" pitchFamily="34" charset="-120"/>
              </a:rPr>
              <a:t>Actions that tend to make the situation worse</a:t>
            </a:r>
            <a:endParaRPr lang="en-US" sz="1200" dirty="0"/>
          </a:p>
        </p:txBody>
      </p:sp>
      <p:sp>
        <p:nvSpPr>
          <p:cNvPr id="14" name="Shape 11"/>
          <p:cNvSpPr/>
          <p:nvPr/>
        </p:nvSpPr>
        <p:spPr>
          <a:xfrm>
            <a:off x="365760" y="3493008"/>
            <a:ext cx="8412480" cy="914400"/>
          </a:xfrm>
          <a:prstGeom prst="rect">
            <a:avLst/>
          </a:prstGeom>
          <a:solidFill>
            <a:srgbClr val="FFFFFF"/>
          </a:solidFill>
          <a:ln w="12700">
            <a:solidFill>
              <a:srgbClr val="E9D5FF"/>
            </a:solidFill>
            <a:prstDash val="solid"/>
          </a:ln>
          <a:effectLst>
            <a:outerShdw blurRad="101600" dist="38100" dir="8100000" algn="bl" rotWithShape="0">
              <a:srgbClr val="000000">
                <a:alpha val="12000"/>
              </a:srgbClr>
            </a:outerShdw>
          </a:effectLst>
        </p:spPr>
        <p:txBody>
          <a:bodyPr/>
          <a:lstStyle/>
          <a:p>
            <a:endParaRPr lang="en-US"/>
          </a:p>
        </p:txBody>
      </p:sp>
      <p:sp>
        <p:nvSpPr>
          <p:cNvPr id="15" name="Shape 12"/>
          <p:cNvSpPr/>
          <p:nvPr/>
        </p:nvSpPr>
        <p:spPr>
          <a:xfrm>
            <a:off x="365760" y="3493008"/>
            <a:ext cx="91440" cy="914400"/>
          </a:xfrm>
          <a:prstGeom prst="rect">
            <a:avLst/>
          </a:prstGeom>
          <a:solidFill>
            <a:srgbClr val="9333EA"/>
          </a:solidFill>
          <a:ln w="12700">
            <a:solidFill>
              <a:srgbClr val="9333EA"/>
            </a:solidFill>
            <a:prstDash val="solid"/>
          </a:ln>
        </p:spPr>
        <p:txBody>
          <a:bodyPr/>
          <a:lstStyle/>
          <a:p>
            <a:endParaRPr lang="en-US"/>
          </a:p>
        </p:txBody>
      </p:sp>
      <p:sp>
        <p:nvSpPr>
          <p:cNvPr id="16" name="Text 13"/>
          <p:cNvSpPr/>
          <p:nvPr/>
        </p:nvSpPr>
        <p:spPr>
          <a:xfrm>
            <a:off x="548640" y="3584448"/>
            <a:ext cx="8156448" cy="731520"/>
          </a:xfrm>
          <a:prstGeom prst="rect">
            <a:avLst/>
          </a:prstGeom>
          <a:noFill/>
          <a:ln/>
        </p:spPr>
        <p:txBody>
          <a:bodyPr wrap="square" rtlCol="0" anchor="ctr"/>
          <a:lstStyle/>
          <a:p>
            <a:pPr marL="0" indent="0">
              <a:buNone/>
            </a:pPr>
            <a:r>
              <a:rPr lang="en-US" sz="1300" dirty="0">
                <a:solidFill>
                  <a:srgbClr val="1F2937"/>
                </a:solidFill>
                <a:latin typeface="Calibri" pitchFamily="34" charset="0"/>
                <a:ea typeface="Calibri" pitchFamily="34" charset="-122"/>
                <a:cs typeface="Calibri" pitchFamily="34" charset="-120"/>
              </a:rPr>
              <a:t>Employees can also explore the individual experiences linked to each Common Case, providing deeper context and real examples.</a:t>
            </a:r>
            <a:endParaRPr lang="en-US" sz="1300" dirty="0"/>
          </a:p>
        </p:txBody>
      </p:sp>
      <p:sp>
        <p:nvSpPr>
          <p:cNvPr id="17" name="Shape 14"/>
          <p:cNvSpPr/>
          <p:nvPr/>
        </p:nvSpPr>
        <p:spPr>
          <a:xfrm>
            <a:off x="0" y="4709160"/>
            <a:ext cx="9144000" cy="434340"/>
          </a:xfrm>
          <a:prstGeom prst="rect">
            <a:avLst/>
          </a:prstGeom>
          <a:solidFill>
            <a:srgbClr val="D97706"/>
          </a:solidFill>
          <a:ln w="12700">
            <a:solidFill>
              <a:srgbClr val="D97706"/>
            </a:solidFill>
            <a:prstDash val="solid"/>
          </a:ln>
        </p:spPr>
        <p:txBody>
          <a:bodyPr/>
          <a:lstStyle/>
          <a:p>
            <a:endParaRPr lang="en-US"/>
          </a:p>
        </p:txBody>
      </p:sp>
      <p:sp>
        <p:nvSpPr>
          <p:cNvPr id="18" name="Text 15"/>
          <p:cNvSpPr/>
          <p:nvPr/>
        </p:nvSpPr>
        <p:spPr>
          <a:xfrm>
            <a:off x="365760" y="4745736"/>
            <a:ext cx="841248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Quickly understand which approaches succeed — and which ones to avoid.</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132320" y="-365760"/>
            <a:ext cx="2560320" cy="2560320"/>
          </a:xfrm>
          <a:prstGeom prst="ellipse">
            <a:avLst/>
          </a:prstGeom>
          <a:solidFill>
            <a:srgbClr val="9333EA">
              <a:alpha val="30000"/>
            </a:srgbClr>
          </a:solidFill>
          <a:ln w="12700">
            <a:solidFill>
              <a:srgbClr val="9333EA">
                <a:alpha val="30000"/>
              </a:srgbClr>
            </a:solidFill>
            <a:prstDash val="solid"/>
          </a:ln>
        </p:spPr>
        <p:txBody>
          <a:bodyPr/>
          <a:lstStyle/>
          <a:p>
            <a:endParaRPr lang="en-US"/>
          </a:p>
        </p:txBody>
      </p:sp>
      <p:sp>
        <p:nvSpPr>
          <p:cNvPr id="3" name="Text 1"/>
          <p:cNvSpPr/>
          <p:nvPr/>
        </p:nvSpPr>
        <p:spPr>
          <a:xfrm>
            <a:off x="548640" y="320040"/>
            <a:ext cx="7772400" cy="73152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Sharing Experiences</a:t>
            </a:r>
            <a:endParaRPr lang="en-US" sz="3600" dirty="0"/>
          </a:p>
        </p:txBody>
      </p:sp>
      <p:sp>
        <p:nvSpPr>
          <p:cNvPr id="4" name="Shape 2"/>
          <p:cNvSpPr/>
          <p:nvPr/>
        </p:nvSpPr>
        <p:spPr>
          <a:xfrm>
            <a:off x="548640" y="1051560"/>
            <a:ext cx="1828800" cy="54864"/>
          </a:xfrm>
          <a:prstGeom prst="rect">
            <a:avLst/>
          </a:prstGeom>
          <a:solidFill>
            <a:srgbClr val="D97706"/>
          </a:solidFill>
          <a:ln w="12700">
            <a:solidFill>
              <a:srgbClr val="D97706"/>
            </a:solidFill>
            <a:prstDash val="solid"/>
          </a:ln>
        </p:spPr>
        <p:txBody>
          <a:bodyPr/>
          <a:lstStyle/>
          <a:p>
            <a:endParaRPr lang="en-US"/>
          </a:p>
        </p:txBody>
      </p:sp>
      <p:sp>
        <p:nvSpPr>
          <p:cNvPr id="5" name="Text 3"/>
          <p:cNvSpPr/>
          <p:nvPr/>
        </p:nvSpPr>
        <p:spPr>
          <a:xfrm>
            <a:off x="548640" y="1188720"/>
            <a:ext cx="7772400" cy="384048"/>
          </a:xfrm>
          <a:prstGeom prst="rect">
            <a:avLst/>
          </a:prstGeom>
          <a:noFill/>
          <a:ln/>
        </p:spPr>
        <p:txBody>
          <a:bodyPr wrap="square" rtlCol="0" anchor="ctr"/>
          <a:lstStyle/>
          <a:p>
            <a:pPr marL="0" indent="0">
              <a:buNone/>
            </a:pPr>
            <a:r>
              <a:rPr lang="en-US" sz="1400" dirty="0">
                <a:solidFill>
                  <a:srgbClr val="C4B5FD"/>
                </a:solidFill>
                <a:latin typeface="Calibri" pitchFamily="34" charset="0"/>
                <a:ea typeface="Calibri" pitchFamily="34" charset="-122"/>
                <a:cs typeface="Calibri" pitchFamily="34" charset="-120"/>
              </a:rPr>
              <a:t>After solving a problem, employees click:</a:t>
            </a:r>
            <a:endParaRPr lang="en-US" sz="1400" dirty="0"/>
          </a:p>
        </p:txBody>
      </p:sp>
      <p:sp>
        <p:nvSpPr>
          <p:cNvPr id="7" name="Text 5"/>
          <p:cNvSpPr/>
          <p:nvPr/>
        </p:nvSpPr>
        <p:spPr>
          <a:xfrm>
            <a:off x="2286000" y="1645920"/>
            <a:ext cx="4572000" cy="548640"/>
          </a:xfrm>
          <a:prstGeom prst="rect">
            <a:avLst/>
          </a:prstGeom>
          <a:solidFill>
            <a:srgbClr val="D97706"/>
          </a:solidFill>
          <a:ln w="12700">
            <a:solidFill>
              <a:srgbClr val="D97706"/>
            </a:solidFill>
            <a:prstDash val="solid"/>
          </a:ln>
        </p:spPr>
        <p:txBody>
          <a:bodyPr anchor="ctr" anchorCtr="0"/>
          <a:lstStyle/>
          <a:p>
            <a:pPr algn="ctr"/>
            <a:r>
              <a:rPr lang="en-US" b="1" dirty="0">
                <a:solidFill>
                  <a:schemeClr val="bg1"/>
                </a:solidFill>
              </a:rPr>
              <a:t>"Share Your Experience"</a:t>
            </a:r>
          </a:p>
        </p:txBody>
      </p:sp>
      <p:sp>
        <p:nvSpPr>
          <p:cNvPr id="8" name="Text 6"/>
          <p:cNvSpPr/>
          <p:nvPr/>
        </p:nvSpPr>
        <p:spPr>
          <a:xfrm>
            <a:off x="548640" y="2377440"/>
            <a:ext cx="7772400" cy="347472"/>
          </a:xfrm>
          <a:prstGeom prst="rect">
            <a:avLst/>
          </a:prstGeom>
          <a:noFill/>
          <a:ln/>
        </p:spPr>
        <p:txBody>
          <a:bodyPr wrap="square" rtlCol="0" anchor="ctr"/>
          <a:lstStyle/>
          <a:p>
            <a:pPr marL="0" indent="0">
              <a:buNone/>
            </a:pPr>
            <a:r>
              <a:rPr lang="en-US" sz="1400" dirty="0">
                <a:solidFill>
                  <a:srgbClr val="C4B5FD"/>
                </a:solidFill>
                <a:latin typeface="Calibri" pitchFamily="34" charset="0"/>
                <a:ea typeface="Calibri" pitchFamily="34" charset="-122"/>
                <a:cs typeface="Calibri" pitchFamily="34" charset="-120"/>
              </a:rPr>
              <a:t>They simply record:</a:t>
            </a:r>
            <a:endParaRPr lang="en-US" sz="1400" dirty="0"/>
          </a:p>
        </p:txBody>
      </p:sp>
      <p:sp>
        <p:nvSpPr>
          <p:cNvPr id="9" name="Shape 7"/>
          <p:cNvSpPr/>
          <p:nvPr/>
        </p:nvSpPr>
        <p:spPr>
          <a:xfrm>
            <a:off x="1828800" y="2788920"/>
            <a:ext cx="5486400" cy="594360"/>
          </a:xfrm>
          <a:prstGeom prst="rect">
            <a:avLst/>
          </a:prstGeom>
          <a:solidFill>
            <a:srgbClr val="9333EA"/>
          </a:solidFill>
          <a:ln w="12700">
            <a:solidFill>
              <a:srgbClr val="9333EA"/>
            </a:solidFill>
            <a:prstDash val="solid"/>
          </a:ln>
        </p:spPr>
        <p:txBody>
          <a:bodyPr/>
          <a:lstStyle/>
          <a:p>
            <a:endParaRPr lang="en-US"/>
          </a:p>
        </p:txBody>
      </p:sp>
      <p:sp>
        <p:nvSpPr>
          <p:cNvPr id="10" name="Text 8"/>
          <p:cNvSpPr/>
          <p:nvPr/>
        </p:nvSpPr>
        <p:spPr>
          <a:xfrm>
            <a:off x="1828800" y="2807208"/>
            <a:ext cx="5486400" cy="548640"/>
          </a:xfrm>
          <a:prstGeom prst="rect">
            <a:avLst/>
          </a:prstGeom>
          <a:noFill/>
          <a:ln/>
        </p:spPr>
        <p:txBody>
          <a:bodyPr wrap="square" lIns="0" tIns="0" rIns="0" bIns="0" rtlCol="0" anchor="ctr"/>
          <a:lstStyle/>
          <a:p>
            <a:pPr marL="0" indent="0" algn="ctr">
              <a:buNone/>
            </a:pPr>
            <a:r>
              <a:rPr lang="en-US" sz="1900" b="1" dirty="0">
                <a:solidFill>
                  <a:srgbClr val="FFFFFF"/>
                </a:solidFill>
                <a:latin typeface="Calibri" pitchFamily="34" charset="0"/>
                <a:ea typeface="Calibri" pitchFamily="34" charset="-122"/>
                <a:cs typeface="Calibri" pitchFamily="34" charset="-120"/>
              </a:rPr>
              <a:t>Problem → Action → Result</a:t>
            </a:r>
            <a:endParaRPr lang="en-US" sz="1900" dirty="0"/>
          </a:p>
        </p:txBody>
      </p:sp>
      <p:sp>
        <p:nvSpPr>
          <p:cNvPr id="11" name="Text 9"/>
          <p:cNvSpPr/>
          <p:nvPr/>
        </p:nvSpPr>
        <p:spPr>
          <a:xfrm>
            <a:off x="548640" y="3520440"/>
            <a:ext cx="7772400" cy="594360"/>
          </a:xfrm>
          <a:prstGeom prst="rect">
            <a:avLst/>
          </a:prstGeom>
          <a:noFill/>
          <a:ln/>
        </p:spPr>
        <p:txBody>
          <a:bodyPr wrap="square" rtlCol="0" anchor="ctr"/>
          <a:lstStyle/>
          <a:p>
            <a:pPr marL="0" indent="0" algn="ctr">
              <a:buNone/>
            </a:pPr>
            <a:r>
              <a:rPr lang="en-US" sz="1300" i="1" dirty="0">
                <a:solidFill>
                  <a:srgbClr val="C4B5FD"/>
                </a:solidFill>
                <a:latin typeface="Calibri" pitchFamily="34" charset="0"/>
                <a:ea typeface="Calibri" pitchFamily="34" charset="-122"/>
                <a:cs typeface="Calibri" pitchFamily="34" charset="-120"/>
              </a:rPr>
              <a:t>Short and concise — helping others learn from successes, mistakes, and real operational experiences.</a:t>
            </a:r>
            <a:endParaRPr lang="en-US" sz="1300" dirty="0"/>
          </a:p>
        </p:txBody>
      </p:sp>
      <p:sp>
        <p:nvSpPr>
          <p:cNvPr id="13" name="Text 11"/>
          <p:cNvSpPr/>
          <p:nvPr/>
        </p:nvSpPr>
        <p:spPr>
          <a:xfrm>
            <a:off x="548640" y="4429787"/>
            <a:ext cx="8046720" cy="384048"/>
          </a:xfrm>
          <a:prstGeom prst="rect">
            <a:avLst/>
          </a:prstGeom>
          <a:solidFill>
            <a:srgbClr val="1E2E5C"/>
          </a:solidFill>
          <a:ln w="12700">
            <a:solidFill>
              <a:srgbClr val="1E2E5C"/>
            </a:solidFill>
            <a:prstDash val="solid"/>
          </a:ln>
        </p:spPr>
        <p:txBody>
          <a:bodyPr/>
          <a:lstStyle/>
          <a:p>
            <a:pPr algn="ctr"/>
            <a:r>
              <a:rPr lang="en-US" sz="1600" b="1" dirty="0">
                <a:solidFill>
                  <a:srgbClr val="D97706"/>
                </a:solidFill>
                <a:latin typeface="Calibri" pitchFamily="34" charset="0"/>
                <a:cs typeface="Calibri" pitchFamily="34" charset="-120"/>
              </a:rPr>
              <a:t>Simple to share. Powerful to learn from.</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914400"/>
          </a:xfrm>
          <a:prstGeom prst="rect">
            <a:avLst/>
          </a:prstGeom>
        </p:spPr>
      </p:pic>
      <p:sp>
        <p:nvSpPr>
          <p:cNvPr id="3" name="Text 0"/>
          <p:cNvSpPr/>
          <p:nvPr/>
        </p:nvSpPr>
        <p:spPr>
          <a:xfrm>
            <a:off x="457200" y="109728"/>
            <a:ext cx="7772400" cy="804672"/>
          </a:xfrm>
          <a:prstGeom prst="rect">
            <a:avLst/>
          </a:prstGeom>
          <a:noFill/>
          <a:ln/>
        </p:spPr>
        <p:txBody>
          <a:bodyPr wrap="square" lIns="0" tIns="0" rIns="0" bIns="0" rtlCol="0" anchor="ctr"/>
          <a:lstStyle/>
          <a:p>
            <a:pPr marL="0" indent="0" algn="l">
              <a:buNone/>
            </a:pPr>
            <a:r>
              <a:rPr lang="en-US" sz="2600" b="1" dirty="0">
                <a:solidFill>
                  <a:srgbClr val="FFFFFF"/>
                </a:solidFill>
                <a:latin typeface="Calibri" pitchFamily="34" charset="0"/>
                <a:ea typeface="Calibri" pitchFamily="34" charset="-122"/>
                <a:cs typeface="Calibri" pitchFamily="34" charset="-120"/>
              </a:rPr>
              <a:t>Highlighting Top Experiences &amp; Driving Participation</a:t>
            </a:r>
            <a:endParaRPr lang="en-US" sz="2600" dirty="0"/>
          </a:p>
        </p:txBody>
      </p:sp>
      <p:sp>
        <p:nvSpPr>
          <p:cNvPr id="4" name="Shape 1"/>
          <p:cNvSpPr/>
          <p:nvPr/>
        </p:nvSpPr>
        <p:spPr>
          <a:xfrm>
            <a:off x="365760" y="1051560"/>
            <a:ext cx="3931920" cy="3246120"/>
          </a:xfrm>
          <a:prstGeom prst="rect">
            <a:avLst/>
          </a:prstGeom>
          <a:solidFill>
            <a:srgbClr val="F3EEFF"/>
          </a:solidFill>
          <a:ln w="25400">
            <a:solidFill>
              <a:srgbClr val="E9D5FF"/>
            </a:solidFill>
            <a:prstDash val="solid"/>
          </a:ln>
          <a:effectLst>
            <a:outerShdw blurRad="101600" dist="38100" dir="8100000" algn="bl" rotWithShape="0">
              <a:srgbClr val="000000">
                <a:alpha val="12000"/>
              </a:srgbClr>
            </a:outerShdw>
          </a:effectLst>
        </p:spPr>
        <p:txBody>
          <a:bodyPr/>
          <a:lstStyle/>
          <a:p>
            <a:endParaRPr lang="en-US"/>
          </a:p>
        </p:txBody>
      </p:sp>
      <p:sp>
        <p:nvSpPr>
          <p:cNvPr id="5" name="Text 2"/>
          <p:cNvSpPr/>
          <p:nvPr/>
        </p:nvSpPr>
        <p:spPr>
          <a:xfrm>
            <a:off x="502920" y="1143000"/>
            <a:ext cx="3657600" cy="384048"/>
          </a:xfrm>
          <a:prstGeom prst="rect">
            <a:avLst/>
          </a:prstGeom>
          <a:noFill/>
          <a:ln/>
        </p:spPr>
        <p:txBody>
          <a:bodyPr wrap="square" lIns="0" tIns="0" rIns="0" bIns="0" rtlCol="0" anchor="ctr"/>
          <a:lstStyle/>
          <a:p>
            <a:pPr marL="0" indent="0">
              <a:buNone/>
            </a:pPr>
            <a:r>
              <a:rPr lang="en-US" sz="1400" b="1" dirty="0">
                <a:solidFill>
                  <a:srgbClr val="9333EA"/>
                </a:solidFill>
                <a:latin typeface="Calibri" pitchFamily="34" charset="0"/>
                <a:ea typeface="Calibri" pitchFamily="34" charset="-122"/>
                <a:cs typeface="Calibri" pitchFamily="34" charset="-120"/>
              </a:rPr>
              <a:t>⭐  Top 3 Experiences</a:t>
            </a:r>
            <a:endParaRPr lang="en-US" sz="1400" dirty="0"/>
          </a:p>
        </p:txBody>
      </p:sp>
      <p:sp>
        <p:nvSpPr>
          <p:cNvPr id="6" name="Text 3"/>
          <p:cNvSpPr/>
          <p:nvPr/>
        </p:nvSpPr>
        <p:spPr>
          <a:xfrm>
            <a:off x="548640" y="1600200"/>
            <a:ext cx="3566160" cy="2468880"/>
          </a:xfrm>
          <a:prstGeom prst="rect">
            <a:avLst/>
          </a:prstGeom>
          <a:noFill/>
          <a:ln/>
        </p:spPr>
        <p:txBody>
          <a:bodyPr wrap="square" rtlCol="0" anchor="ctr"/>
          <a:lstStyle/>
          <a:p>
            <a:pPr marL="0" indent="0">
              <a:buNone/>
            </a:pPr>
            <a:r>
              <a:rPr lang="en-US" sz="1300" dirty="0">
                <a:solidFill>
                  <a:srgbClr val="1F2937"/>
                </a:solidFill>
                <a:latin typeface="Calibri" pitchFamily="34" charset="0"/>
                <a:ea typeface="Calibri" pitchFamily="34" charset="-122"/>
                <a:cs typeface="Calibri" pitchFamily="34" charset="-120"/>
              </a:rPr>
              <a:t>Organizations can highlight the Top 3 most relevant experiences on the platform.</a:t>
            </a:r>
            <a:endParaRPr lang="en-US" sz="1300" dirty="0"/>
          </a:p>
          <a:p>
            <a:pPr marL="0" indent="0">
              <a:buNone/>
            </a:pPr>
            <a:endParaRPr lang="en-US" sz="1300" dirty="0"/>
          </a:p>
          <a:p>
            <a:pPr marL="0" indent="0">
              <a:buNone/>
            </a:pPr>
            <a:r>
              <a:rPr lang="en-US" sz="1300" dirty="0">
                <a:solidFill>
                  <a:srgbClr val="1F2937"/>
                </a:solidFill>
                <a:latin typeface="Calibri" pitchFamily="34" charset="0"/>
                <a:ea typeface="Calibri" pitchFamily="34" charset="-122"/>
                <a:cs typeface="Calibri" pitchFamily="34" charset="-120"/>
              </a:rPr>
              <a:t>Displayed at the top of the main page, giving maximum visibility to the most valuable contributions.</a:t>
            </a:r>
            <a:endParaRPr lang="en-US" sz="1300" dirty="0"/>
          </a:p>
        </p:txBody>
      </p:sp>
      <p:sp>
        <p:nvSpPr>
          <p:cNvPr id="7" name="Shape 4"/>
          <p:cNvSpPr/>
          <p:nvPr/>
        </p:nvSpPr>
        <p:spPr>
          <a:xfrm>
            <a:off x="4846320" y="1051560"/>
            <a:ext cx="3931920" cy="3246120"/>
          </a:xfrm>
          <a:prstGeom prst="rect">
            <a:avLst/>
          </a:prstGeom>
          <a:solidFill>
            <a:srgbClr val="6B21A8"/>
          </a:solidFill>
          <a:ln w="12700">
            <a:solidFill>
              <a:srgbClr val="6B21A8"/>
            </a:solidFill>
            <a:prstDash val="solid"/>
          </a:ln>
          <a:effectLst>
            <a:outerShdw blurRad="101600" dist="38100" dir="8100000" algn="bl" rotWithShape="0">
              <a:srgbClr val="000000">
                <a:alpha val="12000"/>
              </a:srgbClr>
            </a:outerShdw>
          </a:effectLst>
        </p:spPr>
        <p:txBody>
          <a:bodyPr/>
          <a:lstStyle/>
          <a:p>
            <a:endParaRPr lang="en-US"/>
          </a:p>
        </p:txBody>
      </p:sp>
      <p:sp>
        <p:nvSpPr>
          <p:cNvPr id="8" name="Text 5"/>
          <p:cNvSpPr/>
          <p:nvPr/>
        </p:nvSpPr>
        <p:spPr>
          <a:xfrm>
            <a:off x="4983480" y="1143000"/>
            <a:ext cx="3657600" cy="384048"/>
          </a:xfrm>
          <a:prstGeom prst="rect">
            <a:avLst/>
          </a:prstGeom>
          <a:noFill/>
          <a:ln/>
        </p:spPr>
        <p:txBody>
          <a:bodyPr wrap="square" lIns="0" tIns="0" rIns="0" bIns="0" rtlCol="0" anchor="ctr"/>
          <a:lstStyle/>
          <a:p>
            <a:pPr marL="0" indent="0">
              <a:buNone/>
            </a:pPr>
            <a:r>
              <a:rPr lang="en-US" sz="1400" b="1" dirty="0">
                <a:solidFill>
                  <a:srgbClr val="D97706"/>
                </a:solidFill>
                <a:latin typeface="Calibri" pitchFamily="34" charset="0"/>
                <a:ea typeface="Calibri" pitchFamily="34" charset="-122"/>
                <a:cs typeface="Calibri" pitchFamily="34" charset="-120"/>
              </a:rPr>
              <a:t>🏆  Incentives &amp; Recognition</a:t>
            </a:r>
            <a:endParaRPr lang="en-US" sz="1400" dirty="0"/>
          </a:p>
        </p:txBody>
      </p:sp>
      <p:sp>
        <p:nvSpPr>
          <p:cNvPr id="9" name="Text 6"/>
          <p:cNvSpPr/>
          <p:nvPr/>
        </p:nvSpPr>
        <p:spPr>
          <a:xfrm>
            <a:off x="5029200" y="1600200"/>
            <a:ext cx="3566160" cy="2468880"/>
          </a:xfrm>
          <a:prstGeom prst="rect">
            <a:avLst/>
          </a:prstGeom>
          <a:noFill/>
          <a:ln/>
        </p:spPr>
        <p:txBody>
          <a:bodyPr wrap="square" rtlCol="0" anchor="ctr"/>
          <a:lstStyle/>
          <a:p>
            <a:pPr marL="342900" indent="-342900">
              <a:buSzPct val="100000"/>
              <a:buChar char="•"/>
            </a:pPr>
            <a:r>
              <a:rPr lang="en-US" sz="1300" dirty="0">
                <a:solidFill>
                  <a:srgbClr val="FFFFFF"/>
                </a:solidFill>
                <a:latin typeface="Calibri" pitchFamily="34" charset="0"/>
                <a:ea typeface="Calibri" pitchFamily="34" charset="-122"/>
                <a:cs typeface="Calibri" pitchFamily="34" charset="-120"/>
              </a:rPr>
              <a:t>Internal recognition programs</a:t>
            </a:r>
            <a:endParaRPr lang="en-US" sz="1300" dirty="0"/>
          </a:p>
          <a:p>
            <a:pPr marL="342900" indent="-342900">
              <a:buSzPct val="100000"/>
              <a:buChar char="•"/>
            </a:pPr>
            <a:r>
              <a:rPr lang="en-US" sz="1300" dirty="0">
                <a:solidFill>
                  <a:srgbClr val="FFFFFF"/>
                </a:solidFill>
                <a:latin typeface="Calibri" pitchFamily="34" charset="0"/>
                <a:ea typeface="Calibri" pitchFamily="34" charset="-122"/>
                <a:cs typeface="Calibri" pitchFamily="34" charset="-120"/>
              </a:rPr>
              <a:t>Awards for valuable contributions</a:t>
            </a:r>
            <a:endParaRPr lang="en-US" sz="1300" dirty="0"/>
          </a:p>
          <a:p>
            <a:pPr marL="342900" indent="-342900">
              <a:buSzPct val="100000"/>
              <a:buChar char="•"/>
            </a:pPr>
            <a:r>
              <a:rPr lang="en-US" sz="1300" dirty="0">
                <a:solidFill>
                  <a:srgbClr val="FFFFFF"/>
                </a:solidFill>
                <a:latin typeface="Calibri" pitchFamily="34" charset="0"/>
                <a:ea typeface="Calibri" pitchFamily="34" charset="-122"/>
                <a:cs typeface="Calibri" pitchFamily="34" charset="-120"/>
              </a:rPr>
              <a:t>Highlighting top contributors</a:t>
            </a:r>
            <a:endParaRPr lang="en-US" sz="1300" dirty="0"/>
          </a:p>
          <a:p>
            <a:pPr marL="342900" indent="-342900">
              <a:buSzPct val="100000"/>
              <a:buChar char="•"/>
            </a:pPr>
            <a:r>
              <a:rPr lang="en-US" sz="1300" dirty="0">
                <a:solidFill>
                  <a:srgbClr val="FFFFFF"/>
                </a:solidFill>
                <a:latin typeface="Calibri" pitchFamily="34" charset="0"/>
                <a:ea typeface="Calibri" pitchFamily="34" charset="-122"/>
                <a:cs typeface="Calibri" pitchFamily="34" charset="-120"/>
              </a:rPr>
              <a:t>Incorporating contributions into performance assessments</a:t>
            </a:r>
            <a:endParaRPr lang="en-US" sz="1300" dirty="0"/>
          </a:p>
        </p:txBody>
      </p:sp>
      <p:sp>
        <p:nvSpPr>
          <p:cNvPr id="10" name="Shape 7"/>
          <p:cNvSpPr/>
          <p:nvPr/>
        </p:nvSpPr>
        <p:spPr>
          <a:xfrm>
            <a:off x="0" y="4709160"/>
            <a:ext cx="9144000" cy="434340"/>
          </a:xfrm>
          <a:prstGeom prst="rect">
            <a:avLst/>
          </a:prstGeom>
          <a:solidFill>
            <a:srgbClr val="D97706"/>
          </a:solidFill>
          <a:ln w="12700">
            <a:solidFill>
              <a:srgbClr val="D97706"/>
            </a:solidFill>
            <a:prstDash val="solid"/>
          </a:ln>
        </p:spPr>
        <p:txBody>
          <a:bodyPr/>
          <a:lstStyle/>
          <a:p>
            <a:endParaRPr lang="en-US"/>
          </a:p>
        </p:txBody>
      </p:sp>
      <p:sp>
        <p:nvSpPr>
          <p:cNvPr id="11" name="Text 8"/>
          <p:cNvSpPr/>
          <p:nvPr/>
        </p:nvSpPr>
        <p:spPr>
          <a:xfrm>
            <a:off x="365760" y="4745736"/>
            <a:ext cx="841248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Strengthening the organizational learning loop and accelerating performance improvement.</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3EE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914400"/>
          </a:xfrm>
          <a:prstGeom prst="rect">
            <a:avLst/>
          </a:prstGeom>
        </p:spPr>
      </p:pic>
      <p:sp>
        <p:nvSpPr>
          <p:cNvPr id="3" name="Text 0"/>
          <p:cNvSpPr/>
          <p:nvPr/>
        </p:nvSpPr>
        <p:spPr>
          <a:xfrm>
            <a:off x="457200" y="109728"/>
            <a:ext cx="7772400" cy="804672"/>
          </a:xfrm>
          <a:prstGeom prst="rect">
            <a:avLst/>
          </a:prstGeom>
          <a:noFill/>
          <a:ln/>
        </p:spPr>
        <p:txBody>
          <a:bodyPr wrap="square" lIns="0" tIns="0" rIns="0" bIns="0" rtlCol="0" anchor="ctr"/>
          <a:lstStyle/>
          <a:p>
            <a:pPr marL="0" indent="0" algn="l">
              <a:buNone/>
            </a:pPr>
            <a:r>
              <a:rPr lang="en-US" sz="2600" b="1" dirty="0">
                <a:solidFill>
                  <a:srgbClr val="FFFFFF"/>
                </a:solidFill>
                <a:latin typeface="Calibri" pitchFamily="34" charset="0"/>
                <a:ea typeface="Calibri" pitchFamily="34" charset="-122"/>
                <a:cs typeface="Calibri" pitchFamily="34" charset="-120"/>
              </a:rPr>
              <a:t>Focus on Processes, Not People</a:t>
            </a:r>
            <a:endParaRPr lang="en-US" sz="2600" dirty="0"/>
          </a:p>
        </p:txBody>
      </p:sp>
      <p:sp>
        <p:nvSpPr>
          <p:cNvPr id="4" name="Text 1"/>
          <p:cNvSpPr/>
          <p:nvPr/>
        </p:nvSpPr>
        <p:spPr>
          <a:xfrm>
            <a:off x="457200" y="1005840"/>
            <a:ext cx="8229600" cy="384048"/>
          </a:xfrm>
          <a:prstGeom prst="rect">
            <a:avLst/>
          </a:prstGeom>
          <a:noFill/>
          <a:ln/>
        </p:spPr>
        <p:txBody>
          <a:bodyPr wrap="square" rtlCol="0" anchor="ctr"/>
          <a:lstStyle/>
          <a:p>
            <a:pPr marL="0" indent="0">
              <a:buNone/>
            </a:pPr>
            <a:r>
              <a:rPr lang="en-US" sz="1400" b="1" i="1" dirty="0">
                <a:solidFill>
                  <a:srgbClr val="9333EA"/>
                </a:solidFill>
                <a:latin typeface="Calibri" pitchFamily="34" charset="0"/>
                <a:ea typeface="Calibri" pitchFamily="34" charset="-122"/>
                <a:cs typeface="Calibri" pitchFamily="34" charset="-120"/>
              </a:rPr>
              <a:t>WhatIDid focuses on processes, actions, and results — not individuals.</a:t>
            </a:r>
            <a:endParaRPr lang="en-US" sz="1400" dirty="0"/>
          </a:p>
        </p:txBody>
      </p:sp>
      <p:sp>
        <p:nvSpPr>
          <p:cNvPr id="5" name="Shape 2"/>
          <p:cNvSpPr/>
          <p:nvPr/>
        </p:nvSpPr>
        <p:spPr>
          <a:xfrm>
            <a:off x="365760" y="1536192"/>
            <a:ext cx="3931920" cy="2606040"/>
          </a:xfrm>
          <a:prstGeom prst="rect">
            <a:avLst/>
          </a:prstGeom>
          <a:solidFill>
            <a:srgbClr val="FFFFFF"/>
          </a:solidFill>
          <a:ln w="25400">
            <a:solidFill>
              <a:srgbClr val="16A34A"/>
            </a:solidFill>
            <a:prstDash val="solid"/>
          </a:ln>
          <a:effectLst>
            <a:outerShdw blurRad="101600" dist="38100" dir="8100000" algn="bl" rotWithShape="0">
              <a:srgbClr val="000000">
                <a:alpha val="12000"/>
              </a:srgbClr>
            </a:outerShdw>
          </a:effectLst>
        </p:spPr>
        <p:txBody>
          <a:bodyPr/>
          <a:lstStyle/>
          <a:p>
            <a:endParaRPr lang="en-US"/>
          </a:p>
        </p:txBody>
      </p:sp>
      <p:sp>
        <p:nvSpPr>
          <p:cNvPr id="6" name="Text 3"/>
          <p:cNvSpPr/>
          <p:nvPr/>
        </p:nvSpPr>
        <p:spPr>
          <a:xfrm>
            <a:off x="502920" y="1627632"/>
            <a:ext cx="3657600" cy="384048"/>
          </a:xfrm>
          <a:prstGeom prst="rect">
            <a:avLst/>
          </a:prstGeom>
          <a:noFill/>
          <a:ln/>
        </p:spPr>
        <p:txBody>
          <a:bodyPr wrap="square" lIns="0" tIns="0" rIns="0" bIns="0" rtlCol="0" anchor="ctr"/>
          <a:lstStyle/>
          <a:p>
            <a:pPr marL="0" indent="0">
              <a:buNone/>
            </a:pPr>
            <a:r>
              <a:rPr lang="en-US" sz="1400" b="1" dirty="0">
                <a:solidFill>
                  <a:srgbClr val="16A34A"/>
                </a:solidFill>
                <a:latin typeface="Calibri" pitchFamily="34" charset="0"/>
                <a:ea typeface="Calibri" pitchFamily="34" charset="-122"/>
                <a:cs typeface="Calibri" pitchFamily="34" charset="-120"/>
              </a:rPr>
              <a:t>✅  Capture</a:t>
            </a:r>
            <a:endParaRPr lang="en-US" sz="1400" dirty="0"/>
          </a:p>
        </p:txBody>
      </p:sp>
      <p:sp>
        <p:nvSpPr>
          <p:cNvPr id="7" name="Text 4"/>
          <p:cNvSpPr/>
          <p:nvPr/>
        </p:nvSpPr>
        <p:spPr>
          <a:xfrm>
            <a:off x="594360" y="2084832"/>
            <a:ext cx="3566160" cy="1828800"/>
          </a:xfrm>
          <a:prstGeom prst="rect">
            <a:avLst/>
          </a:prstGeom>
          <a:noFill/>
          <a:ln/>
        </p:spPr>
        <p:txBody>
          <a:bodyPr wrap="square" rtlCol="0" anchor="ctr"/>
          <a:lstStyle/>
          <a:p>
            <a:pPr marL="342900" indent="-342900">
              <a:buSzPct val="100000"/>
              <a:buChar char="•"/>
            </a:pPr>
            <a:r>
              <a:rPr lang="en-US" sz="1300" dirty="0">
                <a:solidFill>
                  <a:srgbClr val="1F2937"/>
                </a:solidFill>
                <a:latin typeface="Calibri" pitchFamily="34" charset="0"/>
                <a:ea typeface="Calibri" pitchFamily="34" charset="-122"/>
                <a:cs typeface="Calibri" pitchFamily="34" charset="-120"/>
              </a:rPr>
              <a:t>Operational challenges</a:t>
            </a:r>
            <a:endParaRPr lang="en-US" sz="1300" dirty="0"/>
          </a:p>
          <a:p>
            <a:pPr marL="342900" indent="-342900">
              <a:buSzPct val="100000"/>
              <a:buChar char="•"/>
            </a:pPr>
            <a:r>
              <a:rPr lang="en-US" sz="1300" dirty="0">
                <a:solidFill>
                  <a:srgbClr val="1F2937"/>
                </a:solidFill>
                <a:latin typeface="Calibri" pitchFamily="34" charset="0"/>
                <a:ea typeface="Calibri" pitchFamily="34" charset="-122"/>
                <a:cs typeface="Calibri" pitchFamily="34" charset="-120"/>
              </a:rPr>
              <a:t>Project execution</a:t>
            </a:r>
            <a:endParaRPr lang="en-US" sz="1300" dirty="0"/>
          </a:p>
          <a:p>
            <a:pPr marL="342900" indent="-342900">
              <a:buSzPct val="100000"/>
              <a:buChar char="•"/>
            </a:pPr>
            <a:r>
              <a:rPr lang="en-US" sz="1300" dirty="0">
                <a:solidFill>
                  <a:srgbClr val="1F2937"/>
                </a:solidFill>
                <a:latin typeface="Calibri" pitchFamily="34" charset="0"/>
                <a:ea typeface="Calibri" pitchFamily="34" charset="-122"/>
                <a:cs typeface="Calibri" pitchFamily="34" charset="-120"/>
              </a:rPr>
              <a:t>Customer interactions</a:t>
            </a:r>
            <a:endParaRPr lang="en-US" sz="1300" dirty="0"/>
          </a:p>
          <a:p>
            <a:pPr marL="342900" indent="-342900">
              <a:buSzPct val="100000"/>
              <a:buChar char="•"/>
            </a:pPr>
            <a:r>
              <a:rPr lang="en-US" sz="1300" dirty="0">
                <a:solidFill>
                  <a:srgbClr val="1F2937"/>
                </a:solidFill>
                <a:latin typeface="Calibri" pitchFamily="34" charset="0"/>
                <a:ea typeface="Calibri" pitchFamily="34" charset="-122"/>
                <a:cs typeface="Calibri" pitchFamily="34" charset="-120"/>
              </a:rPr>
              <a:t>Business processes</a:t>
            </a:r>
            <a:endParaRPr lang="en-US" sz="1300" dirty="0"/>
          </a:p>
        </p:txBody>
      </p:sp>
      <p:sp>
        <p:nvSpPr>
          <p:cNvPr id="8" name="Shape 5"/>
          <p:cNvSpPr/>
          <p:nvPr/>
        </p:nvSpPr>
        <p:spPr>
          <a:xfrm>
            <a:off x="4846320" y="1536192"/>
            <a:ext cx="3931920" cy="2606040"/>
          </a:xfrm>
          <a:prstGeom prst="rect">
            <a:avLst/>
          </a:prstGeom>
          <a:solidFill>
            <a:srgbClr val="FFFFFF"/>
          </a:solidFill>
          <a:ln w="25400">
            <a:solidFill>
              <a:srgbClr val="DC2626"/>
            </a:solidFill>
            <a:prstDash val="solid"/>
          </a:ln>
          <a:effectLst>
            <a:outerShdw blurRad="101600" dist="38100" dir="8100000" algn="bl" rotWithShape="0">
              <a:srgbClr val="000000">
                <a:alpha val="12000"/>
              </a:srgbClr>
            </a:outerShdw>
          </a:effectLst>
        </p:spPr>
        <p:txBody>
          <a:bodyPr/>
          <a:lstStyle/>
          <a:p>
            <a:endParaRPr lang="en-US"/>
          </a:p>
        </p:txBody>
      </p:sp>
      <p:sp>
        <p:nvSpPr>
          <p:cNvPr id="9" name="Text 6"/>
          <p:cNvSpPr/>
          <p:nvPr/>
        </p:nvSpPr>
        <p:spPr>
          <a:xfrm>
            <a:off x="4983480" y="1627632"/>
            <a:ext cx="3657600" cy="384048"/>
          </a:xfrm>
          <a:prstGeom prst="rect">
            <a:avLst/>
          </a:prstGeom>
          <a:noFill/>
          <a:ln/>
        </p:spPr>
        <p:txBody>
          <a:bodyPr wrap="square" lIns="0" tIns="0" rIns="0" bIns="0" rtlCol="0" anchor="ctr"/>
          <a:lstStyle/>
          <a:p>
            <a:pPr marL="0" indent="0">
              <a:buNone/>
            </a:pPr>
            <a:r>
              <a:rPr lang="en-US" sz="1400" b="1" dirty="0">
                <a:solidFill>
                  <a:srgbClr val="DC2626"/>
                </a:solidFill>
                <a:latin typeface="Calibri" pitchFamily="34" charset="0"/>
                <a:ea typeface="Calibri" pitchFamily="34" charset="-122"/>
                <a:cs typeface="Calibri" pitchFamily="34" charset="-120"/>
              </a:rPr>
              <a:t>❌  Do Not Capture</a:t>
            </a:r>
            <a:endParaRPr lang="en-US" sz="1400" dirty="0"/>
          </a:p>
        </p:txBody>
      </p:sp>
      <p:sp>
        <p:nvSpPr>
          <p:cNvPr id="10" name="Text 7"/>
          <p:cNvSpPr/>
          <p:nvPr/>
        </p:nvSpPr>
        <p:spPr>
          <a:xfrm>
            <a:off x="5029200" y="2084832"/>
            <a:ext cx="3566160" cy="1828800"/>
          </a:xfrm>
          <a:prstGeom prst="rect">
            <a:avLst/>
          </a:prstGeom>
          <a:noFill/>
          <a:ln/>
        </p:spPr>
        <p:txBody>
          <a:bodyPr wrap="square" rtlCol="0" anchor="ctr"/>
          <a:lstStyle/>
          <a:p>
            <a:pPr marL="0" indent="0">
              <a:buNone/>
            </a:pPr>
            <a:r>
              <a:rPr lang="en-US" sz="1300" dirty="0">
                <a:solidFill>
                  <a:srgbClr val="1F2937"/>
                </a:solidFill>
                <a:latin typeface="Calibri" pitchFamily="34" charset="0"/>
                <a:ea typeface="Calibri" pitchFamily="34" charset="-122"/>
                <a:cs typeface="Calibri" pitchFamily="34" charset="-120"/>
              </a:rPr>
              <a:t>Discussions involving personal evaluations, interpersonal conflicts, or people management issues should not be recorded on the platform.</a:t>
            </a:r>
            <a:endParaRPr lang="en-US" sz="1300" dirty="0"/>
          </a:p>
        </p:txBody>
      </p:sp>
      <p:sp>
        <p:nvSpPr>
          <p:cNvPr id="11" name="Shape 8"/>
          <p:cNvSpPr/>
          <p:nvPr/>
        </p:nvSpPr>
        <p:spPr>
          <a:xfrm>
            <a:off x="0" y="4709160"/>
            <a:ext cx="9144000" cy="434340"/>
          </a:xfrm>
          <a:prstGeom prst="rect">
            <a:avLst/>
          </a:prstGeom>
          <a:solidFill>
            <a:srgbClr val="D97706"/>
          </a:solidFill>
          <a:ln w="12700">
            <a:solidFill>
              <a:srgbClr val="D97706"/>
            </a:solidFill>
            <a:prstDash val="solid"/>
          </a:ln>
        </p:spPr>
        <p:txBody>
          <a:bodyPr/>
          <a:lstStyle/>
          <a:p>
            <a:endParaRPr lang="en-US"/>
          </a:p>
        </p:txBody>
      </p:sp>
      <p:sp>
        <p:nvSpPr>
          <p:cNvPr id="12" name="Text 9"/>
          <p:cNvSpPr/>
          <p:nvPr/>
        </p:nvSpPr>
        <p:spPr>
          <a:xfrm>
            <a:off x="365760" y="4745736"/>
            <a:ext cx="841248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The objective is organizational learning — not individual evaluation.</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132320" y="-457200"/>
            <a:ext cx="2743200" cy="2743200"/>
          </a:xfrm>
          <a:prstGeom prst="ellipse">
            <a:avLst/>
          </a:prstGeom>
          <a:solidFill>
            <a:srgbClr val="9333EA">
              <a:alpha val="30000"/>
            </a:srgbClr>
          </a:solidFill>
          <a:ln w="12700">
            <a:solidFill>
              <a:srgbClr val="9333EA">
                <a:alpha val="30000"/>
              </a:srgbClr>
            </a:solidFill>
            <a:prstDash val="solid"/>
          </a:ln>
        </p:spPr>
        <p:txBody>
          <a:bodyPr/>
          <a:lstStyle/>
          <a:p>
            <a:endParaRPr lang="en-US"/>
          </a:p>
        </p:txBody>
      </p:sp>
      <p:sp>
        <p:nvSpPr>
          <p:cNvPr id="3" name="Text 1"/>
          <p:cNvSpPr/>
          <p:nvPr/>
        </p:nvSpPr>
        <p:spPr>
          <a:xfrm>
            <a:off x="548640" y="320040"/>
            <a:ext cx="7772400" cy="73152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Strategic Insights for Leadership</a:t>
            </a:r>
            <a:endParaRPr lang="en-US" sz="3200" dirty="0"/>
          </a:p>
        </p:txBody>
      </p:sp>
      <p:sp>
        <p:nvSpPr>
          <p:cNvPr id="4" name="Shape 2"/>
          <p:cNvSpPr/>
          <p:nvPr/>
        </p:nvSpPr>
        <p:spPr>
          <a:xfrm>
            <a:off x="548640" y="1078992"/>
            <a:ext cx="1828800" cy="54864"/>
          </a:xfrm>
          <a:prstGeom prst="rect">
            <a:avLst/>
          </a:prstGeom>
          <a:solidFill>
            <a:srgbClr val="D97706"/>
          </a:solidFill>
          <a:ln w="12700">
            <a:solidFill>
              <a:srgbClr val="D97706"/>
            </a:solidFill>
            <a:prstDash val="solid"/>
          </a:ln>
        </p:spPr>
        <p:txBody>
          <a:bodyPr/>
          <a:lstStyle/>
          <a:p>
            <a:endParaRPr lang="en-US"/>
          </a:p>
        </p:txBody>
      </p:sp>
      <p:sp>
        <p:nvSpPr>
          <p:cNvPr id="5" name="Text 3"/>
          <p:cNvSpPr/>
          <p:nvPr/>
        </p:nvSpPr>
        <p:spPr>
          <a:xfrm>
            <a:off x="548640" y="1234440"/>
            <a:ext cx="7772400" cy="502920"/>
          </a:xfrm>
          <a:prstGeom prst="rect">
            <a:avLst/>
          </a:prstGeom>
          <a:noFill/>
          <a:ln/>
        </p:spPr>
        <p:txBody>
          <a:bodyPr wrap="square" rtlCol="0" anchor="ctr"/>
          <a:lstStyle/>
          <a:p>
            <a:pPr marL="0" indent="0">
              <a:buNone/>
            </a:pPr>
            <a:r>
              <a:rPr lang="en-US" sz="1400" dirty="0">
                <a:solidFill>
                  <a:srgbClr val="C4B5FD"/>
                </a:solidFill>
                <a:latin typeface="Calibri" pitchFamily="34" charset="0"/>
                <a:ea typeface="Calibri" pitchFamily="34" charset="-122"/>
                <a:cs typeface="Calibri" pitchFamily="34" charset="-120"/>
              </a:rPr>
              <a:t>By analyzing recorded experiences, the platform helps identify:</a:t>
            </a:r>
            <a:endParaRPr lang="en-US" sz="1400" dirty="0"/>
          </a:p>
        </p:txBody>
      </p:sp>
      <p:sp>
        <p:nvSpPr>
          <p:cNvPr id="6" name="Shape 4"/>
          <p:cNvSpPr/>
          <p:nvPr/>
        </p:nvSpPr>
        <p:spPr>
          <a:xfrm>
            <a:off x="457200" y="1920240"/>
            <a:ext cx="2651760" cy="1463040"/>
          </a:xfrm>
          <a:prstGeom prst="rect">
            <a:avLst/>
          </a:prstGeom>
          <a:solidFill>
            <a:srgbClr val="9333EA"/>
          </a:solidFill>
          <a:ln w="12700">
            <a:solidFill>
              <a:srgbClr val="9333EA"/>
            </a:solidFill>
            <a:prstDash val="solid"/>
          </a:ln>
          <a:effectLst>
            <a:outerShdw blurRad="101600" dist="38100" dir="8100000" algn="bl" rotWithShape="0">
              <a:srgbClr val="000000">
                <a:alpha val="12000"/>
              </a:srgbClr>
            </a:outerShdw>
          </a:effectLst>
        </p:spPr>
        <p:txBody>
          <a:bodyPr/>
          <a:lstStyle/>
          <a:p>
            <a:endParaRPr lang="en-US"/>
          </a:p>
        </p:txBody>
      </p:sp>
      <p:sp>
        <p:nvSpPr>
          <p:cNvPr id="7" name="Text 5"/>
          <p:cNvSpPr/>
          <p:nvPr/>
        </p:nvSpPr>
        <p:spPr>
          <a:xfrm>
            <a:off x="457200" y="1993392"/>
            <a:ext cx="2651760" cy="548640"/>
          </a:xfrm>
          <a:prstGeom prst="rect">
            <a:avLst/>
          </a:prstGeom>
          <a:noFill/>
          <a:ln/>
        </p:spPr>
        <p:txBody>
          <a:bodyPr wrap="square" lIns="0" tIns="0" rIns="0" bIns="0" rtlCol="0" anchor="ctr"/>
          <a:lstStyle/>
          <a:p>
            <a:pPr marL="0" indent="0" algn="ctr">
              <a:buNone/>
            </a:pPr>
            <a:r>
              <a:rPr lang="en-US" sz="2400" dirty="0">
                <a:solidFill>
                  <a:srgbClr val="000000"/>
                </a:solidFill>
              </a:rPr>
              <a:t>🎯</a:t>
            </a:r>
            <a:endParaRPr lang="en-US" sz="2400" dirty="0"/>
          </a:p>
        </p:txBody>
      </p:sp>
      <p:sp>
        <p:nvSpPr>
          <p:cNvPr id="8" name="Text 6"/>
          <p:cNvSpPr/>
          <p:nvPr/>
        </p:nvSpPr>
        <p:spPr>
          <a:xfrm>
            <a:off x="457200" y="2578608"/>
            <a:ext cx="2651760" cy="68580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Key Business Pain Points</a:t>
            </a:r>
            <a:endParaRPr lang="en-US" sz="1300" dirty="0"/>
          </a:p>
        </p:txBody>
      </p:sp>
      <p:sp>
        <p:nvSpPr>
          <p:cNvPr id="9" name="Shape 7"/>
          <p:cNvSpPr/>
          <p:nvPr/>
        </p:nvSpPr>
        <p:spPr>
          <a:xfrm>
            <a:off x="3291840" y="1920240"/>
            <a:ext cx="2651760" cy="1463040"/>
          </a:xfrm>
          <a:prstGeom prst="rect">
            <a:avLst/>
          </a:prstGeom>
          <a:solidFill>
            <a:srgbClr val="9333EA"/>
          </a:solidFill>
          <a:ln w="12700">
            <a:solidFill>
              <a:srgbClr val="9333EA"/>
            </a:solidFill>
            <a:prstDash val="solid"/>
          </a:ln>
          <a:effectLst>
            <a:outerShdw blurRad="101600" dist="38100" dir="8100000" algn="bl" rotWithShape="0">
              <a:srgbClr val="000000">
                <a:alpha val="12000"/>
              </a:srgbClr>
            </a:outerShdw>
          </a:effectLst>
        </p:spPr>
        <p:txBody>
          <a:bodyPr/>
          <a:lstStyle/>
          <a:p>
            <a:endParaRPr lang="en-US"/>
          </a:p>
        </p:txBody>
      </p:sp>
      <p:sp>
        <p:nvSpPr>
          <p:cNvPr id="10" name="Text 8"/>
          <p:cNvSpPr/>
          <p:nvPr/>
        </p:nvSpPr>
        <p:spPr>
          <a:xfrm>
            <a:off x="3291840" y="1993392"/>
            <a:ext cx="2651760" cy="548640"/>
          </a:xfrm>
          <a:prstGeom prst="rect">
            <a:avLst/>
          </a:prstGeom>
          <a:noFill/>
          <a:ln/>
        </p:spPr>
        <p:txBody>
          <a:bodyPr wrap="square" lIns="0" tIns="0" rIns="0" bIns="0" rtlCol="0" anchor="ctr"/>
          <a:lstStyle/>
          <a:p>
            <a:pPr marL="0" indent="0" algn="ctr">
              <a:buNone/>
            </a:pPr>
            <a:r>
              <a:rPr lang="en-US" sz="2400" dirty="0">
                <a:solidFill>
                  <a:srgbClr val="000000"/>
                </a:solidFill>
              </a:rPr>
              <a:t>⚙️</a:t>
            </a:r>
            <a:endParaRPr lang="en-US" sz="2400" dirty="0"/>
          </a:p>
        </p:txBody>
      </p:sp>
      <p:sp>
        <p:nvSpPr>
          <p:cNvPr id="11" name="Text 9"/>
          <p:cNvSpPr/>
          <p:nvPr/>
        </p:nvSpPr>
        <p:spPr>
          <a:xfrm>
            <a:off x="3291840" y="2578608"/>
            <a:ext cx="2651760" cy="68580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Operational Bottlenecks</a:t>
            </a:r>
            <a:endParaRPr lang="en-US" sz="1300" dirty="0"/>
          </a:p>
        </p:txBody>
      </p:sp>
      <p:sp>
        <p:nvSpPr>
          <p:cNvPr id="12" name="Shape 10"/>
          <p:cNvSpPr/>
          <p:nvPr/>
        </p:nvSpPr>
        <p:spPr>
          <a:xfrm>
            <a:off x="6126480" y="1920240"/>
            <a:ext cx="2651760" cy="1463040"/>
          </a:xfrm>
          <a:prstGeom prst="rect">
            <a:avLst/>
          </a:prstGeom>
          <a:solidFill>
            <a:srgbClr val="9333EA"/>
          </a:solidFill>
          <a:ln w="12700">
            <a:solidFill>
              <a:srgbClr val="9333EA"/>
            </a:solidFill>
            <a:prstDash val="solid"/>
          </a:ln>
          <a:effectLst>
            <a:outerShdw blurRad="101600" dist="38100" dir="8100000" algn="bl" rotWithShape="0">
              <a:srgbClr val="000000">
                <a:alpha val="12000"/>
              </a:srgbClr>
            </a:outerShdw>
          </a:effectLst>
        </p:spPr>
        <p:txBody>
          <a:bodyPr/>
          <a:lstStyle/>
          <a:p>
            <a:endParaRPr lang="en-US"/>
          </a:p>
        </p:txBody>
      </p:sp>
      <p:sp>
        <p:nvSpPr>
          <p:cNvPr id="13" name="Text 11"/>
          <p:cNvSpPr/>
          <p:nvPr/>
        </p:nvSpPr>
        <p:spPr>
          <a:xfrm>
            <a:off x="6126480" y="1993392"/>
            <a:ext cx="2651760" cy="548640"/>
          </a:xfrm>
          <a:prstGeom prst="rect">
            <a:avLst/>
          </a:prstGeom>
          <a:noFill/>
          <a:ln/>
        </p:spPr>
        <p:txBody>
          <a:bodyPr wrap="square" lIns="0" tIns="0" rIns="0" bIns="0" rtlCol="0" anchor="ctr"/>
          <a:lstStyle/>
          <a:p>
            <a:pPr marL="0" indent="0" algn="ctr">
              <a:buNone/>
            </a:pPr>
            <a:r>
              <a:rPr lang="en-US" sz="2400" dirty="0">
                <a:solidFill>
                  <a:srgbClr val="000000"/>
                </a:solidFill>
              </a:rPr>
              <a:t>🔁</a:t>
            </a:r>
            <a:endParaRPr lang="en-US" sz="2400" dirty="0"/>
          </a:p>
        </p:txBody>
      </p:sp>
      <p:sp>
        <p:nvSpPr>
          <p:cNvPr id="14" name="Text 12"/>
          <p:cNvSpPr/>
          <p:nvPr/>
        </p:nvSpPr>
        <p:spPr>
          <a:xfrm>
            <a:off x="6126480" y="2578608"/>
            <a:ext cx="2651760" cy="68580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Recurring Organizational Challenges</a:t>
            </a:r>
            <a:endParaRPr lang="en-US" sz="1300" dirty="0"/>
          </a:p>
        </p:txBody>
      </p:sp>
      <p:sp>
        <p:nvSpPr>
          <p:cNvPr id="15" name="Text 13"/>
          <p:cNvSpPr/>
          <p:nvPr/>
        </p:nvSpPr>
        <p:spPr>
          <a:xfrm>
            <a:off x="548640" y="3547872"/>
            <a:ext cx="7772400" cy="502920"/>
          </a:xfrm>
          <a:prstGeom prst="rect">
            <a:avLst/>
          </a:prstGeom>
          <a:noFill/>
          <a:ln/>
        </p:spPr>
        <p:txBody>
          <a:bodyPr wrap="square" rtlCol="0" anchor="ctr"/>
          <a:lstStyle/>
          <a:p>
            <a:pPr marL="0" indent="0" algn="ctr">
              <a:buNone/>
            </a:pPr>
            <a:r>
              <a:rPr lang="en-US" sz="1400" i="1" dirty="0">
                <a:solidFill>
                  <a:srgbClr val="C4B5FD"/>
                </a:solidFill>
                <a:latin typeface="Calibri" pitchFamily="34" charset="0"/>
                <a:ea typeface="Calibri" pitchFamily="34" charset="-122"/>
                <a:cs typeface="Calibri" pitchFamily="34" charset="-120"/>
              </a:rPr>
              <a:t>Giving leaders a clearer view of where the business needs attention.</a:t>
            </a:r>
            <a:endParaRPr lang="en-US" sz="1400" dirty="0"/>
          </a:p>
        </p:txBody>
      </p:sp>
      <p:sp>
        <p:nvSpPr>
          <p:cNvPr id="16" name="Shape 14"/>
          <p:cNvSpPr/>
          <p:nvPr/>
        </p:nvSpPr>
        <p:spPr>
          <a:xfrm>
            <a:off x="548640" y="4434840"/>
            <a:ext cx="8046720" cy="457200"/>
          </a:xfrm>
          <a:prstGeom prst="rect">
            <a:avLst/>
          </a:prstGeom>
          <a:solidFill>
            <a:srgbClr val="D97706"/>
          </a:solidFill>
          <a:ln w="12700">
            <a:solidFill>
              <a:srgbClr val="D97706"/>
            </a:solidFill>
            <a:prstDash val="solid"/>
          </a:ln>
        </p:spPr>
        <p:txBody>
          <a:bodyPr/>
          <a:lstStyle/>
          <a:p>
            <a:endParaRPr lang="en-US"/>
          </a:p>
        </p:txBody>
      </p:sp>
      <p:sp>
        <p:nvSpPr>
          <p:cNvPr id="17" name="Text 15"/>
          <p:cNvSpPr/>
          <p:nvPr/>
        </p:nvSpPr>
        <p:spPr>
          <a:xfrm>
            <a:off x="548640" y="4462272"/>
            <a:ext cx="8046720"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From operational data to strategic decisions.</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914400"/>
          </a:xfrm>
          <a:prstGeom prst="rect">
            <a:avLst/>
          </a:prstGeom>
        </p:spPr>
      </p:pic>
      <p:sp>
        <p:nvSpPr>
          <p:cNvPr id="3" name="Text 0"/>
          <p:cNvSpPr/>
          <p:nvPr/>
        </p:nvSpPr>
        <p:spPr>
          <a:xfrm>
            <a:off x="457200" y="109728"/>
            <a:ext cx="7772400" cy="804672"/>
          </a:xfrm>
          <a:prstGeom prst="rect">
            <a:avLst/>
          </a:prstGeom>
          <a:noFill/>
          <a:ln/>
        </p:spPr>
        <p:txBody>
          <a:bodyPr wrap="square" lIns="0" tIns="0" rIns="0" bIns="0" rtlCol="0" anchor="ctr"/>
          <a:lstStyle/>
          <a:p>
            <a:pPr marL="0" indent="0" algn="l">
              <a:buNone/>
            </a:pPr>
            <a:r>
              <a:rPr lang="en-US" sz="2600" b="1" dirty="0">
                <a:solidFill>
                  <a:srgbClr val="FFFFFF"/>
                </a:solidFill>
                <a:latin typeface="Calibri" pitchFamily="34" charset="0"/>
                <a:ea typeface="Calibri" pitchFamily="34" charset="-122"/>
                <a:cs typeface="Calibri" pitchFamily="34" charset="-120"/>
              </a:rPr>
              <a:t>A Real-Time Strategic Feedback Loop</a:t>
            </a:r>
            <a:endParaRPr lang="en-US" sz="2600" dirty="0"/>
          </a:p>
        </p:txBody>
      </p:sp>
      <p:sp>
        <p:nvSpPr>
          <p:cNvPr id="4" name="Text 1"/>
          <p:cNvSpPr/>
          <p:nvPr/>
        </p:nvSpPr>
        <p:spPr>
          <a:xfrm>
            <a:off x="457200" y="1005840"/>
            <a:ext cx="8229600" cy="384048"/>
          </a:xfrm>
          <a:prstGeom prst="rect">
            <a:avLst/>
          </a:prstGeom>
          <a:noFill/>
          <a:ln/>
        </p:spPr>
        <p:txBody>
          <a:bodyPr wrap="square" rtlCol="0" anchor="ctr"/>
          <a:lstStyle/>
          <a:p>
            <a:pPr marL="0" indent="0">
              <a:buNone/>
            </a:pPr>
            <a:r>
              <a:rPr lang="en-US" sz="1300" i="1" dirty="0">
                <a:solidFill>
                  <a:srgbClr val="1F2937"/>
                </a:solidFill>
                <a:latin typeface="Calibri" pitchFamily="34" charset="0"/>
                <a:ea typeface="Calibri" pitchFamily="34" charset="-122"/>
                <a:cs typeface="Calibri" pitchFamily="34" charset="-120"/>
              </a:rPr>
              <a:t>Daily experiences captured across the organization help leadership:</a:t>
            </a:r>
            <a:endParaRPr lang="en-US" sz="1300" dirty="0"/>
          </a:p>
        </p:txBody>
      </p:sp>
      <p:sp>
        <p:nvSpPr>
          <p:cNvPr id="5" name="Shape 2"/>
          <p:cNvSpPr/>
          <p:nvPr/>
        </p:nvSpPr>
        <p:spPr>
          <a:xfrm>
            <a:off x="365760" y="1536192"/>
            <a:ext cx="8412480" cy="713232"/>
          </a:xfrm>
          <a:prstGeom prst="rect">
            <a:avLst/>
          </a:prstGeom>
          <a:solidFill>
            <a:srgbClr val="9333EA"/>
          </a:solidFill>
          <a:ln w="12700">
            <a:solidFill>
              <a:srgbClr val="9333EA"/>
            </a:solidFill>
            <a:prstDash val="solid"/>
          </a:ln>
          <a:effectLst>
            <a:outerShdw blurRad="101600" dist="38100" dir="8100000" algn="bl" rotWithShape="0">
              <a:srgbClr val="000000">
                <a:alpha val="12000"/>
              </a:srgbClr>
            </a:outerShdw>
          </a:effectLst>
        </p:spPr>
        <p:txBody>
          <a:bodyPr/>
          <a:lstStyle/>
          <a:p>
            <a:endParaRPr lang="en-US"/>
          </a:p>
        </p:txBody>
      </p:sp>
      <p:sp>
        <p:nvSpPr>
          <p:cNvPr id="6" name="Text 3"/>
          <p:cNvSpPr/>
          <p:nvPr/>
        </p:nvSpPr>
        <p:spPr>
          <a:xfrm>
            <a:off x="548640" y="1572768"/>
            <a:ext cx="8046720" cy="640080"/>
          </a:xfrm>
          <a:prstGeom prst="rect">
            <a:avLst/>
          </a:prstGeom>
          <a:noFill/>
          <a:ln/>
        </p:spPr>
        <p:txBody>
          <a:bodyPr wrap="square" lIns="0" tIns="0" rIns="0" bIns="0" rtlCol="0" anchor="ctr"/>
          <a:lstStyle/>
          <a:p>
            <a:r>
              <a:rPr lang="en-US" sz="1500" b="1" dirty="0">
                <a:solidFill>
                  <a:srgbClr val="FFFFFF"/>
                </a:solidFill>
                <a:latin typeface="Calibri" pitchFamily="34" charset="0"/>
                <a:ea typeface="Calibri" pitchFamily="34" charset="-122"/>
                <a:cs typeface="Calibri" pitchFamily="34" charset="-120"/>
              </a:rPr>
              <a:t>1. </a:t>
            </a:r>
            <a:r>
              <a:rPr lang="en-US" sz="1500" b="1" dirty="0">
                <a:solidFill>
                  <a:srgbClr val="FFFFFF"/>
                </a:solidFill>
                <a:latin typeface="Calibri" pitchFamily="34" charset="0"/>
                <a:cs typeface="Calibri" pitchFamily="34" charset="-120"/>
              </a:rPr>
              <a:t>Detect emerging problems in real time — as they occur</a:t>
            </a:r>
            <a:endParaRPr lang="en-US" sz="1500" dirty="0"/>
          </a:p>
        </p:txBody>
      </p:sp>
      <p:sp>
        <p:nvSpPr>
          <p:cNvPr id="7" name="Shape 4"/>
          <p:cNvSpPr/>
          <p:nvPr/>
        </p:nvSpPr>
        <p:spPr>
          <a:xfrm>
            <a:off x="365760" y="2404872"/>
            <a:ext cx="8412480" cy="713232"/>
          </a:xfrm>
          <a:prstGeom prst="rect">
            <a:avLst/>
          </a:prstGeom>
          <a:solidFill>
            <a:srgbClr val="2563EB"/>
          </a:solidFill>
          <a:ln w="12700">
            <a:solidFill>
              <a:srgbClr val="2563EB"/>
            </a:solidFill>
            <a:prstDash val="solid"/>
          </a:ln>
          <a:effectLst>
            <a:outerShdw blurRad="101600" dist="38100" dir="8100000" algn="bl" rotWithShape="0">
              <a:srgbClr val="000000">
                <a:alpha val="12000"/>
              </a:srgbClr>
            </a:outerShdw>
          </a:effectLst>
        </p:spPr>
        <p:txBody>
          <a:bodyPr/>
          <a:lstStyle/>
          <a:p>
            <a:endParaRPr lang="en-US"/>
          </a:p>
        </p:txBody>
      </p:sp>
      <p:sp>
        <p:nvSpPr>
          <p:cNvPr id="8" name="Text 5"/>
          <p:cNvSpPr/>
          <p:nvPr/>
        </p:nvSpPr>
        <p:spPr>
          <a:xfrm>
            <a:off x="548640" y="2441448"/>
            <a:ext cx="8046720" cy="640080"/>
          </a:xfrm>
          <a:prstGeom prst="rect">
            <a:avLst/>
          </a:prstGeom>
          <a:noFill/>
          <a:ln/>
        </p:spPr>
        <p:txBody>
          <a:bodyPr wrap="square" lIns="0" tIns="0" rIns="0" bIns="0" rtlCol="0" anchor="ctr"/>
          <a:lstStyle/>
          <a:p>
            <a:r>
              <a:rPr lang="en-US" sz="1500" b="1" dirty="0">
                <a:solidFill>
                  <a:srgbClr val="FFFFFF"/>
                </a:solidFill>
                <a:latin typeface="Calibri" pitchFamily="34" charset="0"/>
                <a:cs typeface="Calibri" pitchFamily="34" charset="-120"/>
              </a:rPr>
              <a:t>2. React immediately by prioritizing the right improvement efforts</a:t>
            </a:r>
          </a:p>
        </p:txBody>
      </p:sp>
      <p:sp>
        <p:nvSpPr>
          <p:cNvPr id="9" name="Shape 6"/>
          <p:cNvSpPr/>
          <p:nvPr/>
        </p:nvSpPr>
        <p:spPr>
          <a:xfrm>
            <a:off x="365760" y="3273552"/>
            <a:ext cx="8412480" cy="713232"/>
          </a:xfrm>
          <a:prstGeom prst="rect">
            <a:avLst/>
          </a:prstGeom>
          <a:solidFill>
            <a:srgbClr val="16A34A"/>
          </a:solidFill>
          <a:ln w="12700">
            <a:solidFill>
              <a:srgbClr val="16A34A"/>
            </a:solidFill>
            <a:prstDash val="solid"/>
          </a:ln>
          <a:effectLst>
            <a:outerShdw blurRad="101600" dist="38100" dir="8100000" algn="bl" rotWithShape="0">
              <a:srgbClr val="000000">
                <a:alpha val="12000"/>
              </a:srgbClr>
            </a:outerShdw>
          </a:effectLst>
        </p:spPr>
        <p:txBody>
          <a:bodyPr/>
          <a:lstStyle/>
          <a:p>
            <a:endParaRPr lang="en-US"/>
          </a:p>
        </p:txBody>
      </p:sp>
      <p:sp>
        <p:nvSpPr>
          <p:cNvPr id="10" name="Text 7"/>
          <p:cNvSpPr/>
          <p:nvPr/>
        </p:nvSpPr>
        <p:spPr>
          <a:xfrm>
            <a:off x="548640" y="3310128"/>
            <a:ext cx="8046720" cy="640080"/>
          </a:xfrm>
          <a:prstGeom prst="rect">
            <a:avLst/>
          </a:prstGeom>
          <a:noFill/>
          <a:ln/>
        </p:spPr>
        <p:txBody>
          <a:bodyPr wrap="square" lIns="0" tIns="0" rIns="0" bIns="0" rtlCol="0" anchor="ctr"/>
          <a:lstStyle/>
          <a:p>
            <a:r>
              <a:rPr lang="en-US" sz="1500" b="1" dirty="0">
                <a:solidFill>
                  <a:srgbClr val="FFFFFF"/>
                </a:solidFill>
                <a:latin typeface="Calibri" pitchFamily="34" charset="0"/>
                <a:cs typeface="Calibri" pitchFamily="34" charset="-120"/>
              </a:rPr>
              <a:t>3. Rapidly adapt strategies in real time to respond to operational challenges</a:t>
            </a:r>
          </a:p>
        </p:txBody>
      </p:sp>
      <p:sp>
        <p:nvSpPr>
          <p:cNvPr id="11" name="Shape 8"/>
          <p:cNvSpPr/>
          <p:nvPr/>
        </p:nvSpPr>
        <p:spPr>
          <a:xfrm>
            <a:off x="0" y="4315968"/>
            <a:ext cx="9144000" cy="845820"/>
          </a:xfrm>
          <a:prstGeom prst="rect">
            <a:avLst/>
          </a:prstGeom>
          <a:solidFill>
            <a:srgbClr val="1E2E5C"/>
          </a:solidFill>
          <a:ln w="12700">
            <a:solidFill>
              <a:srgbClr val="1E2E5C"/>
            </a:solidFill>
            <a:prstDash val="solid"/>
          </a:ln>
        </p:spPr>
        <p:txBody>
          <a:bodyPr/>
          <a:lstStyle/>
          <a:p>
            <a:endParaRPr lang="en-US"/>
          </a:p>
        </p:txBody>
      </p:sp>
      <p:sp>
        <p:nvSpPr>
          <p:cNvPr id="12" name="Text 9"/>
          <p:cNvSpPr/>
          <p:nvPr/>
        </p:nvSpPr>
        <p:spPr>
          <a:xfrm>
            <a:off x="457200" y="4389120"/>
            <a:ext cx="8229600" cy="754380"/>
          </a:xfrm>
          <a:prstGeom prst="rect">
            <a:avLst/>
          </a:prstGeom>
          <a:noFill/>
          <a:ln/>
        </p:spPr>
        <p:txBody>
          <a:bodyPr wrap="square" rtlCol="0" anchor="ctr"/>
          <a:lstStyle/>
          <a:p>
            <a:pPr algn="ctr"/>
            <a:r>
              <a:rPr lang="en-US" sz="1600" b="1" dirty="0">
                <a:solidFill>
                  <a:srgbClr val="D97706"/>
                </a:solidFill>
                <a:latin typeface="Calibri" pitchFamily="34" charset="0"/>
                <a:cs typeface="Calibri" pitchFamily="34" charset="-120"/>
              </a:rPr>
              <a:t>Turning real-time operational experience into actionable strategic intelligence.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1E2E5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914400"/>
          </a:xfrm>
          <a:prstGeom prst="rect">
            <a:avLst/>
          </a:prstGeom>
        </p:spPr>
      </p:pic>
      <p:sp>
        <p:nvSpPr>
          <p:cNvPr id="3" name="Text 0"/>
          <p:cNvSpPr/>
          <p:nvPr/>
        </p:nvSpPr>
        <p:spPr>
          <a:xfrm>
            <a:off x="457200" y="109728"/>
            <a:ext cx="7772400" cy="804672"/>
          </a:xfrm>
          <a:prstGeom prst="rect">
            <a:avLst/>
          </a:prstGeom>
          <a:noFill/>
          <a:ln/>
        </p:spPr>
        <p:txBody>
          <a:bodyPr wrap="square" lIns="0" tIns="0" rIns="0" bIns="0" rtlCol="0" anchor="ctr"/>
          <a:lstStyle/>
          <a:p>
            <a:pPr marL="0" indent="0" algn="l">
              <a:buNone/>
            </a:pPr>
            <a:r>
              <a:rPr lang="en-US" sz="2600" b="1" dirty="0">
                <a:solidFill>
                  <a:srgbClr val="FFFFFF"/>
                </a:solidFill>
                <a:latin typeface="Calibri" pitchFamily="34" charset="0"/>
                <a:ea typeface="Calibri" pitchFamily="34" charset="-122"/>
                <a:cs typeface="Calibri" pitchFamily="34" charset="-120"/>
              </a:rPr>
              <a:t>Reports &amp; Analytics</a:t>
            </a:r>
            <a:endParaRPr lang="en-US" sz="2600" dirty="0"/>
          </a:p>
        </p:txBody>
      </p:sp>
      <p:sp>
        <p:nvSpPr>
          <p:cNvPr id="4" name="Text 1"/>
          <p:cNvSpPr/>
          <p:nvPr/>
        </p:nvSpPr>
        <p:spPr>
          <a:xfrm>
            <a:off x="457200" y="1005840"/>
            <a:ext cx="8229600" cy="384048"/>
          </a:xfrm>
          <a:prstGeom prst="rect">
            <a:avLst/>
          </a:prstGeom>
          <a:noFill/>
          <a:ln/>
        </p:spPr>
        <p:txBody>
          <a:bodyPr wrap="square" rtlCol="0" anchor="ctr"/>
          <a:lstStyle/>
          <a:p>
            <a:pPr marL="0" indent="0">
              <a:buNone/>
            </a:pPr>
            <a:r>
              <a:rPr lang="en-US" sz="1300" i="1" dirty="0">
                <a:solidFill>
                  <a:srgbClr val="FFFFFF"/>
                </a:solidFill>
                <a:latin typeface="Calibri" pitchFamily="34" charset="0"/>
                <a:ea typeface="Calibri" pitchFamily="34" charset="-122"/>
                <a:cs typeface="Calibri" pitchFamily="34" charset="-120"/>
              </a:rPr>
              <a:t>WhatIDid provides reports that help organizations understand:</a:t>
            </a:r>
            <a:endParaRPr lang="en-US" sz="1300" dirty="0"/>
          </a:p>
        </p:txBody>
      </p:sp>
      <p:sp>
        <p:nvSpPr>
          <p:cNvPr id="21" name="Shape 18"/>
          <p:cNvSpPr/>
          <p:nvPr/>
        </p:nvSpPr>
        <p:spPr>
          <a:xfrm>
            <a:off x="0" y="4709160"/>
            <a:ext cx="9144000" cy="434340"/>
          </a:xfrm>
          <a:prstGeom prst="rect">
            <a:avLst/>
          </a:prstGeom>
          <a:solidFill>
            <a:srgbClr val="D97706"/>
          </a:solidFill>
          <a:ln w="12700">
            <a:solidFill>
              <a:srgbClr val="D97706"/>
            </a:solidFill>
            <a:prstDash val="solid"/>
          </a:ln>
        </p:spPr>
        <p:txBody>
          <a:bodyPr/>
          <a:lstStyle/>
          <a:p>
            <a:endParaRPr lang="en-US"/>
          </a:p>
        </p:txBody>
      </p:sp>
      <p:sp>
        <p:nvSpPr>
          <p:cNvPr id="22" name="Text 19"/>
          <p:cNvSpPr/>
          <p:nvPr/>
        </p:nvSpPr>
        <p:spPr>
          <a:xfrm>
            <a:off x="365760" y="4745736"/>
            <a:ext cx="841248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Transforming individual experiences into actionable business insights.</a:t>
            </a:r>
            <a:endParaRPr lang="en-US" sz="1200" dirty="0"/>
          </a:p>
        </p:txBody>
      </p:sp>
      <p:sp>
        <p:nvSpPr>
          <p:cNvPr id="23" name="Shape 2">
            <a:extLst>
              <a:ext uri="{FF2B5EF4-FFF2-40B4-BE49-F238E27FC236}">
                <a16:creationId xmlns:a16="http://schemas.microsoft.com/office/drawing/2014/main" id="{0FFC054E-EBE7-1CF6-05D5-95EC398403D6}"/>
              </a:ext>
            </a:extLst>
          </p:cNvPr>
          <p:cNvSpPr/>
          <p:nvPr/>
        </p:nvSpPr>
        <p:spPr>
          <a:xfrm>
            <a:off x="208448" y="1536192"/>
            <a:ext cx="4251960" cy="1371600"/>
          </a:xfrm>
          <a:prstGeom prst="rect">
            <a:avLst/>
          </a:prstGeom>
          <a:solidFill>
            <a:srgbClr val="FFFFFF"/>
          </a:solidFill>
          <a:ln w="12700">
            <a:solidFill>
              <a:srgbClr val="E9D5FF"/>
            </a:solidFill>
            <a:prstDash val="solid"/>
          </a:ln>
          <a:effectLst>
            <a:outerShdw blurRad="50800" dist="25400" dir="27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Shape 3">
            <a:extLst>
              <a:ext uri="{FF2B5EF4-FFF2-40B4-BE49-F238E27FC236}">
                <a16:creationId xmlns:a16="http://schemas.microsoft.com/office/drawing/2014/main" id="{BC381064-9890-F3EF-547B-6C37DB7095B1}"/>
              </a:ext>
            </a:extLst>
          </p:cNvPr>
          <p:cNvSpPr/>
          <p:nvPr/>
        </p:nvSpPr>
        <p:spPr>
          <a:xfrm>
            <a:off x="208448" y="1536192"/>
            <a:ext cx="91440" cy="1371600"/>
          </a:xfrm>
          <a:prstGeom prst="rect">
            <a:avLst/>
          </a:prstGeom>
          <a:solidFill>
            <a:srgbClr val="9333EA"/>
          </a:solidFill>
          <a:ln w="12700">
            <a:solidFill>
              <a:srgbClr val="9333E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Text 4">
            <a:extLst>
              <a:ext uri="{FF2B5EF4-FFF2-40B4-BE49-F238E27FC236}">
                <a16:creationId xmlns:a16="http://schemas.microsoft.com/office/drawing/2014/main" id="{8243717C-EAC6-7D97-8FAF-528FC95C933E}"/>
              </a:ext>
            </a:extLst>
          </p:cNvPr>
          <p:cNvSpPr/>
          <p:nvPr/>
        </p:nvSpPr>
        <p:spPr>
          <a:xfrm>
            <a:off x="391328" y="1627632"/>
            <a:ext cx="22860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9333EA"/>
                </a:solidFill>
                <a:effectLst/>
                <a:uLnTx/>
                <a:uFillTx/>
                <a:latin typeface="Calibri" pitchFamily="34" charset="0"/>
                <a:ea typeface="Calibri" pitchFamily="34" charset="-122"/>
                <a:cs typeface="Calibri" pitchFamily="34" charset="-120"/>
              </a:rPr>
              <a:t>Problem Distribution</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5">
            <a:extLst>
              <a:ext uri="{FF2B5EF4-FFF2-40B4-BE49-F238E27FC236}">
                <a16:creationId xmlns:a16="http://schemas.microsoft.com/office/drawing/2014/main" id="{D772853B-2EDF-5D47-B0FA-14D438F6C78E}"/>
              </a:ext>
            </a:extLst>
          </p:cNvPr>
          <p:cNvSpPr/>
          <p:nvPr/>
        </p:nvSpPr>
        <p:spPr>
          <a:xfrm>
            <a:off x="391328" y="1920240"/>
            <a:ext cx="2286000" cy="20116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By business area</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27" name="Chart 0">
            <a:extLst>
              <a:ext uri="{FF2B5EF4-FFF2-40B4-BE49-F238E27FC236}">
                <a16:creationId xmlns:a16="http://schemas.microsoft.com/office/drawing/2014/main" id="{692C74FE-DBB5-1053-E011-DCCCE3B9AF20}"/>
              </a:ext>
            </a:extLst>
          </p:cNvPr>
          <p:cNvGraphicFramePr/>
          <p:nvPr>
            <p:extLst>
              <p:ext uri="{D42A27DB-BD31-4B8C-83A1-F6EECF244321}">
                <p14:modId xmlns:p14="http://schemas.microsoft.com/office/powerpoint/2010/main" val="4047094716"/>
              </p:ext>
            </p:extLst>
          </p:nvPr>
        </p:nvGraphicFramePr>
        <p:xfrm>
          <a:off x="2585888" y="1627632"/>
          <a:ext cx="1783080" cy="1188720"/>
        </p:xfrm>
        <a:graphic>
          <a:graphicData uri="http://schemas.openxmlformats.org/drawingml/2006/chart">
            <c:chart xmlns:c="http://schemas.openxmlformats.org/drawingml/2006/chart" xmlns:r="http://schemas.openxmlformats.org/officeDocument/2006/relationships" r:id="rId4"/>
          </a:graphicData>
        </a:graphic>
      </p:graphicFrame>
      <p:sp>
        <p:nvSpPr>
          <p:cNvPr id="28" name="Shape 6">
            <a:extLst>
              <a:ext uri="{FF2B5EF4-FFF2-40B4-BE49-F238E27FC236}">
                <a16:creationId xmlns:a16="http://schemas.microsoft.com/office/drawing/2014/main" id="{2627EDA9-449A-5AA6-54FD-30EED50F2080}"/>
              </a:ext>
            </a:extLst>
          </p:cNvPr>
          <p:cNvSpPr/>
          <p:nvPr/>
        </p:nvSpPr>
        <p:spPr>
          <a:xfrm>
            <a:off x="4689008" y="1536192"/>
            <a:ext cx="4251960" cy="1371600"/>
          </a:xfrm>
          <a:prstGeom prst="rect">
            <a:avLst/>
          </a:prstGeom>
          <a:solidFill>
            <a:srgbClr val="FFFFFF"/>
          </a:solidFill>
          <a:ln w="12700">
            <a:solidFill>
              <a:srgbClr val="E9D5FF"/>
            </a:solidFill>
            <a:prstDash val="solid"/>
          </a:ln>
          <a:effectLst>
            <a:outerShdw blurRad="50800" dist="25400" dir="27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Shape 7">
            <a:extLst>
              <a:ext uri="{FF2B5EF4-FFF2-40B4-BE49-F238E27FC236}">
                <a16:creationId xmlns:a16="http://schemas.microsoft.com/office/drawing/2014/main" id="{74F7C426-7A2E-973F-A7D0-CB4A01705E28}"/>
              </a:ext>
            </a:extLst>
          </p:cNvPr>
          <p:cNvSpPr/>
          <p:nvPr/>
        </p:nvSpPr>
        <p:spPr>
          <a:xfrm>
            <a:off x="4689008" y="1536192"/>
            <a:ext cx="91440" cy="1371600"/>
          </a:xfrm>
          <a:prstGeom prst="rect">
            <a:avLst/>
          </a:prstGeom>
          <a:solidFill>
            <a:srgbClr val="2563EB"/>
          </a:solidFill>
          <a:ln w="12700">
            <a:solidFill>
              <a:srgbClr val="2563E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Text 8">
            <a:extLst>
              <a:ext uri="{FF2B5EF4-FFF2-40B4-BE49-F238E27FC236}">
                <a16:creationId xmlns:a16="http://schemas.microsoft.com/office/drawing/2014/main" id="{7ACA7E91-F1C4-ECEC-39AA-4AEA2E3CCEBF}"/>
              </a:ext>
            </a:extLst>
          </p:cNvPr>
          <p:cNvSpPr/>
          <p:nvPr/>
        </p:nvSpPr>
        <p:spPr>
          <a:xfrm>
            <a:off x="4871888" y="1627632"/>
            <a:ext cx="22860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2563EB"/>
                </a:solidFill>
                <a:effectLst/>
                <a:uLnTx/>
                <a:uFillTx/>
                <a:latin typeface="Calibri" pitchFamily="34" charset="0"/>
                <a:ea typeface="Calibri" pitchFamily="34" charset="-122"/>
                <a:cs typeface="Calibri" pitchFamily="34" charset="-120"/>
              </a:rPr>
              <a:t>Recurring Issues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Text 9">
            <a:extLst>
              <a:ext uri="{FF2B5EF4-FFF2-40B4-BE49-F238E27FC236}">
                <a16:creationId xmlns:a16="http://schemas.microsoft.com/office/drawing/2014/main" id="{5FFB45DC-7439-100E-9F9C-6BC6D67DD970}"/>
              </a:ext>
            </a:extLst>
          </p:cNvPr>
          <p:cNvSpPr/>
          <p:nvPr/>
        </p:nvSpPr>
        <p:spPr>
          <a:xfrm>
            <a:off x="4871888" y="1920240"/>
            <a:ext cx="2286000" cy="20116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Across the organization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Shape 10">
            <a:extLst>
              <a:ext uri="{FF2B5EF4-FFF2-40B4-BE49-F238E27FC236}">
                <a16:creationId xmlns:a16="http://schemas.microsoft.com/office/drawing/2014/main" id="{F4962DDC-2CC6-97E5-6947-73ED5C04B6F1}"/>
              </a:ext>
            </a:extLst>
          </p:cNvPr>
          <p:cNvSpPr/>
          <p:nvPr/>
        </p:nvSpPr>
        <p:spPr>
          <a:xfrm>
            <a:off x="7249328" y="1772760"/>
            <a:ext cx="1508760" cy="128016"/>
          </a:xfrm>
          <a:prstGeom prst="rect">
            <a:avLst/>
          </a:prstGeom>
          <a:solidFill>
            <a:srgbClr val="F0F0F0"/>
          </a:solidFill>
          <a:ln w="12700">
            <a:solidFill>
              <a:srgbClr val="F0F0F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Shape 11">
            <a:extLst>
              <a:ext uri="{FF2B5EF4-FFF2-40B4-BE49-F238E27FC236}">
                <a16:creationId xmlns:a16="http://schemas.microsoft.com/office/drawing/2014/main" id="{EB2A8B6A-9F85-0FAD-1963-5E8CB438CF8E}"/>
              </a:ext>
            </a:extLst>
          </p:cNvPr>
          <p:cNvSpPr/>
          <p:nvPr/>
        </p:nvSpPr>
        <p:spPr>
          <a:xfrm>
            <a:off x="7249328" y="1772760"/>
            <a:ext cx="1282446" cy="128016"/>
          </a:xfrm>
          <a:prstGeom prst="rect">
            <a:avLst/>
          </a:prstGeom>
          <a:solidFill>
            <a:srgbClr val="9333EA"/>
          </a:solidFill>
          <a:ln w="12700">
            <a:solidFill>
              <a:srgbClr val="9333E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Shape 12">
            <a:extLst>
              <a:ext uri="{FF2B5EF4-FFF2-40B4-BE49-F238E27FC236}">
                <a16:creationId xmlns:a16="http://schemas.microsoft.com/office/drawing/2014/main" id="{0ED518F8-974E-6B0A-E2E3-664E0005719C}"/>
              </a:ext>
            </a:extLst>
          </p:cNvPr>
          <p:cNvSpPr/>
          <p:nvPr/>
        </p:nvSpPr>
        <p:spPr>
          <a:xfrm>
            <a:off x="7249328" y="1964784"/>
            <a:ext cx="1508760" cy="128016"/>
          </a:xfrm>
          <a:prstGeom prst="rect">
            <a:avLst/>
          </a:prstGeom>
          <a:solidFill>
            <a:srgbClr val="F0F0F0"/>
          </a:solidFill>
          <a:ln w="12700">
            <a:solidFill>
              <a:srgbClr val="F0F0F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Shape 13">
            <a:extLst>
              <a:ext uri="{FF2B5EF4-FFF2-40B4-BE49-F238E27FC236}">
                <a16:creationId xmlns:a16="http://schemas.microsoft.com/office/drawing/2014/main" id="{7CD645C3-EEB0-012F-3069-2EA339D219D6}"/>
              </a:ext>
            </a:extLst>
          </p:cNvPr>
          <p:cNvSpPr/>
          <p:nvPr/>
        </p:nvSpPr>
        <p:spPr>
          <a:xfrm>
            <a:off x="7249328" y="1964784"/>
            <a:ext cx="1056132" cy="128016"/>
          </a:xfrm>
          <a:prstGeom prst="rect">
            <a:avLst/>
          </a:prstGeom>
          <a:solidFill>
            <a:srgbClr val="2563EB"/>
          </a:solidFill>
          <a:ln w="12700">
            <a:solidFill>
              <a:srgbClr val="2563E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Shape 14">
            <a:extLst>
              <a:ext uri="{FF2B5EF4-FFF2-40B4-BE49-F238E27FC236}">
                <a16:creationId xmlns:a16="http://schemas.microsoft.com/office/drawing/2014/main" id="{25777BB3-54CB-B8C1-FE59-B2D5F74C3CC9}"/>
              </a:ext>
            </a:extLst>
          </p:cNvPr>
          <p:cNvSpPr/>
          <p:nvPr/>
        </p:nvSpPr>
        <p:spPr>
          <a:xfrm>
            <a:off x="7249328" y="2156808"/>
            <a:ext cx="1508760" cy="128016"/>
          </a:xfrm>
          <a:prstGeom prst="rect">
            <a:avLst/>
          </a:prstGeom>
          <a:solidFill>
            <a:srgbClr val="F0F0F0"/>
          </a:solidFill>
          <a:ln w="12700">
            <a:solidFill>
              <a:srgbClr val="F0F0F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Shape 15">
            <a:extLst>
              <a:ext uri="{FF2B5EF4-FFF2-40B4-BE49-F238E27FC236}">
                <a16:creationId xmlns:a16="http://schemas.microsoft.com/office/drawing/2014/main" id="{4C111054-9BBF-32A5-1691-DA86D69B6BB3}"/>
              </a:ext>
            </a:extLst>
          </p:cNvPr>
          <p:cNvSpPr/>
          <p:nvPr/>
        </p:nvSpPr>
        <p:spPr>
          <a:xfrm>
            <a:off x="7249328" y="2156808"/>
            <a:ext cx="905256" cy="128016"/>
          </a:xfrm>
          <a:prstGeom prst="rect">
            <a:avLst/>
          </a:prstGeom>
          <a:solidFill>
            <a:srgbClr val="1E2E5C"/>
          </a:solidFill>
          <a:ln w="12700">
            <a:solidFill>
              <a:srgbClr val="1E2E5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Shape 16">
            <a:extLst>
              <a:ext uri="{FF2B5EF4-FFF2-40B4-BE49-F238E27FC236}">
                <a16:creationId xmlns:a16="http://schemas.microsoft.com/office/drawing/2014/main" id="{D151896E-1734-B9CE-80DE-89C7BC23A3F3}"/>
              </a:ext>
            </a:extLst>
          </p:cNvPr>
          <p:cNvSpPr/>
          <p:nvPr/>
        </p:nvSpPr>
        <p:spPr>
          <a:xfrm>
            <a:off x="7249328" y="2348832"/>
            <a:ext cx="1508760" cy="128016"/>
          </a:xfrm>
          <a:prstGeom prst="rect">
            <a:avLst/>
          </a:prstGeom>
          <a:solidFill>
            <a:srgbClr val="F0F0F0"/>
          </a:solidFill>
          <a:ln w="12700">
            <a:solidFill>
              <a:srgbClr val="F0F0F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Shape 17">
            <a:extLst>
              <a:ext uri="{FF2B5EF4-FFF2-40B4-BE49-F238E27FC236}">
                <a16:creationId xmlns:a16="http://schemas.microsoft.com/office/drawing/2014/main" id="{9103F0CC-B7BA-A9DB-5689-A017E4D5F938}"/>
              </a:ext>
            </a:extLst>
          </p:cNvPr>
          <p:cNvSpPr/>
          <p:nvPr/>
        </p:nvSpPr>
        <p:spPr>
          <a:xfrm>
            <a:off x="7249328" y="2348832"/>
            <a:ext cx="754380" cy="128016"/>
          </a:xfrm>
          <a:prstGeom prst="rect">
            <a:avLst/>
          </a:prstGeom>
          <a:solidFill>
            <a:srgbClr val="34D399"/>
          </a:solidFill>
          <a:ln w="12700">
            <a:solidFill>
              <a:srgbClr val="34D39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Shape 18">
            <a:extLst>
              <a:ext uri="{FF2B5EF4-FFF2-40B4-BE49-F238E27FC236}">
                <a16:creationId xmlns:a16="http://schemas.microsoft.com/office/drawing/2014/main" id="{FB8BBA95-B1E6-DE41-2683-1FD7C2C72997}"/>
              </a:ext>
            </a:extLst>
          </p:cNvPr>
          <p:cNvSpPr/>
          <p:nvPr/>
        </p:nvSpPr>
        <p:spPr>
          <a:xfrm>
            <a:off x="7249328" y="2540856"/>
            <a:ext cx="1508760" cy="128016"/>
          </a:xfrm>
          <a:prstGeom prst="rect">
            <a:avLst/>
          </a:prstGeom>
          <a:solidFill>
            <a:srgbClr val="F0F0F0"/>
          </a:solidFill>
          <a:ln w="12700">
            <a:solidFill>
              <a:srgbClr val="F0F0F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Shape 19">
            <a:extLst>
              <a:ext uri="{FF2B5EF4-FFF2-40B4-BE49-F238E27FC236}">
                <a16:creationId xmlns:a16="http://schemas.microsoft.com/office/drawing/2014/main" id="{C5DC48B6-4AB2-E421-3572-7F38F0C3E611}"/>
              </a:ext>
            </a:extLst>
          </p:cNvPr>
          <p:cNvSpPr/>
          <p:nvPr/>
        </p:nvSpPr>
        <p:spPr>
          <a:xfrm>
            <a:off x="7249328" y="2540856"/>
            <a:ext cx="573329" cy="128016"/>
          </a:xfrm>
          <a:prstGeom prst="rect">
            <a:avLst/>
          </a:prstGeom>
          <a:solidFill>
            <a:srgbClr val="D97706"/>
          </a:solidFill>
          <a:ln w="12700">
            <a:solidFill>
              <a:srgbClr val="D9770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Shape 20">
            <a:extLst>
              <a:ext uri="{FF2B5EF4-FFF2-40B4-BE49-F238E27FC236}">
                <a16:creationId xmlns:a16="http://schemas.microsoft.com/office/drawing/2014/main" id="{608A2648-363D-0C02-D52C-BA8B7255A5B3}"/>
              </a:ext>
            </a:extLst>
          </p:cNvPr>
          <p:cNvSpPr/>
          <p:nvPr/>
        </p:nvSpPr>
        <p:spPr>
          <a:xfrm>
            <a:off x="208448" y="3090672"/>
            <a:ext cx="4251960" cy="1371600"/>
          </a:xfrm>
          <a:prstGeom prst="rect">
            <a:avLst/>
          </a:prstGeom>
          <a:solidFill>
            <a:srgbClr val="FFFFFF"/>
          </a:solidFill>
          <a:ln w="12700">
            <a:solidFill>
              <a:srgbClr val="E9D5FF"/>
            </a:solidFill>
            <a:prstDash val="solid"/>
          </a:ln>
          <a:effectLst>
            <a:outerShdw blurRad="50800" dist="25400" dir="27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Shape 21">
            <a:extLst>
              <a:ext uri="{FF2B5EF4-FFF2-40B4-BE49-F238E27FC236}">
                <a16:creationId xmlns:a16="http://schemas.microsoft.com/office/drawing/2014/main" id="{9738AEEB-6A8E-C3B8-2376-A7CEA1908E3A}"/>
              </a:ext>
            </a:extLst>
          </p:cNvPr>
          <p:cNvSpPr/>
          <p:nvPr/>
        </p:nvSpPr>
        <p:spPr>
          <a:xfrm>
            <a:off x="208448" y="3090672"/>
            <a:ext cx="91440" cy="1371600"/>
          </a:xfrm>
          <a:prstGeom prst="rect">
            <a:avLst/>
          </a:prstGeom>
          <a:solidFill>
            <a:srgbClr val="16A34A"/>
          </a:solidFill>
          <a:ln w="12700">
            <a:solidFill>
              <a:srgbClr val="16A34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Text 22">
            <a:extLst>
              <a:ext uri="{FF2B5EF4-FFF2-40B4-BE49-F238E27FC236}">
                <a16:creationId xmlns:a16="http://schemas.microsoft.com/office/drawing/2014/main" id="{93C1F724-9449-6C76-FE74-A06D0E14B1B4}"/>
              </a:ext>
            </a:extLst>
          </p:cNvPr>
          <p:cNvSpPr/>
          <p:nvPr/>
        </p:nvSpPr>
        <p:spPr>
          <a:xfrm>
            <a:off x="391328" y="3182112"/>
            <a:ext cx="22860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6A34A"/>
                </a:solidFill>
                <a:effectLst/>
                <a:uLnTx/>
                <a:uFillTx/>
                <a:latin typeface="Calibri" pitchFamily="34" charset="0"/>
                <a:ea typeface="Calibri" pitchFamily="34" charset="-122"/>
                <a:cs typeface="Calibri" pitchFamily="34" charset="-120"/>
              </a:rPr>
              <a:t>Trends Over Time</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5" name="Text 23">
            <a:extLst>
              <a:ext uri="{FF2B5EF4-FFF2-40B4-BE49-F238E27FC236}">
                <a16:creationId xmlns:a16="http://schemas.microsoft.com/office/drawing/2014/main" id="{7FBB7CE1-EF4E-4DF7-AD0C-5C4E9623ADED}"/>
              </a:ext>
            </a:extLst>
          </p:cNvPr>
          <p:cNvSpPr/>
          <p:nvPr/>
        </p:nvSpPr>
        <p:spPr>
          <a:xfrm>
            <a:off x="391328" y="3474720"/>
            <a:ext cx="2286000" cy="20116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Patterns emerging over time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46" name="Chart 1">
            <a:extLst>
              <a:ext uri="{FF2B5EF4-FFF2-40B4-BE49-F238E27FC236}">
                <a16:creationId xmlns:a16="http://schemas.microsoft.com/office/drawing/2014/main" id="{EE1631C7-2B3F-6100-6CE3-BCB247873A93}"/>
              </a:ext>
            </a:extLst>
          </p:cNvPr>
          <p:cNvGraphicFramePr/>
          <p:nvPr>
            <p:extLst>
              <p:ext uri="{D42A27DB-BD31-4B8C-83A1-F6EECF244321}">
                <p14:modId xmlns:p14="http://schemas.microsoft.com/office/powerpoint/2010/main" val="3286844083"/>
              </p:ext>
            </p:extLst>
          </p:nvPr>
        </p:nvGraphicFramePr>
        <p:xfrm>
          <a:off x="2585888" y="3227832"/>
          <a:ext cx="1783080" cy="1005840"/>
        </p:xfrm>
        <a:graphic>
          <a:graphicData uri="http://schemas.openxmlformats.org/drawingml/2006/chart">
            <c:chart xmlns:c="http://schemas.openxmlformats.org/drawingml/2006/chart" xmlns:r="http://schemas.openxmlformats.org/officeDocument/2006/relationships" r:id="rId5"/>
          </a:graphicData>
        </a:graphic>
      </p:graphicFrame>
      <p:sp>
        <p:nvSpPr>
          <p:cNvPr id="47" name="Shape 25">
            <a:extLst>
              <a:ext uri="{FF2B5EF4-FFF2-40B4-BE49-F238E27FC236}">
                <a16:creationId xmlns:a16="http://schemas.microsoft.com/office/drawing/2014/main" id="{DC73DAC0-5F1E-CD65-07EA-FCA426724CEF}"/>
              </a:ext>
            </a:extLst>
          </p:cNvPr>
          <p:cNvSpPr/>
          <p:nvPr/>
        </p:nvSpPr>
        <p:spPr>
          <a:xfrm>
            <a:off x="4689008" y="3090672"/>
            <a:ext cx="4251960" cy="1371600"/>
          </a:xfrm>
          <a:prstGeom prst="rect">
            <a:avLst/>
          </a:prstGeom>
          <a:solidFill>
            <a:srgbClr val="FFFFFF"/>
          </a:solidFill>
          <a:ln w="12700">
            <a:solidFill>
              <a:srgbClr val="E9D5FF"/>
            </a:solidFill>
            <a:prstDash val="solid"/>
          </a:ln>
          <a:effectLst>
            <a:outerShdw blurRad="50800" dist="25400" dir="27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Shape 26">
            <a:extLst>
              <a:ext uri="{FF2B5EF4-FFF2-40B4-BE49-F238E27FC236}">
                <a16:creationId xmlns:a16="http://schemas.microsoft.com/office/drawing/2014/main" id="{72996579-EDA4-B14C-859E-8C10A5992FC4}"/>
              </a:ext>
            </a:extLst>
          </p:cNvPr>
          <p:cNvSpPr/>
          <p:nvPr/>
        </p:nvSpPr>
        <p:spPr>
          <a:xfrm>
            <a:off x="4689008" y="3090672"/>
            <a:ext cx="91440" cy="1371600"/>
          </a:xfrm>
          <a:prstGeom prst="rect">
            <a:avLst/>
          </a:prstGeom>
          <a:solidFill>
            <a:srgbClr val="D97706"/>
          </a:solidFill>
          <a:ln w="12700">
            <a:solidFill>
              <a:srgbClr val="D9770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 name="Text 27">
            <a:extLst>
              <a:ext uri="{FF2B5EF4-FFF2-40B4-BE49-F238E27FC236}">
                <a16:creationId xmlns:a16="http://schemas.microsoft.com/office/drawing/2014/main" id="{5481B1DE-490D-69F5-CAB6-7F0AA350DE76}"/>
              </a:ext>
            </a:extLst>
          </p:cNvPr>
          <p:cNvSpPr/>
          <p:nvPr/>
        </p:nvSpPr>
        <p:spPr>
          <a:xfrm>
            <a:off x="4871888" y="3182112"/>
            <a:ext cx="22860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D97706"/>
                </a:solidFill>
                <a:effectLst/>
                <a:uLnTx/>
                <a:uFillTx/>
                <a:latin typeface="Calibri" pitchFamily="34" charset="0"/>
                <a:ea typeface="Calibri" pitchFamily="34" charset="-122"/>
                <a:cs typeface="Calibri" pitchFamily="34" charset="-120"/>
              </a:rPr>
              <a:t>What Works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0" name="Text 28">
            <a:extLst>
              <a:ext uri="{FF2B5EF4-FFF2-40B4-BE49-F238E27FC236}">
                <a16:creationId xmlns:a16="http://schemas.microsoft.com/office/drawing/2014/main" id="{A1041D41-165D-0E47-DA7A-F9C2C4230CAA}"/>
              </a:ext>
            </a:extLst>
          </p:cNvPr>
          <p:cNvSpPr/>
          <p:nvPr/>
        </p:nvSpPr>
        <p:spPr>
          <a:xfrm>
            <a:off x="4871888" y="3474720"/>
            <a:ext cx="2286000" cy="20116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Actions that succeed or fail</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1" name="Shape 29">
            <a:extLst>
              <a:ext uri="{FF2B5EF4-FFF2-40B4-BE49-F238E27FC236}">
                <a16:creationId xmlns:a16="http://schemas.microsoft.com/office/drawing/2014/main" id="{31E387AA-D6E7-6480-C667-7352870F8E79}"/>
              </a:ext>
            </a:extLst>
          </p:cNvPr>
          <p:cNvSpPr/>
          <p:nvPr/>
        </p:nvSpPr>
        <p:spPr>
          <a:xfrm>
            <a:off x="7176176" y="3348246"/>
            <a:ext cx="1664208" cy="841248"/>
          </a:xfrm>
          <a:prstGeom prst="rect">
            <a:avLst/>
          </a:prstGeom>
          <a:solidFill>
            <a:srgbClr val="FAFBFF"/>
          </a:solidFill>
          <a:ln w="12700">
            <a:solidFill>
              <a:srgbClr val="CCCC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 name="Shape 30">
            <a:extLst>
              <a:ext uri="{FF2B5EF4-FFF2-40B4-BE49-F238E27FC236}">
                <a16:creationId xmlns:a16="http://schemas.microsoft.com/office/drawing/2014/main" id="{F04C0EB1-4330-E9AB-12D1-A1E34978B2C3}"/>
              </a:ext>
            </a:extLst>
          </p:cNvPr>
          <p:cNvSpPr/>
          <p:nvPr/>
        </p:nvSpPr>
        <p:spPr>
          <a:xfrm>
            <a:off x="7176176" y="3348246"/>
            <a:ext cx="1664208" cy="82296"/>
          </a:xfrm>
          <a:prstGeom prst="rect">
            <a:avLst/>
          </a:prstGeom>
          <a:solidFill>
            <a:srgbClr val="E9D5FF"/>
          </a:solidFill>
          <a:ln w="12700">
            <a:solidFill>
              <a:srgbClr val="E9D5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4" name="Shape 32">
            <a:extLst>
              <a:ext uri="{FF2B5EF4-FFF2-40B4-BE49-F238E27FC236}">
                <a16:creationId xmlns:a16="http://schemas.microsoft.com/office/drawing/2014/main" id="{83EEF64F-0A51-B76F-43D5-310F7184F77B}"/>
              </a:ext>
            </a:extLst>
          </p:cNvPr>
          <p:cNvSpPr/>
          <p:nvPr/>
        </p:nvSpPr>
        <p:spPr>
          <a:xfrm>
            <a:off x="7231040" y="3467118"/>
            <a:ext cx="1554480" cy="0"/>
          </a:xfrm>
          <a:prstGeom prst="line">
            <a:avLst/>
          </a:prstGeom>
          <a:noFill/>
          <a:ln w="6350">
            <a:solidFill>
              <a:srgbClr val="E0E0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5" name="Shape 33">
            <a:extLst>
              <a:ext uri="{FF2B5EF4-FFF2-40B4-BE49-F238E27FC236}">
                <a16:creationId xmlns:a16="http://schemas.microsoft.com/office/drawing/2014/main" id="{F540B782-791A-5FCD-9022-D2BE70B46036}"/>
              </a:ext>
            </a:extLst>
          </p:cNvPr>
          <p:cNvSpPr/>
          <p:nvPr/>
        </p:nvSpPr>
        <p:spPr>
          <a:xfrm>
            <a:off x="7231040" y="3659142"/>
            <a:ext cx="1554480" cy="0"/>
          </a:xfrm>
          <a:prstGeom prst="line">
            <a:avLst/>
          </a:prstGeom>
          <a:noFill/>
          <a:ln w="6350">
            <a:solidFill>
              <a:srgbClr val="E0E0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6" name="Shape 34">
            <a:extLst>
              <a:ext uri="{FF2B5EF4-FFF2-40B4-BE49-F238E27FC236}">
                <a16:creationId xmlns:a16="http://schemas.microsoft.com/office/drawing/2014/main" id="{D6F91267-E9E2-ADEC-2F91-D9B488CEBA55}"/>
              </a:ext>
            </a:extLst>
          </p:cNvPr>
          <p:cNvSpPr/>
          <p:nvPr/>
        </p:nvSpPr>
        <p:spPr>
          <a:xfrm>
            <a:off x="7231040" y="3805446"/>
            <a:ext cx="1554480" cy="0"/>
          </a:xfrm>
          <a:prstGeom prst="line">
            <a:avLst/>
          </a:prstGeom>
          <a:noFill/>
          <a:ln w="6350">
            <a:solidFill>
              <a:srgbClr val="E0E0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7" name="Shape 35">
            <a:extLst>
              <a:ext uri="{FF2B5EF4-FFF2-40B4-BE49-F238E27FC236}">
                <a16:creationId xmlns:a16="http://schemas.microsoft.com/office/drawing/2014/main" id="{A410A3E4-57B1-00AF-270C-5FCD2EC1E52C}"/>
              </a:ext>
            </a:extLst>
          </p:cNvPr>
          <p:cNvSpPr/>
          <p:nvPr/>
        </p:nvSpPr>
        <p:spPr>
          <a:xfrm>
            <a:off x="7231040" y="3951750"/>
            <a:ext cx="1554480" cy="0"/>
          </a:xfrm>
          <a:prstGeom prst="line">
            <a:avLst/>
          </a:prstGeom>
          <a:noFill/>
          <a:ln w="6350">
            <a:solidFill>
              <a:srgbClr val="E0E0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 name="Shape 36">
            <a:extLst>
              <a:ext uri="{FF2B5EF4-FFF2-40B4-BE49-F238E27FC236}">
                <a16:creationId xmlns:a16="http://schemas.microsoft.com/office/drawing/2014/main" id="{5ABFC9A2-8044-D19D-C9E4-7E693F2D5DC7}"/>
              </a:ext>
            </a:extLst>
          </p:cNvPr>
          <p:cNvSpPr/>
          <p:nvPr/>
        </p:nvSpPr>
        <p:spPr>
          <a:xfrm>
            <a:off x="7231040" y="4098054"/>
            <a:ext cx="1554480" cy="0"/>
          </a:xfrm>
          <a:prstGeom prst="line">
            <a:avLst/>
          </a:prstGeom>
          <a:noFill/>
          <a:ln w="6350">
            <a:solidFill>
              <a:srgbClr val="E0E0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Shape 37">
            <a:extLst>
              <a:ext uri="{FF2B5EF4-FFF2-40B4-BE49-F238E27FC236}">
                <a16:creationId xmlns:a16="http://schemas.microsoft.com/office/drawing/2014/main" id="{D94BB26B-592D-9487-0767-996E71330725}"/>
              </a:ext>
            </a:extLst>
          </p:cNvPr>
          <p:cNvSpPr/>
          <p:nvPr/>
        </p:nvSpPr>
        <p:spPr>
          <a:xfrm>
            <a:off x="7249328" y="3485406"/>
            <a:ext cx="109728" cy="109728"/>
          </a:xfrm>
          <a:prstGeom prst="rect">
            <a:avLst/>
          </a:prstGeom>
          <a:solidFill>
            <a:srgbClr val="16A34A"/>
          </a:solidFill>
          <a:ln w="12700">
            <a:solidFill>
              <a:srgbClr val="16A34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 name="Text 38">
            <a:extLst>
              <a:ext uri="{FF2B5EF4-FFF2-40B4-BE49-F238E27FC236}">
                <a16:creationId xmlns:a16="http://schemas.microsoft.com/office/drawing/2014/main" id="{03C916CF-B86B-7E33-64AA-7DB554F9E007}"/>
              </a:ext>
            </a:extLst>
          </p:cNvPr>
          <p:cNvSpPr/>
          <p:nvPr/>
        </p:nvSpPr>
        <p:spPr>
          <a:xfrm>
            <a:off x="7249328" y="3476262"/>
            <a:ext cx="109728" cy="128016"/>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t>
            </a:r>
            <a:endParaRPr kumimoji="0" lang="en-US" sz="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1" name="Text 39">
            <a:extLst>
              <a:ext uri="{FF2B5EF4-FFF2-40B4-BE49-F238E27FC236}">
                <a16:creationId xmlns:a16="http://schemas.microsoft.com/office/drawing/2014/main" id="{1DD05EEF-FB22-7723-756C-1653C7E8884A}"/>
              </a:ext>
            </a:extLst>
          </p:cNvPr>
          <p:cNvSpPr/>
          <p:nvPr/>
        </p:nvSpPr>
        <p:spPr>
          <a:xfrm>
            <a:off x="7395632" y="3467118"/>
            <a:ext cx="1389888" cy="1828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Fast escalation</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2" name="Shape 40">
            <a:extLst>
              <a:ext uri="{FF2B5EF4-FFF2-40B4-BE49-F238E27FC236}">
                <a16:creationId xmlns:a16="http://schemas.microsoft.com/office/drawing/2014/main" id="{3E468BA7-C5D4-FB6A-E165-BA3D6AC6445C}"/>
              </a:ext>
            </a:extLst>
          </p:cNvPr>
          <p:cNvSpPr/>
          <p:nvPr/>
        </p:nvSpPr>
        <p:spPr>
          <a:xfrm>
            <a:off x="7249328" y="3659142"/>
            <a:ext cx="109728" cy="109728"/>
          </a:xfrm>
          <a:prstGeom prst="rect">
            <a:avLst/>
          </a:prstGeom>
          <a:solidFill>
            <a:srgbClr val="16A34A"/>
          </a:solidFill>
          <a:ln w="12700">
            <a:solidFill>
              <a:srgbClr val="16A34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3" name="Text 41">
            <a:extLst>
              <a:ext uri="{FF2B5EF4-FFF2-40B4-BE49-F238E27FC236}">
                <a16:creationId xmlns:a16="http://schemas.microsoft.com/office/drawing/2014/main" id="{8A211E3F-6BC5-9D6D-8823-2C818B038A9A}"/>
              </a:ext>
            </a:extLst>
          </p:cNvPr>
          <p:cNvSpPr/>
          <p:nvPr/>
        </p:nvSpPr>
        <p:spPr>
          <a:xfrm>
            <a:off x="7249328" y="3649998"/>
            <a:ext cx="109728" cy="128016"/>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t>
            </a:r>
            <a:endParaRPr kumimoji="0" lang="en-US" sz="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4" name="Text 42">
            <a:extLst>
              <a:ext uri="{FF2B5EF4-FFF2-40B4-BE49-F238E27FC236}">
                <a16:creationId xmlns:a16="http://schemas.microsoft.com/office/drawing/2014/main" id="{A8BDA102-960A-A4DF-DB00-C2E01907E5E2}"/>
              </a:ext>
            </a:extLst>
          </p:cNvPr>
          <p:cNvSpPr/>
          <p:nvPr/>
        </p:nvSpPr>
        <p:spPr>
          <a:xfrm>
            <a:off x="7395632" y="3640854"/>
            <a:ext cx="1389888" cy="1828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Peer reviews</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5" name="Shape 43">
            <a:extLst>
              <a:ext uri="{FF2B5EF4-FFF2-40B4-BE49-F238E27FC236}">
                <a16:creationId xmlns:a16="http://schemas.microsoft.com/office/drawing/2014/main" id="{852E02F7-CDDA-DE8D-2007-39BD32708BBE}"/>
              </a:ext>
            </a:extLst>
          </p:cNvPr>
          <p:cNvSpPr/>
          <p:nvPr/>
        </p:nvSpPr>
        <p:spPr>
          <a:xfrm>
            <a:off x="7249328" y="3832878"/>
            <a:ext cx="109728" cy="109728"/>
          </a:xfrm>
          <a:prstGeom prst="rect">
            <a:avLst/>
          </a:prstGeom>
          <a:solidFill>
            <a:srgbClr val="16A34A"/>
          </a:solidFill>
          <a:ln w="12700">
            <a:solidFill>
              <a:srgbClr val="16A34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6" name="Text 44">
            <a:extLst>
              <a:ext uri="{FF2B5EF4-FFF2-40B4-BE49-F238E27FC236}">
                <a16:creationId xmlns:a16="http://schemas.microsoft.com/office/drawing/2014/main" id="{A1B44367-576C-510F-4FB5-329FEE055713}"/>
              </a:ext>
            </a:extLst>
          </p:cNvPr>
          <p:cNvSpPr/>
          <p:nvPr/>
        </p:nvSpPr>
        <p:spPr>
          <a:xfrm>
            <a:off x="7249328" y="3823734"/>
            <a:ext cx="109728" cy="128016"/>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t>
            </a:r>
            <a:endParaRPr kumimoji="0" lang="en-US" sz="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7" name="Text 45">
            <a:extLst>
              <a:ext uri="{FF2B5EF4-FFF2-40B4-BE49-F238E27FC236}">
                <a16:creationId xmlns:a16="http://schemas.microsoft.com/office/drawing/2014/main" id="{A64DBA4E-BC06-D4CE-B781-FF109838ACAF}"/>
              </a:ext>
            </a:extLst>
          </p:cNvPr>
          <p:cNvSpPr/>
          <p:nvPr/>
        </p:nvSpPr>
        <p:spPr>
          <a:xfrm>
            <a:off x="7395632" y="3814590"/>
            <a:ext cx="1389888" cy="1828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Weekly retros</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8" name="Shape 46">
            <a:extLst>
              <a:ext uri="{FF2B5EF4-FFF2-40B4-BE49-F238E27FC236}">
                <a16:creationId xmlns:a16="http://schemas.microsoft.com/office/drawing/2014/main" id="{DDD4C644-DC6A-08E3-5A12-2BD2675149D4}"/>
              </a:ext>
            </a:extLst>
          </p:cNvPr>
          <p:cNvSpPr/>
          <p:nvPr/>
        </p:nvSpPr>
        <p:spPr>
          <a:xfrm>
            <a:off x="7249328" y="4006614"/>
            <a:ext cx="109728" cy="109728"/>
          </a:xfrm>
          <a:prstGeom prst="rect">
            <a:avLst/>
          </a:prstGeom>
          <a:solidFill>
            <a:srgbClr val="16A34A"/>
          </a:solidFill>
          <a:ln w="12700">
            <a:solidFill>
              <a:srgbClr val="16A34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9" name="Text 47">
            <a:extLst>
              <a:ext uri="{FF2B5EF4-FFF2-40B4-BE49-F238E27FC236}">
                <a16:creationId xmlns:a16="http://schemas.microsoft.com/office/drawing/2014/main" id="{A3857C09-D27D-6EBB-3D28-3E54E800C82F}"/>
              </a:ext>
            </a:extLst>
          </p:cNvPr>
          <p:cNvSpPr/>
          <p:nvPr/>
        </p:nvSpPr>
        <p:spPr>
          <a:xfrm>
            <a:off x="7249328" y="3997470"/>
            <a:ext cx="109728" cy="128016"/>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t>
            </a:r>
            <a:endParaRPr kumimoji="0" lang="en-US" sz="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0" name="Text 48">
            <a:extLst>
              <a:ext uri="{FF2B5EF4-FFF2-40B4-BE49-F238E27FC236}">
                <a16:creationId xmlns:a16="http://schemas.microsoft.com/office/drawing/2014/main" id="{760FAD7C-70AC-FA47-2BBB-55CE23138BF5}"/>
              </a:ext>
            </a:extLst>
          </p:cNvPr>
          <p:cNvSpPr/>
          <p:nvPr/>
        </p:nvSpPr>
        <p:spPr>
          <a:xfrm>
            <a:off x="7395632" y="3988326"/>
            <a:ext cx="1389888" cy="1828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Cross-team sharing</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1" name="Shape 49">
            <a:extLst>
              <a:ext uri="{FF2B5EF4-FFF2-40B4-BE49-F238E27FC236}">
                <a16:creationId xmlns:a16="http://schemas.microsoft.com/office/drawing/2014/main" id="{C82E2A27-EAE6-5A86-99C3-1C8D0D859266}"/>
              </a:ext>
            </a:extLst>
          </p:cNvPr>
          <p:cNvSpPr/>
          <p:nvPr/>
        </p:nvSpPr>
        <p:spPr>
          <a:xfrm>
            <a:off x="8675792" y="4024902"/>
            <a:ext cx="164592" cy="164592"/>
          </a:xfrm>
          <a:prstGeom prst="rtTriangle">
            <a:avLst/>
          </a:prstGeom>
          <a:solidFill>
            <a:srgbClr val="CCCCDD"/>
          </a:solidFill>
          <a:ln w="12700">
            <a:solidFill>
              <a:srgbClr val="CCCC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858000" y="-457200"/>
            <a:ext cx="2926080" cy="2926080"/>
          </a:xfrm>
          <a:prstGeom prst="ellipse">
            <a:avLst/>
          </a:prstGeom>
          <a:solidFill>
            <a:srgbClr val="9333EA">
              <a:alpha val="30000"/>
            </a:srgbClr>
          </a:solidFill>
          <a:ln w="12700">
            <a:solidFill>
              <a:srgbClr val="9333EA">
                <a:alpha val="30000"/>
              </a:srgbClr>
            </a:solidFill>
            <a:prstDash val="solid"/>
          </a:ln>
        </p:spPr>
        <p:txBody>
          <a:bodyPr/>
          <a:lstStyle/>
          <a:p>
            <a:endParaRPr lang="en-US"/>
          </a:p>
        </p:txBody>
      </p:sp>
      <p:sp>
        <p:nvSpPr>
          <p:cNvPr id="3" name="Shape 1"/>
          <p:cNvSpPr/>
          <p:nvPr/>
        </p:nvSpPr>
        <p:spPr>
          <a:xfrm>
            <a:off x="-731520" y="3474720"/>
            <a:ext cx="2286000" cy="2286000"/>
          </a:xfrm>
          <a:prstGeom prst="ellipse">
            <a:avLst/>
          </a:prstGeom>
          <a:solidFill>
            <a:srgbClr val="2563EB">
              <a:alpha val="25000"/>
            </a:srgbClr>
          </a:solidFill>
          <a:ln w="12700">
            <a:solidFill>
              <a:srgbClr val="2563EB">
                <a:alpha val="25000"/>
              </a:srgbClr>
            </a:solidFill>
            <a:prstDash val="solid"/>
          </a:ln>
        </p:spPr>
        <p:txBody>
          <a:bodyPr/>
          <a:lstStyle/>
          <a:p>
            <a:endParaRPr lang="en-US"/>
          </a:p>
        </p:txBody>
      </p:sp>
      <p:sp>
        <p:nvSpPr>
          <p:cNvPr id="4" name="Text 2"/>
          <p:cNvSpPr/>
          <p:nvPr/>
        </p:nvSpPr>
        <p:spPr>
          <a:xfrm>
            <a:off x="548640" y="320040"/>
            <a:ext cx="7772400" cy="73152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Knowledge Retention</a:t>
            </a:r>
            <a:endParaRPr lang="en-US" sz="3600" dirty="0"/>
          </a:p>
        </p:txBody>
      </p:sp>
      <p:sp>
        <p:nvSpPr>
          <p:cNvPr id="5" name="Shape 3"/>
          <p:cNvSpPr/>
          <p:nvPr/>
        </p:nvSpPr>
        <p:spPr>
          <a:xfrm>
            <a:off x="548640" y="1078992"/>
            <a:ext cx="1828800" cy="54864"/>
          </a:xfrm>
          <a:prstGeom prst="rect">
            <a:avLst/>
          </a:prstGeom>
          <a:solidFill>
            <a:srgbClr val="D97706"/>
          </a:solidFill>
          <a:ln w="12700">
            <a:solidFill>
              <a:srgbClr val="D97706"/>
            </a:solidFill>
            <a:prstDash val="solid"/>
          </a:ln>
        </p:spPr>
        <p:txBody>
          <a:bodyPr/>
          <a:lstStyle/>
          <a:p>
            <a:endParaRPr lang="en-US"/>
          </a:p>
        </p:txBody>
      </p:sp>
      <p:sp>
        <p:nvSpPr>
          <p:cNvPr id="6" name="Text 4"/>
          <p:cNvSpPr/>
          <p:nvPr/>
        </p:nvSpPr>
        <p:spPr>
          <a:xfrm>
            <a:off x="548640" y="1234440"/>
            <a:ext cx="7772400" cy="384048"/>
          </a:xfrm>
          <a:prstGeom prst="rect">
            <a:avLst/>
          </a:prstGeom>
          <a:noFill/>
          <a:ln/>
        </p:spPr>
        <p:txBody>
          <a:bodyPr wrap="square" rtlCol="0" anchor="ctr"/>
          <a:lstStyle/>
          <a:p>
            <a:pPr marL="0" indent="0">
              <a:buNone/>
            </a:pPr>
            <a:r>
              <a:rPr lang="en-US" sz="1400" dirty="0">
                <a:solidFill>
                  <a:srgbClr val="C4B5FD"/>
                </a:solidFill>
                <a:latin typeface="Calibri" pitchFamily="34" charset="0"/>
                <a:ea typeface="Calibri" pitchFamily="34" charset="-122"/>
                <a:cs typeface="Calibri" pitchFamily="34" charset="-120"/>
              </a:rPr>
              <a:t>One of the biggest risks organizations face:</a:t>
            </a:r>
            <a:endParaRPr lang="en-US" sz="1400" dirty="0"/>
          </a:p>
        </p:txBody>
      </p:sp>
      <p:sp>
        <p:nvSpPr>
          <p:cNvPr id="7" name="Shape 5"/>
          <p:cNvSpPr/>
          <p:nvPr/>
        </p:nvSpPr>
        <p:spPr>
          <a:xfrm>
            <a:off x="1371600" y="1719072"/>
            <a:ext cx="6400800" cy="658368"/>
          </a:xfrm>
          <a:prstGeom prst="rect">
            <a:avLst/>
          </a:prstGeom>
          <a:solidFill>
            <a:srgbClr val="DC2626"/>
          </a:solidFill>
          <a:ln w="12700">
            <a:solidFill>
              <a:srgbClr val="DC2626"/>
            </a:solidFill>
            <a:prstDash val="solid"/>
          </a:ln>
        </p:spPr>
        <p:txBody>
          <a:bodyPr/>
          <a:lstStyle/>
          <a:p>
            <a:endParaRPr lang="en-US"/>
          </a:p>
        </p:txBody>
      </p:sp>
      <p:sp>
        <p:nvSpPr>
          <p:cNvPr id="8" name="Text 6"/>
          <p:cNvSpPr/>
          <p:nvPr/>
        </p:nvSpPr>
        <p:spPr>
          <a:xfrm>
            <a:off x="1371600" y="1737360"/>
            <a:ext cx="6400800" cy="62179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Knowledge walking out the door when employees leave.</a:t>
            </a:r>
            <a:endParaRPr lang="en-US" sz="1600" dirty="0"/>
          </a:p>
        </p:txBody>
      </p:sp>
      <p:sp>
        <p:nvSpPr>
          <p:cNvPr id="9" name="Text 7"/>
          <p:cNvSpPr/>
          <p:nvPr/>
        </p:nvSpPr>
        <p:spPr>
          <a:xfrm>
            <a:off x="548640" y="2514600"/>
            <a:ext cx="7772400" cy="384048"/>
          </a:xfrm>
          <a:prstGeom prst="rect">
            <a:avLst/>
          </a:prstGeom>
          <a:noFill/>
          <a:ln/>
        </p:spPr>
        <p:txBody>
          <a:bodyPr wrap="square" rtlCol="0" anchor="ctr"/>
          <a:lstStyle/>
          <a:p>
            <a:pPr marL="0" indent="0">
              <a:buNone/>
            </a:pPr>
            <a:r>
              <a:rPr lang="en-US" sz="1400" dirty="0">
                <a:solidFill>
                  <a:srgbClr val="C4B5FD"/>
                </a:solidFill>
                <a:latin typeface="Calibri" pitchFamily="34" charset="0"/>
                <a:ea typeface="Calibri" pitchFamily="34" charset="-122"/>
                <a:cs typeface="Calibri" pitchFamily="34" charset="-120"/>
              </a:rPr>
              <a:t>WhatIDid ensures that valuable experiences are:</a:t>
            </a:r>
            <a:endParaRPr lang="en-US" sz="1400" dirty="0"/>
          </a:p>
        </p:txBody>
      </p:sp>
      <p:sp>
        <p:nvSpPr>
          <p:cNvPr id="10" name="Shape 8"/>
          <p:cNvSpPr/>
          <p:nvPr/>
        </p:nvSpPr>
        <p:spPr>
          <a:xfrm>
            <a:off x="1188720" y="2999232"/>
            <a:ext cx="1371600" cy="1371600"/>
          </a:xfrm>
          <a:prstGeom prst="ellipse">
            <a:avLst/>
          </a:prstGeom>
          <a:solidFill>
            <a:srgbClr val="D97706"/>
          </a:solidFill>
          <a:ln w="12700">
            <a:solidFill>
              <a:srgbClr val="D97706"/>
            </a:solidFill>
            <a:prstDash val="solid"/>
          </a:ln>
        </p:spPr>
        <p:txBody>
          <a:bodyPr/>
          <a:lstStyle/>
          <a:p>
            <a:endParaRPr lang="en-US"/>
          </a:p>
        </p:txBody>
      </p:sp>
      <p:sp>
        <p:nvSpPr>
          <p:cNvPr id="11" name="Text 9"/>
          <p:cNvSpPr/>
          <p:nvPr/>
        </p:nvSpPr>
        <p:spPr>
          <a:xfrm>
            <a:off x="1188720" y="3072384"/>
            <a:ext cx="1371600" cy="640080"/>
          </a:xfrm>
          <a:prstGeom prst="rect">
            <a:avLst/>
          </a:prstGeom>
          <a:noFill/>
          <a:ln/>
        </p:spPr>
        <p:txBody>
          <a:bodyPr wrap="square" lIns="0" tIns="0" rIns="0" bIns="0" rtlCol="0" anchor="ctr"/>
          <a:lstStyle/>
          <a:p>
            <a:pPr marL="0" indent="0" algn="ctr">
              <a:buNone/>
            </a:pPr>
            <a:r>
              <a:rPr lang="en-US" sz="2400" dirty="0">
                <a:solidFill>
                  <a:srgbClr val="000000"/>
                </a:solidFill>
              </a:rPr>
              <a:t>📝</a:t>
            </a:r>
            <a:endParaRPr lang="en-US" sz="2400" dirty="0"/>
          </a:p>
        </p:txBody>
      </p:sp>
      <p:sp>
        <p:nvSpPr>
          <p:cNvPr id="12" name="Text 10"/>
          <p:cNvSpPr/>
          <p:nvPr/>
        </p:nvSpPr>
        <p:spPr>
          <a:xfrm>
            <a:off x="1188720" y="3730752"/>
            <a:ext cx="137160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Recorded</a:t>
            </a:r>
            <a:endParaRPr lang="en-US" sz="1400" dirty="0"/>
          </a:p>
        </p:txBody>
      </p:sp>
      <p:sp>
        <p:nvSpPr>
          <p:cNvPr id="13" name="Shape 11"/>
          <p:cNvSpPr/>
          <p:nvPr/>
        </p:nvSpPr>
        <p:spPr>
          <a:xfrm>
            <a:off x="3749040" y="2999232"/>
            <a:ext cx="1371600" cy="1371600"/>
          </a:xfrm>
          <a:prstGeom prst="ellipse">
            <a:avLst/>
          </a:prstGeom>
          <a:solidFill>
            <a:srgbClr val="D97706"/>
          </a:solidFill>
          <a:ln w="12700">
            <a:solidFill>
              <a:srgbClr val="D97706"/>
            </a:solidFill>
            <a:prstDash val="solid"/>
          </a:ln>
        </p:spPr>
        <p:txBody>
          <a:bodyPr/>
          <a:lstStyle/>
          <a:p>
            <a:endParaRPr lang="en-US"/>
          </a:p>
        </p:txBody>
      </p:sp>
      <p:sp>
        <p:nvSpPr>
          <p:cNvPr id="14" name="Text 12"/>
          <p:cNvSpPr/>
          <p:nvPr/>
        </p:nvSpPr>
        <p:spPr>
          <a:xfrm>
            <a:off x="3749040" y="3072384"/>
            <a:ext cx="1371600" cy="640080"/>
          </a:xfrm>
          <a:prstGeom prst="rect">
            <a:avLst/>
          </a:prstGeom>
          <a:noFill/>
          <a:ln/>
        </p:spPr>
        <p:txBody>
          <a:bodyPr wrap="square" lIns="0" tIns="0" rIns="0" bIns="0" rtlCol="0" anchor="ctr"/>
          <a:lstStyle/>
          <a:p>
            <a:pPr marL="0" indent="0" algn="ctr">
              <a:buNone/>
            </a:pPr>
            <a:r>
              <a:rPr lang="en-US" sz="2400" dirty="0">
                <a:solidFill>
                  <a:srgbClr val="000000"/>
                </a:solidFill>
              </a:rPr>
              <a:t>🔗</a:t>
            </a:r>
            <a:endParaRPr lang="en-US" sz="2400" dirty="0"/>
          </a:p>
        </p:txBody>
      </p:sp>
      <p:sp>
        <p:nvSpPr>
          <p:cNvPr id="15" name="Text 13"/>
          <p:cNvSpPr/>
          <p:nvPr/>
        </p:nvSpPr>
        <p:spPr>
          <a:xfrm>
            <a:off x="3749040" y="3730752"/>
            <a:ext cx="137160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Shared</a:t>
            </a:r>
            <a:endParaRPr lang="en-US" sz="1400" dirty="0"/>
          </a:p>
        </p:txBody>
      </p:sp>
      <p:sp>
        <p:nvSpPr>
          <p:cNvPr id="16" name="Shape 14"/>
          <p:cNvSpPr/>
          <p:nvPr/>
        </p:nvSpPr>
        <p:spPr>
          <a:xfrm>
            <a:off x="6309360" y="2999232"/>
            <a:ext cx="1371600" cy="1371600"/>
          </a:xfrm>
          <a:prstGeom prst="ellipse">
            <a:avLst/>
          </a:prstGeom>
          <a:solidFill>
            <a:srgbClr val="D97706"/>
          </a:solidFill>
          <a:ln w="12700">
            <a:solidFill>
              <a:srgbClr val="D97706"/>
            </a:solidFill>
            <a:prstDash val="solid"/>
          </a:ln>
        </p:spPr>
        <p:txBody>
          <a:bodyPr/>
          <a:lstStyle/>
          <a:p>
            <a:endParaRPr lang="en-US"/>
          </a:p>
        </p:txBody>
      </p:sp>
      <p:sp>
        <p:nvSpPr>
          <p:cNvPr id="17" name="Text 15"/>
          <p:cNvSpPr/>
          <p:nvPr/>
        </p:nvSpPr>
        <p:spPr>
          <a:xfrm>
            <a:off x="6309360" y="3072384"/>
            <a:ext cx="1371600" cy="640080"/>
          </a:xfrm>
          <a:prstGeom prst="rect">
            <a:avLst/>
          </a:prstGeom>
          <a:noFill/>
          <a:ln/>
        </p:spPr>
        <p:txBody>
          <a:bodyPr wrap="square" lIns="0" tIns="0" rIns="0" bIns="0" rtlCol="0" anchor="ctr"/>
          <a:lstStyle/>
          <a:p>
            <a:pPr marL="0" indent="0" algn="ctr">
              <a:buNone/>
            </a:pPr>
            <a:r>
              <a:rPr lang="en-US" sz="2400" dirty="0">
                <a:solidFill>
                  <a:srgbClr val="000000"/>
                </a:solidFill>
              </a:rPr>
              <a:t>🏛️</a:t>
            </a:r>
            <a:endParaRPr lang="en-US" sz="2400" dirty="0"/>
          </a:p>
        </p:txBody>
      </p:sp>
      <p:sp>
        <p:nvSpPr>
          <p:cNvPr id="18" name="Text 16"/>
          <p:cNvSpPr/>
          <p:nvPr/>
        </p:nvSpPr>
        <p:spPr>
          <a:xfrm>
            <a:off x="6309360" y="3730752"/>
            <a:ext cx="137160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Preserved</a:t>
            </a:r>
            <a:endParaRPr lang="en-US" sz="1400" dirty="0"/>
          </a:p>
        </p:txBody>
      </p:sp>
      <p:sp>
        <p:nvSpPr>
          <p:cNvPr id="19" name="Shape 17"/>
          <p:cNvSpPr/>
          <p:nvPr/>
        </p:nvSpPr>
        <p:spPr>
          <a:xfrm>
            <a:off x="548640" y="4562856"/>
            <a:ext cx="8046720" cy="420624"/>
          </a:xfrm>
          <a:prstGeom prst="rect">
            <a:avLst/>
          </a:prstGeom>
          <a:solidFill>
            <a:srgbClr val="1E2E5C"/>
          </a:solidFill>
          <a:ln w="12700">
            <a:solidFill>
              <a:srgbClr val="1E2E5C"/>
            </a:solidFill>
            <a:prstDash val="solid"/>
          </a:ln>
        </p:spPr>
        <p:txBody>
          <a:bodyPr/>
          <a:lstStyle/>
          <a:p>
            <a:endParaRPr lang="en-US"/>
          </a:p>
        </p:txBody>
      </p:sp>
      <p:sp>
        <p:nvSpPr>
          <p:cNvPr id="20" name="Text 18"/>
          <p:cNvSpPr/>
          <p:nvPr/>
        </p:nvSpPr>
        <p:spPr>
          <a:xfrm>
            <a:off x="548640" y="4581144"/>
            <a:ext cx="8046720" cy="365760"/>
          </a:xfrm>
          <a:prstGeom prst="rect">
            <a:avLst/>
          </a:prstGeom>
          <a:noFill/>
          <a:ln/>
        </p:spPr>
        <p:txBody>
          <a:bodyPr wrap="square" lIns="0" tIns="0" rIns="0" bIns="0" rtlCol="0" anchor="ctr"/>
          <a:lstStyle/>
          <a:p>
            <a:pPr marL="0" indent="0" algn="ctr">
              <a:buNone/>
            </a:pPr>
            <a:r>
              <a:rPr lang="en-US" sz="1400" b="1" dirty="0">
                <a:solidFill>
                  <a:srgbClr val="D97706"/>
                </a:solidFill>
                <a:latin typeface="Calibri" pitchFamily="34" charset="0"/>
                <a:cs typeface="Calibri" pitchFamily="34" charset="-120"/>
              </a:rPr>
              <a:t>Building a lasting corporate knowledge base.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914400"/>
          </a:xfrm>
          <a:prstGeom prst="rect">
            <a:avLst/>
          </a:prstGeom>
        </p:spPr>
      </p:pic>
      <p:sp>
        <p:nvSpPr>
          <p:cNvPr id="3" name="Text 0"/>
          <p:cNvSpPr/>
          <p:nvPr/>
        </p:nvSpPr>
        <p:spPr>
          <a:xfrm>
            <a:off x="457200" y="109728"/>
            <a:ext cx="7772400" cy="804672"/>
          </a:xfrm>
          <a:prstGeom prst="rect">
            <a:avLst/>
          </a:prstGeom>
          <a:noFill/>
          <a:ln/>
        </p:spPr>
        <p:txBody>
          <a:bodyPr wrap="square" lIns="0" tIns="0" rIns="0" bIns="0" rtlCol="0" anchor="ctr"/>
          <a:lstStyle/>
          <a:p>
            <a:pPr marL="0" indent="0" algn="l">
              <a:buNone/>
            </a:pPr>
            <a:r>
              <a:rPr lang="en-US" sz="2600" b="1" dirty="0">
                <a:solidFill>
                  <a:srgbClr val="FFFFFF"/>
                </a:solidFill>
                <a:latin typeface="Calibri" pitchFamily="34" charset="0"/>
                <a:ea typeface="Calibri" pitchFamily="34" charset="-122"/>
                <a:cs typeface="Calibri" pitchFamily="34" charset="-120"/>
              </a:rPr>
              <a:t>Why This Matters for the CEO</a:t>
            </a:r>
            <a:endParaRPr lang="en-US" sz="2600" dirty="0"/>
          </a:p>
        </p:txBody>
      </p:sp>
      <p:sp>
        <p:nvSpPr>
          <p:cNvPr id="4" name="Text 1"/>
          <p:cNvSpPr/>
          <p:nvPr/>
        </p:nvSpPr>
        <p:spPr>
          <a:xfrm>
            <a:off x="457200" y="1005840"/>
            <a:ext cx="8229600" cy="384048"/>
          </a:xfrm>
          <a:prstGeom prst="rect">
            <a:avLst/>
          </a:prstGeom>
          <a:noFill/>
          <a:ln/>
        </p:spPr>
        <p:txBody>
          <a:bodyPr wrap="square" rtlCol="0" anchor="ctr"/>
          <a:lstStyle/>
          <a:p>
            <a:pPr marL="0" indent="0">
              <a:buNone/>
            </a:pPr>
            <a:r>
              <a:rPr lang="en-US" sz="1300" b="1" dirty="0">
                <a:solidFill>
                  <a:srgbClr val="1F2937"/>
                </a:solidFill>
                <a:latin typeface="Calibri" pitchFamily="34" charset="0"/>
                <a:ea typeface="Calibri" pitchFamily="34" charset="-122"/>
                <a:cs typeface="Calibri" pitchFamily="34" charset="-120"/>
              </a:rPr>
              <a:t>Executives care about three things:</a:t>
            </a:r>
            <a:endParaRPr lang="en-US" sz="1300" dirty="0"/>
          </a:p>
        </p:txBody>
      </p:sp>
      <p:sp>
        <p:nvSpPr>
          <p:cNvPr id="5" name="Shape 2"/>
          <p:cNvSpPr/>
          <p:nvPr/>
        </p:nvSpPr>
        <p:spPr>
          <a:xfrm>
            <a:off x="457200" y="1508760"/>
            <a:ext cx="2651760" cy="685800"/>
          </a:xfrm>
          <a:prstGeom prst="rect">
            <a:avLst/>
          </a:prstGeom>
          <a:solidFill>
            <a:srgbClr val="9333EA"/>
          </a:solidFill>
          <a:ln w="12700">
            <a:solidFill>
              <a:srgbClr val="9333EA"/>
            </a:solidFill>
            <a:prstDash val="solid"/>
          </a:ln>
        </p:spPr>
        <p:txBody>
          <a:bodyPr/>
          <a:lstStyle/>
          <a:p>
            <a:endParaRPr lang="en-US"/>
          </a:p>
        </p:txBody>
      </p:sp>
      <p:sp>
        <p:nvSpPr>
          <p:cNvPr id="6" name="Text 3"/>
          <p:cNvSpPr/>
          <p:nvPr/>
        </p:nvSpPr>
        <p:spPr>
          <a:xfrm>
            <a:off x="457200" y="1508760"/>
            <a:ext cx="2651760" cy="68580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Performance</a:t>
            </a:r>
            <a:endParaRPr lang="en-US" sz="1700" dirty="0"/>
          </a:p>
        </p:txBody>
      </p:sp>
      <p:sp>
        <p:nvSpPr>
          <p:cNvPr id="7" name="Shape 4"/>
          <p:cNvSpPr/>
          <p:nvPr/>
        </p:nvSpPr>
        <p:spPr>
          <a:xfrm>
            <a:off x="3291840" y="1508760"/>
            <a:ext cx="2651760" cy="685800"/>
          </a:xfrm>
          <a:prstGeom prst="rect">
            <a:avLst/>
          </a:prstGeom>
          <a:solidFill>
            <a:srgbClr val="2563EB"/>
          </a:solidFill>
          <a:ln w="12700">
            <a:solidFill>
              <a:srgbClr val="2563EB"/>
            </a:solidFill>
            <a:prstDash val="solid"/>
          </a:ln>
        </p:spPr>
        <p:txBody>
          <a:bodyPr/>
          <a:lstStyle/>
          <a:p>
            <a:endParaRPr lang="en-US"/>
          </a:p>
        </p:txBody>
      </p:sp>
      <p:sp>
        <p:nvSpPr>
          <p:cNvPr id="8" name="Text 5"/>
          <p:cNvSpPr/>
          <p:nvPr/>
        </p:nvSpPr>
        <p:spPr>
          <a:xfrm>
            <a:off x="3291840" y="1508760"/>
            <a:ext cx="2651760" cy="68580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Efficiency</a:t>
            </a:r>
            <a:endParaRPr lang="en-US" sz="1700" dirty="0"/>
          </a:p>
        </p:txBody>
      </p:sp>
      <p:sp>
        <p:nvSpPr>
          <p:cNvPr id="9" name="Shape 6"/>
          <p:cNvSpPr/>
          <p:nvPr/>
        </p:nvSpPr>
        <p:spPr>
          <a:xfrm>
            <a:off x="6126480" y="1508760"/>
            <a:ext cx="2651760" cy="685800"/>
          </a:xfrm>
          <a:prstGeom prst="rect">
            <a:avLst/>
          </a:prstGeom>
          <a:solidFill>
            <a:srgbClr val="16A34A"/>
          </a:solidFill>
          <a:ln w="12700">
            <a:solidFill>
              <a:srgbClr val="16A34A"/>
            </a:solidFill>
            <a:prstDash val="solid"/>
          </a:ln>
        </p:spPr>
        <p:txBody>
          <a:bodyPr/>
          <a:lstStyle/>
          <a:p>
            <a:endParaRPr lang="en-US"/>
          </a:p>
        </p:txBody>
      </p:sp>
      <p:sp>
        <p:nvSpPr>
          <p:cNvPr id="10" name="Text 7"/>
          <p:cNvSpPr/>
          <p:nvPr/>
        </p:nvSpPr>
        <p:spPr>
          <a:xfrm>
            <a:off x="6126480" y="1508760"/>
            <a:ext cx="2651760" cy="68580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Better Decisions</a:t>
            </a:r>
            <a:endParaRPr lang="en-US" sz="1700" dirty="0"/>
          </a:p>
        </p:txBody>
      </p:sp>
      <p:sp>
        <p:nvSpPr>
          <p:cNvPr id="11" name="Text 8"/>
          <p:cNvSpPr/>
          <p:nvPr/>
        </p:nvSpPr>
        <p:spPr>
          <a:xfrm>
            <a:off x="457200" y="2304288"/>
            <a:ext cx="8229600" cy="594360"/>
          </a:xfrm>
          <a:prstGeom prst="rect">
            <a:avLst/>
          </a:prstGeom>
          <a:noFill/>
          <a:ln/>
        </p:spPr>
        <p:txBody>
          <a:bodyPr wrap="square" rtlCol="0" anchor="ctr"/>
          <a:lstStyle/>
          <a:p>
            <a:pPr marL="0" indent="0">
              <a:buNone/>
            </a:pPr>
            <a:r>
              <a:rPr lang="en-US" sz="1300" dirty="0">
                <a:solidFill>
                  <a:srgbClr val="1F2937"/>
                </a:solidFill>
                <a:latin typeface="Calibri" pitchFamily="34" charset="0"/>
                <a:ea typeface="Calibri" pitchFamily="34" charset="-122"/>
                <a:cs typeface="Calibri" pitchFamily="34" charset="-120"/>
              </a:rPr>
              <a:t>WhatIDid helps improve all three by turning everyday operational experience into organizational intelligence.</a:t>
            </a:r>
            <a:endParaRPr lang="en-US" sz="1300" dirty="0"/>
          </a:p>
        </p:txBody>
      </p:sp>
      <p:sp>
        <p:nvSpPr>
          <p:cNvPr id="12" name="Text 9"/>
          <p:cNvSpPr/>
          <p:nvPr/>
        </p:nvSpPr>
        <p:spPr>
          <a:xfrm>
            <a:off x="457200" y="2926080"/>
            <a:ext cx="8229600" cy="320040"/>
          </a:xfrm>
          <a:prstGeom prst="rect">
            <a:avLst/>
          </a:prstGeom>
          <a:noFill/>
          <a:ln/>
        </p:spPr>
        <p:txBody>
          <a:bodyPr wrap="square" rtlCol="0" anchor="ctr"/>
          <a:lstStyle/>
          <a:p>
            <a:pPr marL="0" indent="0">
              <a:buNone/>
            </a:pPr>
            <a:r>
              <a:rPr lang="en-US" sz="1300" b="1" dirty="0">
                <a:solidFill>
                  <a:srgbClr val="1F2937"/>
                </a:solidFill>
                <a:latin typeface="Calibri" pitchFamily="34" charset="0"/>
                <a:ea typeface="Calibri" pitchFamily="34" charset="-122"/>
                <a:cs typeface="Calibri" pitchFamily="34" charset="-120"/>
              </a:rPr>
              <a:t>Leadership can:</a:t>
            </a:r>
            <a:endParaRPr lang="en-US" sz="1300" dirty="0"/>
          </a:p>
        </p:txBody>
      </p:sp>
      <p:sp>
        <p:nvSpPr>
          <p:cNvPr id="13" name="Text 10"/>
          <p:cNvSpPr/>
          <p:nvPr/>
        </p:nvSpPr>
        <p:spPr>
          <a:xfrm>
            <a:off x="640080" y="3273552"/>
            <a:ext cx="7772400" cy="1234440"/>
          </a:xfrm>
          <a:prstGeom prst="rect">
            <a:avLst/>
          </a:prstGeom>
          <a:noFill/>
          <a:ln/>
        </p:spPr>
        <p:txBody>
          <a:bodyPr wrap="square" rtlCol="0" anchor="ctr"/>
          <a:lstStyle/>
          <a:p>
            <a:pPr marL="342900" indent="-342900">
              <a:buSzPct val="100000"/>
              <a:buChar char="•"/>
            </a:pPr>
            <a:r>
              <a:rPr lang="en-US" sz="1300" dirty="0">
                <a:solidFill>
                  <a:srgbClr val="1F2937"/>
                </a:solidFill>
                <a:latin typeface="Calibri" pitchFamily="34" charset="0"/>
                <a:ea typeface="Calibri" pitchFamily="34" charset="-122"/>
                <a:cs typeface="Calibri" pitchFamily="34" charset="-120"/>
              </a:rPr>
              <a:t>Identify recurring operational problems</a:t>
            </a:r>
            <a:endParaRPr lang="en-US" sz="1300" dirty="0"/>
          </a:p>
          <a:p>
            <a:pPr marL="342900" indent="-342900">
              <a:buSzPct val="100000"/>
              <a:buChar char="•"/>
            </a:pPr>
            <a:r>
              <a:rPr lang="en-US" sz="1300" dirty="0">
                <a:solidFill>
                  <a:srgbClr val="1F2937"/>
                </a:solidFill>
                <a:latin typeface="Calibri" pitchFamily="34" charset="0"/>
                <a:ea typeface="Calibri" pitchFamily="34" charset="-122"/>
                <a:cs typeface="Calibri" pitchFamily="34" charset="-120"/>
              </a:rPr>
              <a:t>Accelerate learning across departments</a:t>
            </a:r>
            <a:endParaRPr lang="en-US" sz="1300" dirty="0"/>
          </a:p>
          <a:p>
            <a:pPr marL="342900" indent="-342900">
              <a:buSzPct val="100000"/>
              <a:buChar char="•"/>
            </a:pPr>
            <a:r>
              <a:rPr lang="en-US" sz="1300" dirty="0">
                <a:solidFill>
                  <a:srgbClr val="1F2937"/>
                </a:solidFill>
                <a:latin typeface="Calibri" pitchFamily="34" charset="0"/>
                <a:ea typeface="Calibri" pitchFamily="34" charset="-122"/>
                <a:cs typeface="Calibri" pitchFamily="34" charset="-120"/>
              </a:rPr>
              <a:t>Prioritize improvement initiatives</a:t>
            </a:r>
            <a:endParaRPr lang="en-US" sz="1300" dirty="0"/>
          </a:p>
          <a:p>
            <a:pPr marL="342900" indent="-342900">
              <a:buSzPct val="100000"/>
              <a:buChar char="•"/>
            </a:pPr>
            <a:r>
              <a:rPr lang="en-US" sz="1300" dirty="0">
                <a:solidFill>
                  <a:srgbClr val="1F2937"/>
                </a:solidFill>
                <a:latin typeface="Calibri" pitchFamily="34" charset="0"/>
                <a:ea typeface="Calibri" pitchFamily="34" charset="-122"/>
                <a:cs typeface="Calibri" pitchFamily="34" charset="-120"/>
              </a:rPr>
              <a:t>Continuously improve performance through the organizational learning loop</a:t>
            </a:r>
            <a:endParaRPr lang="en-US" sz="1300" dirty="0"/>
          </a:p>
        </p:txBody>
      </p:sp>
      <p:sp>
        <p:nvSpPr>
          <p:cNvPr id="14" name="Shape 11"/>
          <p:cNvSpPr/>
          <p:nvPr/>
        </p:nvSpPr>
        <p:spPr>
          <a:xfrm>
            <a:off x="0" y="4709160"/>
            <a:ext cx="9144000" cy="434340"/>
          </a:xfrm>
          <a:prstGeom prst="rect">
            <a:avLst/>
          </a:prstGeom>
          <a:solidFill>
            <a:srgbClr val="D97706"/>
          </a:solidFill>
          <a:ln w="12700">
            <a:solidFill>
              <a:srgbClr val="D97706"/>
            </a:solidFill>
            <a:prstDash val="solid"/>
          </a:ln>
        </p:spPr>
        <p:txBody>
          <a:bodyPr/>
          <a:lstStyle/>
          <a:p>
            <a:endParaRPr lang="en-US"/>
          </a:p>
        </p:txBody>
      </p:sp>
      <p:sp>
        <p:nvSpPr>
          <p:cNvPr id="15" name="Text 12"/>
          <p:cNvSpPr/>
          <p:nvPr/>
        </p:nvSpPr>
        <p:spPr>
          <a:xfrm>
            <a:off x="365760" y="4745736"/>
            <a:ext cx="841248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Turning everyday experience into competitive advantage.</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bg>
      <p:bgPr>
        <a:solidFill>
          <a:srgbClr val="F3EE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914400"/>
          </a:xfrm>
          <a:prstGeom prst="rect">
            <a:avLst/>
          </a:prstGeom>
        </p:spPr>
      </p:pic>
      <p:sp>
        <p:nvSpPr>
          <p:cNvPr id="3" name="Text 0"/>
          <p:cNvSpPr/>
          <p:nvPr/>
        </p:nvSpPr>
        <p:spPr>
          <a:xfrm>
            <a:off x="457200" y="109728"/>
            <a:ext cx="7772400" cy="804672"/>
          </a:xfrm>
          <a:prstGeom prst="rect">
            <a:avLst/>
          </a:prstGeom>
          <a:noFill/>
          <a:ln/>
        </p:spPr>
        <p:txBody>
          <a:bodyPr wrap="square" lIns="0" tIns="0" rIns="0" bIns="0" rtlCol="0" anchor="ctr"/>
          <a:lstStyle/>
          <a:p>
            <a:pPr marL="0" indent="0" algn="l">
              <a:buNone/>
            </a:pPr>
            <a:r>
              <a:rPr lang="en-US" sz="2600" b="1" dirty="0">
                <a:solidFill>
                  <a:srgbClr val="FFFFFF"/>
                </a:solidFill>
                <a:latin typeface="Calibri" pitchFamily="34" charset="0"/>
                <a:ea typeface="Calibri" pitchFamily="34" charset="-122"/>
                <a:cs typeface="Calibri" pitchFamily="34" charset="-120"/>
              </a:rPr>
              <a:t>Implementation Model</a:t>
            </a:r>
            <a:endParaRPr lang="en-US" sz="2600" dirty="0"/>
          </a:p>
        </p:txBody>
      </p:sp>
      <p:sp>
        <p:nvSpPr>
          <p:cNvPr id="4" name="Text 1"/>
          <p:cNvSpPr/>
          <p:nvPr/>
        </p:nvSpPr>
        <p:spPr>
          <a:xfrm>
            <a:off x="457200" y="909590"/>
            <a:ext cx="8229600" cy="384048"/>
          </a:xfrm>
          <a:prstGeom prst="rect">
            <a:avLst/>
          </a:prstGeom>
          <a:noFill/>
          <a:ln/>
        </p:spPr>
        <p:txBody>
          <a:bodyPr wrap="square" rtlCol="0" anchor="ctr"/>
          <a:lstStyle/>
          <a:p>
            <a:r>
              <a:rPr lang="en-US" sz="1300" i="1" dirty="0">
                <a:solidFill>
                  <a:srgbClr val="1F2937"/>
                </a:solidFill>
                <a:latin typeface="Calibri" pitchFamily="34" charset="0"/>
                <a:cs typeface="Calibri" pitchFamily="34" charset="-120"/>
              </a:rPr>
              <a:t>A simple, structured rollout in three stages</a:t>
            </a:r>
          </a:p>
        </p:txBody>
      </p:sp>
      <p:sp>
        <p:nvSpPr>
          <p:cNvPr id="5" name="Shape 2"/>
          <p:cNvSpPr/>
          <p:nvPr/>
        </p:nvSpPr>
        <p:spPr>
          <a:xfrm>
            <a:off x="365760" y="1420692"/>
            <a:ext cx="2697480" cy="2596970"/>
          </a:xfrm>
          <a:prstGeom prst="rect">
            <a:avLst/>
          </a:prstGeom>
          <a:solidFill>
            <a:srgbClr val="FFFFFF"/>
          </a:solidFill>
          <a:ln w="12700">
            <a:solidFill>
              <a:srgbClr val="E9D5FF"/>
            </a:solidFill>
            <a:prstDash val="solid"/>
          </a:ln>
          <a:effectLst>
            <a:outerShdw blurRad="101600" dist="38100" dir="8100000" algn="bl" rotWithShape="0">
              <a:srgbClr val="000000">
                <a:alpha val="12000"/>
              </a:srgbClr>
            </a:outerShdw>
          </a:effectLst>
        </p:spPr>
        <p:txBody>
          <a:bodyPr/>
          <a:lstStyle/>
          <a:p>
            <a:endParaRPr lang="en-US"/>
          </a:p>
        </p:txBody>
      </p:sp>
      <p:sp>
        <p:nvSpPr>
          <p:cNvPr id="6" name="Shape 3"/>
          <p:cNvSpPr/>
          <p:nvPr/>
        </p:nvSpPr>
        <p:spPr>
          <a:xfrm>
            <a:off x="1371600" y="1310964"/>
            <a:ext cx="685800" cy="685800"/>
          </a:xfrm>
          <a:prstGeom prst="ellipse">
            <a:avLst/>
          </a:prstGeom>
          <a:solidFill>
            <a:srgbClr val="9333EA"/>
          </a:solidFill>
          <a:ln w="12700">
            <a:solidFill>
              <a:srgbClr val="9333EA"/>
            </a:solidFill>
            <a:prstDash val="solid"/>
          </a:ln>
        </p:spPr>
        <p:txBody>
          <a:bodyPr/>
          <a:lstStyle/>
          <a:p>
            <a:endParaRPr lang="en-US"/>
          </a:p>
        </p:txBody>
      </p:sp>
      <p:sp>
        <p:nvSpPr>
          <p:cNvPr id="7" name="Text 4"/>
          <p:cNvSpPr/>
          <p:nvPr/>
        </p:nvSpPr>
        <p:spPr>
          <a:xfrm>
            <a:off x="1371600" y="1310964"/>
            <a:ext cx="685800" cy="68580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8" name="Text 5"/>
          <p:cNvSpPr/>
          <p:nvPr/>
        </p:nvSpPr>
        <p:spPr>
          <a:xfrm>
            <a:off x="457200" y="2097348"/>
            <a:ext cx="2514600" cy="438912"/>
          </a:xfrm>
          <a:prstGeom prst="rect">
            <a:avLst/>
          </a:prstGeom>
          <a:noFill/>
          <a:ln/>
        </p:spPr>
        <p:txBody>
          <a:bodyPr wrap="square" rtlCol="0" anchor="ctr"/>
          <a:lstStyle/>
          <a:p>
            <a:pPr algn="ctr"/>
            <a:r>
              <a:rPr lang="en-US" sz="1300" b="1" dirty="0">
                <a:solidFill>
                  <a:srgbClr val="9333EA"/>
                </a:solidFill>
                <a:latin typeface="Calibri" pitchFamily="34" charset="0"/>
                <a:cs typeface="Calibri" pitchFamily="34" charset="-120"/>
              </a:rPr>
              <a:t>Setup &amp; Alignment </a:t>
            </a:r>
          </a:p>
          <a:p>
            <a:pPr algn="ctr"/>
            <a:r>
              <a:rPr lang="en-US" sz="1050" i="1" dirty="0">
                <a:solidFill>
                  <a:schemeClr val="tx1">
                    <a:lumMod val="50000"/>
                    <a:lumOff val="50000"/>
                  </a:schemeClr>
                </a:solidFill>
                <a:latin typeface="Calibri" pitchFamily="34" charset="0"/>
                <a:cs typeface="Calibri" pitchFamily="34" charset="-120"/>
              </a:rPr>
              <a:t>(2-4 weeks)</a:t>
            </a:r>
            <a:endParaRPr lang="en-US" sz="1000" i="1" dirty="0">
              <a:solidFill>
                <a:schemeClr val="tx1">
                  <a:lumMod val="50000"/>
                  <a:lumOff val="50000"/>
                </a:schemeClr>
              </a:solidFill>
            </a:endParaRPr>
          </a:p>
        </p:txBody>
      </p:sp>
      <p:sp>
        <p:nvSpPr>
          <p:cNvPr id="9" name="Text 6"/>
          <p:cNvSpPr/>
          <p:nvPr/>
        </p:nvSpPr>
        <p:spPr>
          <a:xfrm>
            <a:off x="482599" y="2452524"/>
            <a:ext cx="2468881" cy="1508760"/>
          </a:xfrm>
          <a:prstGeom prst="rect">
            <a:avLst/>
          </a:prstGeom>
          <a:noFill/>
          <a:ln/>
        </p:spPr>
        <p:txBody>
          <a:bodyPr wrap="square" rtlCol="0" anchor="ctr"/>
          <a:lstStyle/>
          <a:p>
            <a:pPr algn="ctr">
              <a:lnSpc>
                <a:spcPct val="150000"/>
              </a:lnSpc>
            </a:pPr>
            <a:r>
              <a:rPr lang="en-US" sz="1200" dirty="0">
                <a:solidFill>
                  <a:srgbClr val="1F2937"/>
                </a:solidFill>
                <a:latin typeface="Calibri" pitchFamily="34" charset="0"/>
                <a:cs typeface="Calibri" pitchFamily="34" charset="-120"/>
              </a:rPr>
              <a:t>Finalize agreement</a:t>
            </a:r>
          </a:p>
          <a:p>
            <a:pPr algn="ctr">
              <a:lnSpc>
                <a:spcPct val="150000"/>
              </a:lnSpc>
              <a:spcAft>
                <a:spcPts val="600"/>
              </a:spcAft>
            </a:pPr>
            <a:r>
              <a:rPr lang="en-US" sz="1200" dirty="0">
                <a:solidFill>
                  <a:srgbClr val="1F2937"/>
                </a:solidFill>
                <a:latin typeface="Calibri" pitchFamily="34" charset="0"/>
                <a:cs typeface="Calibri" pitchFamily="34" charset="-120"/>
              </a:rPr>
              <a:t>Define pilot scope</a:t>
            </a:r>
          </a:p>
          <a:p>
            <a:pPr algn="ctr"/>
            <a:r>
              <a:rPr lang="en-US" sz="1200" dirty="0">
                <a:solidFill>
                  <a:srgbClr val="1F2937"/>
                </a:solidFill>
                <a:latin typeface="Calibri" pitchFamily="34" charset="0"/>
                <a:cs typeface="Calibri" pitchFamily="34" charset="-120"/>
              </a:rPr>
              <a:t>Identify sponsor and   implementation lead </a:t>
            </a:r>
            <a:r>
              <a:rPr lang="en-US" sz="1200" baseline="30000" dirty="0">
                <a:solidFill>
                  <a:srgbClr val="1F2937"/>
                </a:solidFill>
                <a:latin typeface="Calibri" pitchFamily="34" charset="0"/>
                <a:cs typeface="Calibri" pitchFamily="34" charset="-120"/>
              </a:rPr>
              <a:t>1</a:t>
            </a:r>
          </a:p>
          <a:p>
            <a:pPr algn="ctr">
              <a:lnSpc>
                <a:spcPct val="150000"/>
              </a:lnSpc>
            </a:pPr>
            <a:r>
              <a:rPr lang="en-US" sz="1200" dirty="0">
                <a:solidFill>
                  <a:srgbClr val="1F2937"/>
                </a:solidFill>
                <a:latin typeface="Calibri" pitchFamily="34" charset="0"/>
                <a:cs typeface="Calibri" pitchFamily="34" charset="-120"/>
              </a:rPr>
              <a:t>Configure platform and categories </a:t>
            </a:r>
            <a:r>
              <a:rPr lang="en-US" sz="1200" baseline="30000" dirty="0">
                <a:solidFill>
                  <a:srgbClr val="1F2937"/>
                </a:solidFill>
                <a:latin typeface="Calibri" pitchFamily="34" charset="0"/>
                <a:cs typeface="Calibri" pitchFamily="34" charset="-120"/>
              </a:rPr>
              <a:t>2</a:t>
            </a:r>
            <a:endParaRPr lang="en-US" sz="1200" dirty="0">
              <a:solidFill>
                <a:srgbClr val="1F2937"/>
              </a:solidFill>
              <a:latin typeface="Calibri" pitchFamily="34" charset="0"/>
              <a:cs typeface="Calibri" pitchFamily="34" charset="-120"/>
            </a:endParaRPr>
          </a:p>
        </p:txBody>
      </p:sp>
      <p:sp>
        <p:nvSpPr>
          <p:cNvPr id="10" name="Shape 7"/>
          <p:cNvSpPr/>
          <p:nvPr/>
        </p:nvSpPr>
        <p:spPr>
          <a:xfrm>
            <a:off x="3246120" y="1420692"/>
            <a:ext cx="2697480" cy="2596970"/>
          </a:xfrm>
          <a:prstGeom prst="rect">
            <a:avLst/>
          </a:prstGeom>
          <a:solidFill>
            <a:srgbClr val="FFFFFF"/>
          </a:solidFill>
          <a:ln w="12700">
            <a:solidFill>
              <a:srgbClr val="E9D5FF"/>
            </a:solidFill>
            <a:prstDash val="solid"/>
          </a:ln>
          <a:effectLst>
            <a:outerShdw blurRad="101600" dist="38100" dir="8100000" algn="bl" rotWithShape="0">
              <a:srgbClr val="000000">
                <a:alpha val="12000"/>
              </a:srgbClr>
            </a:outerShdw>
          </a:effectLst>
        </p:spPr>
        <p:txBody>
          <a:bodyPr/>
          <a:lstStyle/>
          <a:p>
            <a:endParaRPr lang="en-US"/>
          </a:p>
        </p:txBody>
      </p:sp>
      <p:sp>
        <p:nvSpPr>
          <p:cNvPr id="11" name="Shape 8"/>
          <p:cNvSpPr/>
          <p:nvPr/>
        </p:nvSpPr>
        <p:spPr>
          <a:xfrm>
            <a:off x="4251960" y="1310964"/>
            <a:ext cx="685800" cy="685800"/>
          </a:xfrm>
          <a:prstGeom prst="ellipse">
            <a:avLst/>
          </a:prstGeom>
          <a:solidFill>
            <a:srgbClr val="2563EB"/>
          </a:solidFill>
          <a:ln w="12700">
            <a:solidFill>
              <a:srgbClr val="2563EB"/>
            </a:solidFill>
            <a:prstDash val="solid"/>
          </a:ln>
        </p:spPr>
        <p:txBody>
          <a:bodyPr/>
          <a:lstStyle/>
          <a:p>
            <a:endParaRPr lang="en-US"/>
          </a:p>
        </p:txBody>
      </p:sp>
      <p:sp>
        <p:nvSpPr>
          <p:cNvPr id="12" name="Text 9"/>
          <p:cNvSpPr/>
          <p:nvPr/>
        </p:nvSpPr>
        <p:spPr>
          <a:xfrm>
            <a:off x="4251960" y="1310964"/>
            <a:ext cx="685800" cy="68580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3" name="Text 10"/>
          <p:cNvSpPr/>
          <p:nvPr/>
        </p:nvSpPr>
        <p:spPr>
          <a:xfrm>
            <a:off x="3337560" y="2097348"/>
            <a:ext cx="2514600" cy="438912"/>
          </a:xfrm>
          <a:prstGeom prst="rect">
            <a:avLst/>
          </a:prstGeom>
          <a:noFill/>
          <a:ln/>
        </p:spPr>
        <p:txBody>
          <a:bodyPr wrap="square" rtlCol="0" anchor="ctr"/>
          <a:lstStyle/>
          <a:p>
            <a:pPr marL="0" indent="0" algn="ctr">
              <a:buNone/>
            </a:pPr>
            <a:r>
              <a:rPr lang="en-US" sz="1300" b="1" dirty="0">
                <a:solidFill>
                  <a:srgbClr val="2563EB"/>
                </a:solidFill>
                <a:latin typeface="Calibri" pitchFamily="34" charset="0"/>
                <a:ea typeface="Calibri" pitchFamily="34" charset="-122"/>
                <a:cs typeface="Calibri" pitchFamily="34" charset="-120"/>
              </a:rPr>
              <a:t>Pilot &amp; Early Adoption </a:t>
            </a:r>
          </a:p>
          <a:p>
            <a:pPr marL="0" indent="0" algn="ctr">
              <a:buNone/>
            </a:pPr>
            <a:r>
              <a:rPr lang="en-US" sz="1050" i="1" dirty="0">
                <a:solidFill>
                  <a:schemeClr val="tx1">
                    <a:lumMod val="50000"/>
                    <a:lumOff val="50000"/>
                  </a:schemeClr>
                </a:solidFill>
                <a:latin typeface="Calibri" pitchFamily="34" charset="0"/>
                <a:ea typeface="Calibri" pitchFamily="34" charset="-122"/>
                <a:cs typeface="Calibri" pitchFamily="34" charset="-120"/>
              </a:rPr>
              <a:t>(4-6 weeks)</a:t>
            </a:r>
          </a:p>
        </p:txBody>
      </p:sp>
      <p:sp>
        <p:nvSpPr>
          <p:cNvPr id="14" name="Text 11"/>
          <p:cNvSpPr/>
          <p:nvPr/>
        </p:nvSpPr>
        <p:spPr>
          <a:xfrm>
            <a:off x="3383280" y="2452524"/>
            <a:ext cx="2423160" cy="1508760"/>
          </a:xfrm>
          <a:prstGeom prst="rect">
            <a:avLst/>
          </a:prstGeom>
          <a:noFill/>
          <a:ln/>
        </p:spPr>
        <p:txBody>
          <a:bodyPr wrap="square" rtlCol="0" anchor="ctr"/>
          <a:lstStyle/>
          <a:p>
            <a:pPr algn="ctr">
              <a:lnSpc>
                <a:spcPct val="150000"/>
              </a:lnSpc>
            </a:pPr>
            <a:r>
              <a:rPr lang="en-US" sz="1200" dirty="0">
                <a:solidFill>
                  <a:srgbClr val="1F2937"/>
                </a:solidFill>
                <a:latin typeface="Calibri" pitchFamily="34" charset="0"/>
                <a:cs typeface="Calibri" pitchFamily="34" charset="-120"/>
              </a:rPr>
              <a:t>Train initial teams</a:t>
            </a:r>
          </a:p>
          <a:p>
            <a:pPr algn="ctr">
              <a:lnSpc>
                <a:spcPct val="150000"/>
              </a:lnSpc>
            </a:pPr>
            <a:r>
              <a:rPr lang="en-US" sz="1200" dirty="0">
                <a:solidFill>
                  <a:srgbClr val="1F2937"/>
                </a:solidFill>
                <a:latin typeface="Calibri" pitchFamily="34" charset="0"/>
                <a:cs typeface="Calibri" pitchFamily="34" charset="-120"/>
              </a:rPr>
              <a:t>Capture work experiences</a:t>
            </a:r>
          </a:p>
          <a:p>
            <a:pPr algn="ctr">
              <a:lnSpc>
                <a:spcPct val="150000"/>
              </a:lnSpc>
            </a:pPr>
            <a:r>
              <a:rPr lang="en-US" sz="1200" dirty="0">
                <a:solidFill>
                  <a:srgbClr val="1F2937"/>
                </a:solidFill>
                <a:latin typeface="Calibri" pitchFamily="34" charset="0"/>
                <a:cs typeface="Calibri" pitchFamily="34" charset="-120"/>
              </a:rPr>
              <a:t>Drive early engagement and usage</a:t>
            </a:r>
          </a:p>
        </p:txBody>
      </p:sp>
      <p:sp>
        <p:nvSpPr>
          <p:cNvPr id="15" name="Shape 12"/>
          <p:cNvSpPr/>
          <p:nvPr/>
        </p:nvSpPr>
        <p:spPr>
          <a:xfrm>
            <a:off x="6126480" y="1420692"/>
            <a:ext cx="2697480" cy="2596970"/>
          </a:xfrm>
          <a:prstGeom prst="rect">
            <a:avLst/>
          </a:prstGeom>
          <a:solidFill>
            <a:srgbClr val="FFFFFF"/>
          </a:solidFill>
          <a:ln w="12700">
            <a:solidFill>
              <a:srgbClr val="E9D5FF"/>
            </a:solidFill>
            <a:prstDash val="solid"/>
          </a:ln>
          <a:effectLst>
            <a:outerShdw blurRad="101600" dist="38100" dir="8100000" algn="bl" rotWithShape="0">
              <a:srgbClr val="000000">
                <a:alpha val="12000"/>
              </a:srgbClr>
            </a:outerShdw>
          </a:effectLst>
        </p:spPr>
        <p:txBody>
          <a:bodyPr/>
          <a:lstStyle/>
          <a:p>
            <a:endParaRPr lang="en-US"/>
          </a:p>
        </p:txBody>
      </p:sp>
      <p:sp>
        <p:nvSpPr>
          <p:cNvPr id="16" name="Shape 13"/>
          <p:cNvSpPr/>
          <p:nvPr/>
        </p:nvSpPr>
        <p:spPr>
          <a:xfrm>
            <a:off x="7132320" y="1310964"/>
            <a:ext cx="685800" cy="685800"/>
          </a:xfrm>
          <a:prstGeom prst="ellipse">
            <a:avLst/>
          </a:prstGeom>
          <a:solidFill>
            <a:srgbClr val="16A34A"/>
          </a:solidFill>
          <a:ln w="12700">
            <a:solidFill>
              <a:srgbClr val="16A34A"/>
            </a:solidFill>
            <a:prstDash val="solid"/>
          </a:ln>
        </p:spPr>
        <p:txBody>
          <a:bodyPr/>
          <a:lstStyle/>
          <a:p>
            <a:endParaRPr lang="en-US"/>
          </a:p>
        </p:txBody>
      </p:sp>
      <p:sp>
        <p:nvSpPr>
          <p:cNvPr id="17" name="Text 14"/>
          <p:cNvSpPr/>
          <p:nvPr/>
        </p:nvSpPr>
        <p:spPr>
          <a:xfrm>
            <a:off x="7132320" y="1310964"/>
            <a:ext cx="685800" cy="68580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8" name="Text 15"/>
          <p:cNvSpPr/>
          <p:nvPr/>
        </p:nvSpPr>
        <p:spPr>
          <a:xfrm>
            <a:off x="6217920" y="2087723"/>
            <a:ext cx="2514600" cy="438912"/>
          </a:xfrm>
          <a:prstGeom prst="rect">
            <a:avLst/>
          </a:prstGeom>
          <a:noFill/>
          <a:ln/>
        </p:spPr>
        <p:txBody>
          <a:bodyPr wrap="square" rtlCol="0" anchor="ctr"/>
          <a:lstStyle/>
          <a:p>
            <a:pPr algn="ctr"/>
            <a:r>
              <a:rPr lang="en-US" sz="1300" b="1" dirty="0">
                <a:solidFill>
                  <a:srgbClr val="16A34A"/>
                </a:solidFill>
                <a:latin typeface="Calibri" pitchFamily="34" charset="0"/>
                <a:cs typeface="Calibri" pitchFamily="34" charset="-120"/>
              </a:rPr>
              <a:t>Expansion &amp; Scale </a:t>
            </a:r>
          </a:p>
          <a:p>
            <a:pPr algn="ctr"/>
            <a:r>
              <a:rPr lang="en-US" sz="1050" i="1" dirty="0">
                <a:solidFill>
                  <a:schemeClr val="tx1">
                    <a:lumMod val="50000"/>
                    <a:lumOff val="50000"/>
                  </a:schemeClr>
                </a:solidFill>
                <a:latin typeface="Calibri" pitchFamily="34" charset="0"/>
                <a:cs typeface="Calibri" pitchFamily="34" charset="-120"/>
              </a:rPr>
              <a:t>(starts in 8-12 weeks · ongoing)</a:t>
            </a:r>
          </a:p>
        </p:txBody>
      </p:sp>
      <p:sp>
        <p:nvSpPr>
          <p:cNvPr id="19" name="Text 16"/>
          <p:cNvSpPr/>
          <p:nvPr/>
        </p:nvSpPr>
        <p:spPr>
          <a:xfrm>
            <a:off x="6263640" y="2452524"/>
            <a:ext cx="2423160" cy="1508760"/>
          </a:xfrm>
          <a:prstGeom prst="rect">
            <a:avLst/>
          </a:prstGeom>
          <a:noFill/>
          <a:ln/>
        </p:spPr>
        <p:txBody>
          <a:bodyPr wrap="square" rtlCol="0" anchor="ctr"/>
          <a:lstStyle/>
          <a:p>
            <a:pPr algn="ctr">
              <a:lnSpc>
                <a:spcPct val="150000"/>
              </a:lnSpc>
            </a:pPr>
            <a:r>
              <a:rPr lang="en-US" sz="1200" dirty="0">
                <a:solidFill>
                  <a:srgbClr val="1F2937"/>
                </a:solidFill>
                <a:latin typeface="Calibri" pitchFamily="34" charset="0"/>
                <a:cs typeface="Calibri" pitchFamily="34" charset="-120"/>
              </a:rPr>
              <a:t>Roll out across teams</a:t>
            </a:r>
          </a:p>
          <a:p>
            <a:pPr algn="ctr">
              <a:lnSpc>
                <a:spcPct val="150000"/>
              </a:lnSpc>
              <a:spcAft>
                <a:spcPts val="600"/>
              </a:spcAft>
            </a:pPr>
            <a:r>
              <a:rPr lang="en-US" sz="1200" dirty="0">
                <a:solidFill>
                  <a:srgbClr val="1F2937"/>
                </a:solidFill>
                <a:latin typeface="Calibri" pitchFamily="34" charset="0"/>
                <a:cs typeface="Calibri" pitchFamily="34" charset="-120"/>
              </a:rPr>
              <a:t>Generate and leverage Key Insights</a:t>
            </a:r>
          </a:p>
          <a:p>
            <a:pPr algn="ctr"/>
            <a:r>
              <a:rPr lang="en-US" sz="1200" dirty="0">
                <a:solidFill>
                  <a:srgbClr val="1F2937"/>
                </a:solidFill>
                <a:latin typeface="Calibri" pitchFamily="34" charset="0"/>
                <a:cs typeface="Calibri" pitchFamily="34" charset="-120"/>
              </a:rPr>
              <a:t>Enable leadership to take faster, data-driven strategic action</a:t>
            </a:r>
          </a:p>
          <a:p>
            <a:pPr algn="ctr">
              <a:lnSpc>
                <a:spcPct val="150000"/>
              </a:lnSpc>
            </a:pPr>
            <a:r>
              <a:rPr lang="en-US" sz="1200" dirty="0">
                <a:solidFill>
                  <a:srgbClr val="1F2937"/>
                </a:solidFill>
                <a:latin typeface="Calibri" pitchFamily="34" charset="0"/>
                <a:cs typeface="Calibri" pitchFamily="34" charset="-120"/>
              </a:rPr>
              <a:t>Embed into daily workflows</a:t>
            </a:r>
          </a:p>
        </p:txBody>
      </p:sp>
      <p:sp>
        <p:nvSpPr>
          <p:cNvPr id="20" name="Shape 17"/>
          <p:cNvSpPr/>
          <p:nvPr/>
        </p:nvSpPr>
        <p:spPr>
          <a:xfrm>
            <a:off x="0" y="4709160"/>
            <a:ext cx="9144000" cy="434340"/>
          </a:xfrm>
          <a:prstGeom prst="rect">
            <a:avLst/>
          </a:prstGeom>
          <a:solidFill>
            <a:srgbClr val="D97706"/>
          </a:solidFill>
          <a:ln w="12700">
            <a:solidFill>
              <a:srgbClr val="D97706"/>
            </a:solidFill>
            <a:prstDash val="solid"/>
          </a:ln>
        </p:spPr>
        <p:txBody>
          <a:bodyPr/>
          <a:lstStyle/>
          <a:p>
            <a:endParaRPr lang="en-US"/>
          </a:p>
        </p:txBody>
      </p:sp>
      <p:sp>
        <p:nvSpPr>
          <p:cNvPr id="21" name="Text 18"/>
          <p:cNvSpPr/>
          <p:nvPr/>
        </p:nvSpPr>
        <p:spPr>
          <a:xfrm>
            <a:off x="365760" y="4759561"/>
            <a:ext cx="8412480" cy="347472"/>
          </a:xfrm>
          <a:prstGeom prst="rect">
            <a:avLst/>
          </a:prstGeom>
          <a:noFill/>
          <a:ln/>
        </p:spPr>
        <p:txBody>
          <a:bodyPr wrap="square" lIns="0" tIns="0" rIns="0" bIns="0" rtlCol="0" anchor="ctr"/>
          <a:lstStyle/>
          <a:p>
            <a:pPr algn="ctr"/>
            <a:r>
              <a:rPr lang="en-US" sz="1200" b="1" dirty="0">
                <a:solidFill>
                  <a:srgbClr val="FFFFFF"/>
                </a:solidFill>
                <a:latin typeface="Calibri" pitchFamily="34" charset="0"/>
                <a:cs typeface="Calibri" pitchFamily="34" charset="-120"/>
              </a:rPr>
              <a:t>A fast, structured path from setup to organization-wide adoption.</a:t>
            </a:r>
          </a:p>
        </p:txBody>
      </p:sp>
      <p:sp>
        <p:nvSpPr>
          <p:cNvPr id="24" name="TextBox 23">
            <a:extLst>
              <a:ext uri="{FF2B5EF4-FFF2-40B4-BE49-F238E27FC236}">
                <a16:creationId xmlns:a16="http://schemas.microsoft.com/office/drawing/2014/main" id="{EA93DC90-C65E-C89E-745B-9CD4C386EC15}"/>
              </a:ext>
            </a:extLst>
          </p:cNvPr>
          <p:cNvSpPr txBox="1"/>
          <p:nvPr/>
        </p:nvSpPr>
        <p:spPr>
          <a:xfrm>
            <a:off x="421639" y="4048865"/>
            <a:ext cx="8412480" cy="892552"/>
          </a:xfrm>
          <a:prstGeom prst="rect">
            <a:avLst/>
          </a:prstGeom>
          <a:noFill/>
          <a:ln/>
        </p:spPr>
        <p:txBody>
          <a:bodyPr wrap="square" rtlCol="0" anchor="ctr"/>
          <a:lstStyle>
            <a:lvl1pPr>
              <a:defRPr sz="1300" i="1">
                <a:solidFill>
                  <a:srgbClr val="1F2937"/>
                </a:solidFill>
                <a:latin typeface="Calibri" pitchFamily="34" charset="0"/>
                <a:cs typeface="Calibri" pitchFamily="34" charset="-120"/>
              </a:defRPr>
            </a:lvl1pPr>
          </a:lstStyle>
          <a:p>
            <a:r>
              <a:rPr lang="en-US" sz="1400" baseline="30000" dirty="0"/>
              <a:t>2  </a:t>
            </a:r>
            <a:r>
              <a:rPr lang="en-US" dirty="0"/>
              <a:t>For clients requiring dedicated cloud deployment (Google Cloud, AWS, or Azure), add 2-4 weeks for infrastructure setup</a:t>
            </a:r>
          </a:p>
        </p:txBody>
      </p:sp>
      <p:sp>
        <p:nvSpPr>
          <p:cNvPr id="23" name="Text 1">
            <a:extLst>
              <a:ext uri="{FF2B5EF4-FFF2-40B4-BE49-F238E27FC236}">
                <a16:creationId xmlns:a16="http://schemas.microsoft.com/office/drawing/2014/main" id="{BA5E2D2D-82B9-E79A-13AE-31CEBEEE6FBF}"/>
              </a:ext>
            </a:extLst>
          </p:cNvPr>
          <p:cNvSpPr/>
          <p:nvPr/>
        </p:nvSpPr>
        <p:spPr>
          <a:xfrm>
            <a:off x="399980" y="4041167"/>
            <a:ext cx="8229600" cy="384048"/>
          </a:xfrm>
          <a:prstGeom prst="rect">
            <a:avLst/>
          </a:prstGeom>
          <a:noFill/>
          <a:ln/>
        </p:spPr>
        <p:txBody>
          <a:bodyPr wrap="square" rtlCol="0" anchor="ctr"/>
          <a:lstStyle/>
          <a:p>
            <a:r>
              <a:rPr lang="en-US" sz="1400" baseline="30000" dirty="0">
                <a:solidFill>
                  <a:srgbClr val="1F2937"/>
                </a:solidFill>
                <a:latin typeface="Calibri" pitchFamily="34" charset="0"/>
                <a:cs typeface="Calibri" pitchFamily="34" charset="-120"/>
              </a:rPr>
              <a:t>1  </a:t>
            </a:r>
            <a:r>
              <a:rPr lang="en-US" sz="1300" i="1" dirty="0">
                <a:solidFill>
                  <a:srgbClr val="1F2937"/>
                </a:solidFill>
                <a:latin typeface="Calibri" pitchFamily="34" charset="0"/>
                <a:cs typeface="Calibri" pitchFamily="34" charset="-120"/>
              </a:rPr>
              <a:t>Typically sponsored by COO/CHRO; led by Operations, L&amp;D (Learning &amp; Development), or Transformation teams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914400"/>
          </a:xfrm>
          <a:prstGeom prst="rect">
            <a:avLst/>
          </a:prstGeom>
        </p:spPr>
      </p:pic>
      <p:sp>
        <p:nvSpPr>
          <p:cNvPr id="3" name="Text 0"/>
          <p:cNvSpPr/>
          <p:nvPr/>
        </p:nvSpPr>
        <p:spPr>
          <a:xfrm>
            <a:off x="457200" y="109728"/>
            <a:ext cx="7772400" cy="804672"/>
          </a:xfrm>
          <a:prstGeom prst="rect">
            <a:avLst/>
          </a:prstGeom>
          <a:noFill/>
          <a:ln/>
        </p:spPr>
        <p:txBody>
          <a:bodyPr wrap="square" lIns="0" tIns="0" rIns="0" bIns="0" rtlCol="0" anchor="ctr"/>
          <a:lstStyle/>
          <a:p>
            <a:pPr marL="0" indent="0" algn="l">
              <a:buNone/>
            </a:pPr>
            <a:r>
              <a:rPr lang="en-US" sz="2600" b="1" dirty="0">
                <a:solidFill>
                  <a:srgbClr val="FFFFFF"/>
                </a:solidFill>
                <a:latin typeface="Calibri" pitchFamily="34" charset="0"/>
                <a:ea typeface="Calibri" pitchFamily="34" charset="-122"/>
                <a:cs typeface="Calibri" pitchFamily="34" charset="-120"/>
              </a:rPr>
              <a:t>Deployment Options</a:t>
            </a:r>
            <a:endParaRPr lang="en-US" sz="2600" dirty="0"/>
          </a:p>
        </p:txBody>
      </p:sp>
      <p:sp>
        <p:nvSpPr>
          <p:cNvPr id="4" name="Text 1"/>
          <p:cNvSpPr/>
          <p:nvPr/>
        </p:nvSpPr>
        <p:spPr>
          <a:xfrm>
            <a:off x="457200" y="1005840"/>
            <a:ext cx="8229600" cy="384048"/>
          </a:xfrm>
          <a:prstGeom prst="rect">
            <a:avLst/>
          </a:prstGeom>
          <a:noFill/>
          <a:ln/>
        </p:spPr>
        <p:txBody>
          <a:bodyPr wrap="square" rtlCol="0" anchor="ctr"/>
          <a:lstStyle/>
          <a:p>
            <a:pPr marL="0" indent="0">
              <a:buNone/>
            </a:pPr>
            <a:r>
              <a:rPr lang="en-US" sz="1300" i="1" dirty="0">
                <a:solidFill>
                  <a:srgbClr val="1F2937"/>
                </a:solidFill>
                <a:latin typeface="Calibri" pitchFamily="34" charset="0"/>
                <a:ea typeface="Calibri" pitchFamily="34" charset="-122"/>
                <a:cs typeface="Calibri" pitchFamily="34" charset="-120"/>
              </a:rPr>
              <a:t>Organizations can implement WhatIDid in two ways:</a:t>
            </a:r>
            <a:endParaRPr lang="en-US" sz="1300" dirty="0"/>
          </a:p>
        </p:txBody>
      </p:sp>
      <p:sp>
        <p:nvSpPr>
          <p:cNvPr id="5" name="Shape 2"/>
          <p:cNvSpPr/>
          <p:nvPr/>
        </p:nvSpPr>
        <p:spPr>
          <a:xfrm>
            <a:off x="365760" y="1536192"/>
            <a:ext cx="3931920" cy="2834640"/>
          </a:xfrm>
          <a:prstGeom prst="rect">
            <a:avLst/>
          </a:prstGeom>
          <a:solidFill>
            <a:srgbClr val="9333EA"/>
          </a:solidFill>
          <a:ln w="12700">
            <a:solidFill>
              <a:srgbClr val="9333EA"/>
            </a:solidFill>
            <a:prstDash val="solid"/>
          </a:ln>
          <a:effectLst>
            <a:outerShdw blurRad="101600" dist="38100" dir="8100000" algn="bl" rotWithShape="0">
              <a:srgbClr val="000000">
                <a:alpha val="12000"/>
              </a:srgbClr>
            </a:outerShdw>
          </a:effectLst>
        </p:spPr>
        <p:txBody>
          <a:bodyPr/>
          <a:lstStyle/>
          <a:p>
            <a:endParaRPr lang="en-US"/>
          </a:p>
        </p:txBody>
      </p:sp>
      <p:sp>
        <p:nvSpPr>
          <p:cNvPr id="6" name="Text 3"/>
          <p:cNvSpPr/>
          <p:nvPr/>
        </p:nvSpPr>
        <p:spPr>
          <a:xfrm>
            <a:off x="365760" y="1627632"/>
            <a:ext cx="3931920" cy="822960"/>
          </a:xfrm>
          <a:prstGeom prst="rect">
            <a:avLst/>
          </a:prstGeom>
          <a:noFill/>
          <a:ln/>
        </p:spPr>
        <p:txBody>
          <a:bodyPr wrap="square" rtlCol="0" anchor="ctr"/>
          <a:lstStyle/>
          <a:p>
            <a:pPr marL="0" indent="0" algn="ctr">
              <a:buNone/>
            </a:pPr>
            <a:r>
              <a:rPr lang="en-US" sz="3600" dirty="0">
                <a:solidFill>
                  <a:srgbClr val="000000"/>
                </a:solidFill>
              </a:rPr>
              <a:t>☁️</a:t>
            </a:r>
            <a:endParaRPr lang="en-US" sz="3600" dirty="0"/>
          </a:p>
        </p:txBody>
      </p:sp>
      <p:sp>
        <p:nvSpPr>
          <p:cNvPr id="7" name="Text 4"/>
          <p:cNvSpPr/>
          <p:nvPr/>
        </p:nvSpPr>
        <p:spPr>
          <a:xfrm>
            <a:off x="502920" y="2487168"/>
            <a:ext cx="3657600" cy="438912"/>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Cloud-Based Platform</a:t>
            </a:r>
            <a:endParaRPr lang="en-US" sz="1500" dirty="0"/>
          </a:p>
        </p:txBody>
      </p:sp>
      <p:sp>
        <p:nvSpPr>
          <p:cNvPr id="8" name="Text 5"/>
          <p:cNvSpPr/>
          <p:nvPr/>
        </p:nvSpPr>
        <p:spPr>
          <a:xfrm>
            <a:off x="502920" y="2971800"/>
            <a:ext cx="3657600" cy="1234440"/>
          </a:xfrm>
          <a:prstGeom prst="rect">
            <a:avLst/>
          </a:prstGeom>
          <a:noFill/>
          <a:ln/>
        </p:spPr>
        <p:txBody>
          <a:bodyPr wrap="square" rtlCol="0" anchor="ctr"/>
          <a:lstStyle/>
          <a:p>
            <a:pPr marL="0" indent="0" algn="ctr">
              <a:buNone/>
            </a:pPr>
            <a:r>
              <a:rPr lang="en-US" sz="1200" dirty="0">
                <a:solidFill>
                  <a:srgbClr val="C4B5FD"/>
                </a:solidFill>
                <a:latin typeface="Calibri" pitchFamily="34" charset="0"/>
                <a:ea typeface="Calibri" pitchFamily="34" charset="-122"/>
                <a:cs typeface="Calibri" pitchFamily="34" charset="-120"/>
              </a:rPr>
              <a:t>Recommended</a:t>
            </a:r>
            <a:endParaRPr lang="en-US" sz="1200" dirty="0"/>
          </a:p>
          <a:p>
            <a:pPr marL="0" indent="0" algn="ctr">
              <a:buNone/>
            </a:pPr>
            <a:endParaRPr lang="en-US" sz="1200" dirty="0"/>
          </a:p>
          <a:p>
            <a:pPr marL="0" indent="0" algn="ctr">
              <a:buNone/>
            </a:pPr>
            <a:r>
              <a:rPr lang="en-US" sz="1200" dirty="0">
                <a:solidFill>
                  <a:srgbClr val="C4B5FD"/>
                </a:solidFill>
                <a:latin typeface="Calibri" pitchFamily="34" charset="0"/>
                <a:ea typeface="Calibri" pitchFamily="34" charset="-122"/>
                <a:cs typeface="Calibri" pitchFamily="34" charset="-120"/>
              </a:rPr>
              <a:t>Fastest deployment. Always up-to-date. No infrastructure required.</a:t>
            </a:r>
          </a:p>
          <a:p>
            <a:pPr marL="0" indent="0" algn="ctr">
              <a:buNone/>
            </a:pPr>
            <a:endParaRPr lang="en-US" sz="1200" dirty="0">
              <a:solidFill>
                <a:srgbClr val="C4B5FD"/>
              </a:solidFill>
              <a:latin typeface="Calibri" pitchFamily="34" charset="0"/>
              <a:cs typeface="Calibri" pitchFamily="34" charset="-120"/>
            </a:endParaRPr>
          </a:p>
          <a:p>
            <a:pPr lvl="0" algn="ctr">
              <a:defRPr/>
            </a:pPr>
            <a:r>
              <a:rPr lang="en-US" sz="1200" dirty="0">
                <a:solidFill>
                  <a:srgbClr val="C4B5FD"/>
                </a:solidFill>
                <a:latin typeface="Calibri" pitchFamily="34" charset="0"/>
                <a:ea typeface="Calibri" pitchFamily="34" charset="-122"/>
                <a:cs typeface="Calibri" pitchFamily="34" charset="-120"/>
              </a:rPr>
              <a:t>Available on Google Cloud, AWS, or Azure</a:t>
            </a:r>
            <a:endParaRPr lang="en-US" sz="1200" dirty="0">
              <a:solidFill>
                <a:prstClr val="black"/>
              </a:solidFill>
            </a:endParaRPr>
          </a:p>
          <a:p>
            <a:pPr lvl="0" algn="ctr">
              <a:defRPr/>
            </a:pPr>
            <a:r>
              <a:rPr lang="en-US" sz="1200" dirty="0">
                <a:solidFill>
                  <a:srgbClr val="C4B5FD"/>
                </a:solidFill>
                <a:latin typeface="Calibri" pitchFamily="34" charset="0"/>
                <a:ea typeface="Calibri" pitchFamily="34" charset="-122"/>
                <a:cs typeface="Calibri" pitchFamily="34" charset="-120"/>
              </a:rPr>
              <a:t>depending on client preference.</a:t>
            </a:r>
            <a:endParaRPr lang="en-US" sz="1200" dirty="0">
              <a:solidFill>
                <a:prstClr val="black"/>
              </a:solidFill>
            </a:endParaRPr>
          </a:p>
          <a:p>
            <a:pPr marL="0" indent="0" algn="ctr">
              <a:buNone/>
            </a:pPr>
            <a:endParaRPr lang="en-US" sz="1200" dirty="0"/>
          </a:p>
        </p:txBody>
      </p:sp>
      <p:sp>
        <p:nvSpPr>
          <p:cNvPr id="9" name="Text 6"/>
          <p:cNvSpPr/>
          <p:nvPr/>
        </p:nvSpPr>
        <p:spPr>
          <a:xfrm>
            <a:off x="4251960" y="2633472"/>
            <a:ext cx="640080" cy="411480"/>
          </a:xfrm>
          <a:prstGeom prst="rect">
            <a:avLst/>
          </a:prstGeom>
          <a:noFill/>
          <a:ln/>
        </p:spPr>
        <p:txBody>
          <a:bodyPr wrap="square" rtlCol="0" anchor="ctr"/>
          <a:lstStyle/>
          <a:p>
            <a:pPr marL="0" indent="0" algn="ctr">
              <a:buNone/>
            </a:pPr>
            <a:r>
              <a:rPr lang="en-US" sz="1500" b="1" dirty="0">
                <a:solidFill>
                  <a:srgbClr val="6B7280"/>
                </a:solidFill>
                <a:latin typeface="Calibri" pitchFamily="34" charset="0"/>
                <a:ea typeface="Calibri" pitchFamily="34" charset="-122"/>
                <a:cs typeface="Calibri" pitchFamily="34" charset="-120"/>
              </a:rPr>
              <a:t>or</a:t>
            </a:r>
            <a:endParaRPr lang="en-US" sz="1500" dirty="0"/>
          </a:p>
        </p:txBody>
      </p:sp>
      <p:sp>
        <p:nvSpPr>
          <p:cNvPr id="10" name="Shape 7"/>
          <p:cNvSpPr/>
          <p:nvPr/>
        </p:nvSpPr>
        <p:spPr>
          <a:xfrm>
            <a:off x="4846320" y="1536192"/>
            <a:ext cx="3931920" cy="2834640"/>
          </a:xfrm>
          <a:prstGeom prst="rect">
            <a:avLst/>
          </a:prstGeom>
          <a:solidFill>
            <a:srgbClr val="2563EB"/>
          </a:solidFill>
          <a:ln w="12700">
            <a:solidFill>
              <a:srgbClr val="2563EB"/>
            </a:solidFill>
            <a:prstDash val="solid"/>
          </a:ln>
          <a:effectLst>
            <a:outerShdw blurRad="101600" dist="38100" dir="8100000" algn="bl" rotWithShape="0">
              <a:srgbClr val="000000">
                <a:alpha val="12000"/>
              </a:srgbClr>
            </a:outerShdw>
          </a:effectLst>
        </p:spPr>
        <p:txBody>
          <a:bodyPr/>
          <a:lstStyle/>
          <a:p>
            <a:endParaRPr lang="en-US"/>
          </a:p>
        </p:txBody>
      </p:sp>
      <p:sp>
        <p:nvSpPr>
          <p:cNvPr id="11" name="Text 8"/>
          <p:cNvSpPr/>
          <p:nvPr/>
        </p:nvSpPr>
        <p:spPr>
          <a:xfrm>
            <a:off x="4846320" y="1627632"/>
            <a:ext cx="3931920" cy="822960"/>
          </a:xfrm>
          <a:prstGeom prst="rect">
            <a:avLst/>
          </a:prstGeom>
          <a:noFill/>
          <a:ln/>
        </p:spPr>
        <p:txBody>
          <a:bodyPr wrap="square" rtlCol="0" anchor="ctr"/>
          <a:lstStyle/>
          <a:p>
            <a:pPr marL="0" indent="0" algn="ctr">
              <a:buNone/>
            </a:pPr>
            <a:r>
              <a:rPr lang="en-US" sz="3600" dirty="0">
                <a:solidFill>
                  <a:srgbClr val="000000"/>
                </a:solidFill>
              </a:rPr>
              <a:t>🏢</a:t>
            </a:r>
            <a:endParaRPr lang="en-US" sz="3600" dirty="0"/>
          </a:p>
        </p:txBody>
      </p:sp>
      <p:sp>
        <p:nvSpPr>
          <p:cNvPr id="12" name="Text 9"/>
          <p:cNvSpPr/>
          <p:nvPr/>
        </p:nvSpPr>
        <p:spPr>
          <a:xfrm>
            <a:off x="4983480" y="2487168"/>
            <a:ext cx="3657600" cy="438912"/>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Internal Deployment</a:t>
            </a:r>
            <a:endParaRPr lang="en-US" sz="1500" dirty="0"/>
          </a:p>
        </p:txBody>
      </p:sp>
      <p:sp>
        <p:nvSpPr>
          <p:cNvPr id="13" name="Text 10"/>
          <p:cNvSpPr/>
          <p:nvPr/>
        </p:nvSpPr>
        <p:spPr>
          <a:xfrm>
            <a:off x="4983480" y="2971800"/>
            <a:ext cx="3657600" cy="1234440"/>
          </a:xfrm>
          <a:prstGeom prst="rect">
            <a:avLst/>
          </a:prstGeom>
          <a:noFill/>
          <a:ln/>
        </p:spPr>
        <p:txBody>
          <a:bodyPr wrap="square" rtlCol="0" anchor="ctr"/>
          <a:lstStyle/>
          <a:p>
            <a:pPr marL="0" indent="0" algn="ctr">
              <a:buNone/>
            </a:pPr>
            <a:r>
              <a:rPr lang="en-US" sz="1200" dirty="0">
                <a:solidFill>
                  <a:srgbClr val="EFF6FF"/>
                </a:solidFill>
                <a:latin typeface="Calibri" pitchFamily="34" charset="0"/>
                <a:ea typeface="Calibri" pitchFamily="34" charset="-122"/>
                <a:cs typeface="Calibri" pitchFamily="34" charset="-120"/>
              </a:rPr>
              <a:t>Via company IT infrastructure</a:t>
            </a:r>
            <a:endParaRPr lang="en-US" sz="1200" dirty="0"/>
          </a:p>
          <a:p>
            <a:pPr marL="0" indent="0" algn="ctr">
              <a:buNone/>
            </a:pPr>
            <a:endParaRPr lang="en-US" sz="1200" dirty="0"/>
          </a:p>
          <a:p>
            <a:pPr marL="0" indent="0" algn="ctr">
              <a:buNone/>
            </a:pPr>
            <a:r>
              <a:rPr lang="en-US" sz="1200" dirty="0">
                <a:solidFill>
                  <a:srgbClr val="EFF6FF"/>
                </a:solidFill>
                <a:latin typeface="Calibri" pitchFamily="34" charset="0"/>
                <a:ea typeface="Calibri" pitchFamily="34" charset="-122"/>
                <a:cs typeface="Calibri" pitchFamily="34" charset="-120"/>
              </a:rPr>
              <a:t>Full data control. Ideal for regulated industries.</a:t>
            </a:r>
            <a:endParaRPr lang="en-US" sz="1200" dirty="0"/>
          </a:p>
        </p:txBody>
      </p:sp>
      <p:sp>
        <p:nvSpPr>
          <p:cNvPr id="14" name="Shape 11"/>
          <p:cNvSpPr/>
          <p:nvPr/>
        </p:nvSpPr>
        <p:spPr>
          <a:xfrm>
            <a:off x="0" y="4709160"/>
            <a:ext cx="9144000" cy="434340"/>
          </a:xfrm>
          <a:prstGeom prst="rect">
            <a:avLst/>
          </a:prstGeom>
          <a:solidFill>
            <a:srgbClr val="D97706"/>
          </a:solidFill>
          <a:ln w="12700">
            <a:solidFill>
              <a:srgbClr val="D97706"/>
            </a:solidFill>
            <a:prstDash val="solid"/>
          </a:ln>
        </p:spPr>
        <p:txBody>
          <a:bodyPr/>
          <a:lstStyle/>
          <a:p>
            <a:endParaRPr lang="en-US"/>
          </a:p>
        </p:txBody>
      </p:sp>
      <p:sp>
        <p:nvSpPr>
          <p:cNvPr id="15" name="Text 12"/>
          <p:cNvSpPr/>
          <p:nvPr/>
        </p:nvSpPr>
        <p:spPr>
          <a:xfrm>
            <a:off x="365760" y="4745736"/>
            <a:ext cx="841248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Flexible deployment to match your organization's needs.</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3">
    <p:bg>
      <p:bgPr>
        <a:solidFill>
          <a:srgbClr val="1E2E5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914400"/>
          </a:xfrm>
          <a:prstGeom prst="rect">
            <a:avLst/>
          </a:prstGeom>
        </p:spPr>
      </p:pic>
      <p:sp>
        <p:nvSpPr>
          <p:cNvPr id="3" name="Text 0"/>
          <p:cNvSpPr/>
          <p:nvPr/>
        </p:nvSpPr>
        <p:spPr>
          <a:xfrm>
            <a:off x="457200" y="109728"/>
            <a:ext cx="7772400" cy="804672"/>
          </a:xfrm>
          <a:prstGeom prst="rect">
            <a:avLst/>
          </a:prstGeom>
          <a:noFill/>
          <a:ln/>
        </p:spPr>
        <p:txBody>
          <a:bodyPr wrap="square" lIns="0" tIns="0" rIns="0" bIns="0" rtlCol="0" anchor="ctr"/>
          <a:lstStyle/>
          <a:p>
            <a:pPr marL="0" indent="0" algn="l">
              <a:buNone/>
            </a:pPr>
            <a:r>
              <a:rPr lang="en-US" sz="2600" b="1" dirty="0">
                <a:solidFill>
                  <a:srgbClr val="FFFFFF"/>
                </a:solidFill>
                <a:latin typeface="Calibri" pitchFamily="34" charset="0"/>
                <a:ea typeface="Calibri" pitchFamily="34" charset="-122"/>
                <a:cs typeface="Calibri" pitchFamily="34" charset="-120"/>
              </a:rPr>
              <a:t>Optional Professional Services</a:t>
            </a:r>
            <a:endParaRPr lang="en-US" sz="2600" dirty="0"/>
          </a:p>
        </p:txBody>
      </p:sp>
      <p:sp>
        <p:nvSpPr>
          <p:cNvPr id="4" name="Shape 1"/>
          <p:cNvSpPr/>
          <p:nvPr/>
        </p:nvSpPr>
        <p:spPr>
          <a:xfrm>
            <a:off x="365760" y="1051560"/>
            <a:ext cx="8412480" cy="1051560"/>
          </a:xfrm>
          <a:prstGeom prst="rect">
            <a:avLst/>
          </a:prstGeom>
          <a:solidFill>
            <a:srgbClr val="FFFFFF"/>
          </a:solidFill>
          <a:ln w="12700">
            <a:solidFill>
              <a:srgbClr val="E9D5FF"/>
            </a:solidFill>
            <a:prstDash val="solid"/>
          </a:ln>
          <a:effectLst>
            <a:outerShdw blurRad="101600" dist="38100" dir="8100000" algn="bl" rotWithShape="0">
              <a:srgbClr val="000000">
                <a:alpha val="12000"/>
              </a:srgbClr>
            </a:outerShdw>
          </a:effectLst>
        </p:spPr>
        <p:txBody>
          <a:bodyPr/>
          <a:lstStyle/>
          <a:p>
            <a:endParaRPr lang="en-US"/>
          </a:p>
        </p:txBody>
      </p:sp>
      <p:sp>
        <p:nvSpPr>
          <p:cNvPr id="5" name="Shape 2"/>
          <p:cNvSpPr/>
          <p:nvPr/>
        </p:nvSpPr>
        <p:spPr>
          <a:xfrm>
            <a:off x="365760" y="1051560"/>
            <a:ext cx="91440" cy="1051560"/>
          </a:xfrm>
          <a:prstGeom prst="rect">
            <a:avLst/>
          </a:prstGeom>
          <a:solidFill>
            <a:srgbClr val="9333EA"/>
          </a:solidFill>
          <a:ln w="12700">
            <a:solidFill>
              <a:srgbClr val="9333EA"/>
            </a:solidFill>
            <a:prstDash val="solid"/>
          </a:ln>
        </p:spPr>
        <p:txBody>
          <a:bodyPr/>
          <a:lstStyle/>
          <a:p>
            <a:endParaRPr lang="en-US"/>
          </a:p>
        </p:txBody>
      </p:sp>
      <p:sp>
        <p:nvSpPr>
          <p:cNvPr id="6" name="Text 3"/>
          <p:cNvSpPr/>
          <p:nvPr/>
        </p:nvSpPr>
        <p:spPr>
          <a:xfrm>
            <a:off x="548640" y="1143000"/>
            <a:ext cx="8156448" cy="868680"/>
          </a:xfrm>
          <a:prstGeom prst="rect">
            <a:avLst/>
          </a:prstGeom>
          <a:noFill/>
          <a:ln/>
        </p:spPr>
        <p:txBody>
          <a:bodyPr wrap="square" rtlCol="0" anchor="ctr"/>
          <a:lstStyle/>
          <a:p>
            <a:pPr marL="0" indent="0">
              <a:buNone/>
            </a:pPr>
            <a:r>
              <a:rPr lang="en-US" sz="1300" dirty="0">
                <a:solidFill>
                  <a:srgbClr val="1F2937"/>
                </a:solidFill>
                <a:latin typeface="Calibri" pitchFamily="34" charset="0"/>
                <a:ea typeface="Calibri" pitchFamily="34" charset="-122"/>
                <a:cs typeface="Calibri" pitchFamily="34" charset="-120"/>
              </a:rPr>
              <a:t>Existing internal knowledge stored in unstructured documents can be transformed into structured experiences using APIs and AI-assisted processing.</a:t>
            </a:r>
            <a:endParaRPr lang="en-US" sz="1300" dirty="0"/>
          </a:p>
        </p:txBody>
      </p:sp>
      <p:sp>
        <p:nvSpPr>
          <p:cNvPr id="7" name="Text 4"/>
          <p:cNvSpPr/>
          <p:nvPr/>
        </p:nvSpPr>
        <p:spPr>
          <a:xfrm>
            <a:off x="457200" y="2267712"/>
            <a:ext cx="8229600" cy="34747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Examples include:</a:t>
            </a:r>
            <a:endParaRPr lang="en-US" sz="1300" dirty="0"/>
          </a:p>
        </p:txBody>
      </p:sp>
      <p:sp>
        <p:nvSpPr>
          <p:cNvPr id="8" name="Shape 5"/>
          <p:cNvSpPr/>
          <p:nvPr/>
        </p:nvSpPr>
        <p:spPr>
          <a:xfrm>
            <a:off x="457200" y="2743200"/>
            <a:ext cx="1920240" cy="1691640"/>
          </a:xfrm>
          <a:prstGeom prst="rect">
            <a:avLst/>
          </a:prstGeom>
          <a:solidFill>
            <a:srgbClr val="FFFFFF"/>
          </a:solidFill>
          <a:ln w="12700">
            <a:solidFill>
              <a:srgbClr val="E9D5FF"/>
            </a:solidFill>
            <a:prstDash val="solid"/>
          </a:ln>
          <a:effectLst>
            <a:outerShdw blurRad="101600" dist="38100" dir="8100000" algn="bl" rotWithShape="0">
              <a:srgbClr val="000000">
                <a:alpha val="12000"/>
              </a:srgbClr>
            </a:outerShdw>
          </a:effectLst>
        </p:spPr>
        <p:txBody>
          <a:bodyPr/>
          <a:lstStyle/>
          <a:p>
            <a:endParaRPr lang="en-US"/>
          </a:p>
        </p:txBody>
      </p:sp>
      <p:sp>
        <p:nvSpPr>
          <p:cNvPr id="9" name="Text 6"/>
          <p:cNvSpPr/>
          <p:nvPr/>
        </p:nvSpPr>
        <p:spPr>
          <a:xfrm>
            <a:off x="457200" y="2834640"/>
            <a:ext cx="1920240" cy="64008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10" name="Text 7"/>
          <p:cNvSpPr/>
          <p:nvPr/>
        </p:nvSpPr>
        <p:spPr>
          <a:xfrm>
            <a:off x="457200" y="3520440"/>
            <a:ext cx="1920240" cy="685800"/>
          </a:xfrm>
          <a:prstGeom prst="rect">
            <a:avLst/>
          </a:prstGeom>
          <a:noFill/>
          <a:ln/>
        </p:spPr>
        <p:txBody>
          <a:bodyPr wrap="square" rtlCol="0" anchor="ctr"/>
          <a:lstStyle/>
          <a:p>
            <a:pPr marL="0" indent="0" algn="ctr">
              <a:buNone/>
            </a:pPr>
            <a:r>
              <a:rPr lang="en-US" sz="1200" b="1" dirty="0">
                <a:solidFill>
                  <a:srgbClr val="9333EA"/>
                </a:solidFill>
                <a:latin typeface="Calibri" pitchFamily="34" charset="0"/>
                <a:ea typeface="Calibri" pitchFamily="34" charset="-122"/>
                <a:cs typeface="Calibri" pitchFamily="34" charset="-120"/>
              </a:rPr>
              <a:t>Internal Reports</a:t>
            </a:r>
            <a:endParaRPr lang="en-US" sz="1200" dirty="0"/>
          </a:p>
        </p:txBody>
      </p:sp>
      <p:sp>
        <p:nvSpPr>
          <p:cNvPr id="11" name="Shape 8"/>
          <p:cNvSpPr/>
          <p:nvPr/>
        </p:nvSpPr>
        <p:spPr>
          <a:xfrm>
            <a:off x="2560320" y="2743200"/>
            <a:ext cx="1920240" cy="1691640"/>
          </a:xfrm>
          <a:prstGeom prst="rect">
            <a:avLst/>
          </a:prstGeom>
          <a:solidFill>
            <a:srgbClr val="FFFFFF"/>
          </a:solidFill>
          <a:ln w="12700">
            <a:solidFill>
              <a:srgbClr val="E9D5FF"/>
            </a:solidFill>
            <a:prstDash val="solid"/>
          </a:ln>
          <a:effectLst>
            <a:outerShdw blurRad="101600" dist="38100" dir="8100000" algn="bl" rotWithShape="0">
              <a:srgbClr val="000000">
                <a:alpha val="12000"/>
              </a:srgbClr>
            </a:outerShdw>
          </a:effectLst>
        </p:spPr>
        <p:txBody>
          <a:bodyPr/>
          <a:lstStyle/>
          <a:p>
            <a:endParaRPr lang="en-US"/>
          </a:p>
        </p:txBody>
      </p:sp>
      <p:sp>
        <p:nvSpPr>
          <p:cNvPr id="12" name="Text 9"/>
          <p:cNvSpPr/>
          <p:nvPr/>
        </p:nvSpPr>
        <p:spPr>
          <a:xfrm>
            <a:off x="2560320" y="2834640"/>
            <a:ext cx="1920240" cy="64008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13" name="Text 10"/>
          <p:cNvSpPr/>
          <p:nvPr/>
        </p:nvSpPr>
        <p:spPr>
          <a:xfrm>
            <a:off x="2560320" y="3520440"/>
            <a:ext cx="1920240" cy="685800"/>
          </a:xfrm>
          <a:prstGeom prst="rect">
            <a:avLst/>
          </a:prstGeom>
          <a:noFill/>
          <a:ln/>
        </p:spPr>
        <p:txBody>
          <a:bodyPr wrap="square" rtlCol="0" anchor="ctr"/>
          <a:lstStyle/>
          <a:p>
            <a:pPr marL="0" indent="0" algn="ctr">
              <a:buNone/>
            </a:pPr>
            <a:r>
              <a:rPr lang="en-US" sz="1200" b="1" dirty="0">
                <a:solidFill>
                  <a:srgbClr val="9333EA"/>
                </a:solidFill>
                <a:latin typeface="Calibri" pitchFamily="34" charset="0"/>
                <a:ea typeface="Calibri" pitchFamily="34" charset="-122"/>
                <a:cs typeface="Calibri" pitchFamily="34" charset="-120"/>
              </a:rPr>
              <a:t>Support Tickets</a:t>
            </a:r>
            <a:endParaRPr lang="en-US" sz="1200" dirty="0"/>
          </a:p>
        </p:txBody>
      </p:sp>
      <p:sp>
        <p:nvSpPr>
          <p:cNvPr id="14" name="Shape 11"/>
          <p:cNvSpPr/>
          <p:nvPr/>
        </p:nvSpPr>
        <p:spPr>
          <a:xfrm>
            <a:off x="4663440" y="2743200"/>
            <a:ext cx="1920240" cy="1691640"/>
          </a:xfrm>
          <a:prstGeom prst="rect">
            <a:avLst/>
          </a:prstGeom>
          <a:solidFill>
            <a:srgbClr val="FFFFFF"/>
          </a:solidFill>
          <a:ln w="12700">
            <a:solidFill>
              <a:srgbClr val="E9D5FF"/>
            </a:solidFill>
            <a:prstDash val="solid"/>
          </a:ln>
          <a:effectLst>
            <a:outerShdw blurRad="101600" dist="38100" dir="8100000" algn="bl" rotWithShape="0">
              <a:srgbClr val="000000">
                <a:alpha val="12000"/>
              </a:srgbClr>
            </a:outerShdw>
          </a:effectLst>
        </p:spPr>
        <p:txBody>
          <a:bodyPr/>
          <a:lstStyle/>
          <a:p>
            <a:endParaRPr lang="en-US"/>
          </a:p>
        </p:txBody>
      </p:sp>
      <p:sp>
        <p:nvSpPr>
          <p:cNvPr id="15" name="Text 12"/>
          <p:cNvSpPr/>
          <p:nvPr/>
        </p:nvSpPr>
        <p:spPr>
          <a:xfrm>
            <a:off x="4663440" y="2834640"/>
            <a:ext cx="1920240" cy="64008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16" name="Text 13"/>
          <p:cNvSpPr/>
          <p:nvPr/>
        </p:nvSpPr>
        <p:spPr>
          <a:xfrm>
            <a:off x="4663440" y="3520440"/>
            <a:ext cx="1920240" cy="685800"/>
          </a:xfrm>
          <a:prstGeom prst="rect">
            <a:avLst/>
          </a:prstGeom>
          <a:noFill/>
          <a:ln/>
        </p:spPr>
        <p:txBody>
          <a:bodyPr wrap="square" rtlCol="0" anchor="ctr"/>
          <a:lstStyle/>
          <a:p>
            <a:pPr marL="0" indent="0" algn="ctr">
              <a:buNone/>
            </a:pPr>
            <a:r>
              <a:rPr lang="en-US" sz="1200" b="1" dirty="0">
                <a:solidFill>
                  <a:srgbClr val="9333EA"/>
                </a:solidFill>
                <a:latin typeface="Calibri" pitchFamily="34" charset="0"/>
                <a:ea typeface="Calibri" pitchFamily="34" charset="-122"/>
                <a:cs typeface="Calibri" pitchFamily="34" charset="-120"/>
              </a:rPr>
              <a:t>Operational Docs</a:t>
            </a:r>
            <a:endParaRPr lang="en-US" sz="1200" dirty="0"/>
          </a:p>
        </p:txBody>
      </p:sp>
      <p:sp>
        <p:nvSpPr>
          <p:cNvPr id="17" name="Shape 14"/>
          <p:cNvSpPr/>
          <p:nvPr/>
        </p:nvSpPr>
        <p:spPr>
          <a:xfrm>
            <a:off x="6766560" y="2743200"/>
            <a:ext cx="1920240" cy="1691640"/>
          </a:xfrm>
          <a:prstGeom prst="rect">
            <a:avLst/>
          </a:prstGeom>
          <a:solidFill>
            <a:srgbClr val="FFFFFF"/>
          </a:solidFill>
          <a:ln w="12700">
            <a:solidFill>
              <a:srgbClr val="E9D5FF"/>
            </a:solidFill>
            <a:prstDash val="solid"/>
          </a:ln>
          <a:effectLst>
            <a:outerShdw blurRad="101600" dist="38100" dir="8100000" algn="bl" rotWithShape="0">
              <a:srgbClr val="000000">
                <a:alpha val="12000"/>
              </a:srgbClr>
            </a:outerShdw>
          </a:effectLst>
        </p:spPr>
        <p:txBody>
          <a:bodyPr/>
          <a:lstStyle/>
          <a:p>
            <a:endParaRPr lang="en-US"/>
          </a:p>
        </p:txBody>
      </p:sp>
      <p:sp>
        <p:nvSpPr>
          <p:cNvPr id="18" name="Text 15"/>
          <p:cNvSpPr/>
          <p:nvPr/>
        </p:nvSpPr>
        <p:spPr>
          <a:xfrm>
            <a:off x="6766560" y="2834640"/>
            <a:ext cx="1920240" cy="64008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19" name="Text 16"/>
          <p:cNvSpPr/>
          <p:nvPr/>
        </p:nvSpPr>
        <p:spPr>
          <a:xfrm>
            <a:off x="6766560" y="3520440"/>
            <a:ext cx="1920240" cy="685800"/>
          </a:xfrm>
          <a:prstGeom prst="rect">
            <a:avLst/>
          </a:prstGeom>
          <a:noFill/>
          <a:ln/>
        </p:spPr>
        <p:txBody>
          <a:bodyPr wrap="square" rtlCol="0" anchor="ctr"/>
          <a:lstStyle/>
          <a:p>
            <a:pPr marL="0" indent="0" algn="ctr">
              <a:buNone/>
            </a:pPr>
            <a:r>
              <a:rPr lang="en-US" sz="1200" b="1" dirty="0">
                <a:solidFill>
                  <a:srgbClr val="9333EA"/>
                </a:solidFill>
                <a:latin typeface="Calibri" pitchFamily="34" charset="0"/>
                <a:ea typeface="Calibri" pitchFamily="34" charset="-122"/>
                <a:cs typeface="Calibri" pitchFamily="34" charset="-120"/>
              </a:rPr>
              <a:t>Project Post-Mortems</a:t>
            </a:r>
            <a:endParaRPr lang="en-US" sz="1200" dirty="0"/>
          </a:p>
        </p:txBody>
      </p:sp>
      <p:sp>
        <p:nvSpPr>
          <p:cNvPr id="20" name="Shape 17"/>
          <p:cNvSpPr/>
          <p:nvPr/>
        </p:nvSpPr>
        <p:spPr>
          <a:xfrm>
            <a:off x="0" y="4709160"/>
            <a:ext cx="9144000" cy="434340"/>
          </a:xfrm>
          <a:prstGeom prst="rect">
            <a:avLst/>
          </a:prstGeom>
          <a:solidFill>
            <a:srgbClr val="D97706"/>
          </a:solidFill>
          <a:ln w="12700">
            <a:solidFill>
              <a:srgbClr val="D97706"/>
            </a:solidFill>
            <a:prstDash val="solid"/>
          </a:ln>
        </p:spPr>
        <p:txBody>
          <a:bodyPr/>
          <a:lstStyle/>
          <a:p>
            <a:endParaRPr lang="en-US"/>
          </a:p>
        </p:txBody>
      </p:sp>
      <p:sp>
        <p:nvSpPr>
          <p:cNvPr id="21" name="Text 18"/>
          <p:cNvSpPr/>
          <p:nvPr/>
        </p:nvSpPr>
        <p:spPr>
          <a:xfrm>
            <a:off x="365760" y="4745736"/>
            <a:ext cx="841248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Turn years of accumulated knowledge into structured, searchable experience.</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132320" y="-457200"/>
            <a:ext cx="2560320" cy="2560320"/>
          </a:xfrm>
          <a:prstGeom prst="ellipse">
            <a:avLst/>
          </a:prstGeom>
          <a:solidFill>
            <a:srgbClr val="9333EA">
              <a:alpha val="30000"/>
            </a:srgbClr>
          </a:solidFill>
          <a:ln w="12700">
            <a:solidFill>
              <a:srgbClr val="9333EA">
                <a:alpha val="3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457200" y="182880"/>
            <a:ext cx="777240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Pricing Model</a:t>
            </a:r>
            <a:endParaRPr kumimoji="0" lang="en-US" sz="3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457200" y="841248"/>
            <a:ext cx="1645920" cy="45720"/>
          </a:xfrm>
          <a:prstGeom prst="rect">
            <a:avLst/>
          </a:prstGeom>
          <a:solidFill>
            <a:srgbClr val="D97706"/>
          </a:solidFill>
          <a:ln w="12700">
            <a:solidFill>
              <a:srgbClr val="D9770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457200" y="960120"/>
            <a:ext cx="1801368" cy="384048"/>
          </a:xfrm>
          <a:prstGeom prst="rect">
            <a:avLst/>
          </a:prstGeom>
          <a:solidFill>
            <a:srgbClr val="9333EA"/>
          </a:solidFill>
          <a:ln w="12700">
            <a:solidFill>
              <a:srgbClr val="9333E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457200" y="960120"/>
            <a:ext cx="180136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Users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2423160" y="960120"/>
            <a:ext cx="3904488" cy="384048"/>
          </a:xfrm>
          <a:prstGeom prst="rect">
            <a:avLst/>
          </a:prstGeom>
          <a:solidFill>
            <a:srgbClr val="374151"/>
          </a:solidFill>
          <a:ln w="12700">
            <a:solidFill>
              <a:srgbClr val="37415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p:cNvSpPr/>
          <p:nvPr/>
        </p:nvSpPr>
        <p:spPr>
          <a:xfrm>
            <a:off x="2423160" y="960120"/>
            <a:ext cx="390448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D97706"/>
                </a:solidFill>
                <a:effectLst/>
                <a:uLnTx/>
                <a:uFillTx/>
                <a:latin typeface="Calibri" pitchFamily="34" charset="0"/>
                <a:ea typeface="Calibri" pitchFamily="34" charset="-122"/>
                <a:cs typeface="Calibri" pitchFamily="34" charset="-120"/>
              </a:rPr>
              <a:t>Implementation Fee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6492240" y="960120"/>
            <a:ext cx="2240280" cy="384048"/>
          </a:xfrm>
          <a:prstGeom prst="rect">
            <a:avLst/>
          </a:prstGeom>
          <a:solidFill>
            <a:srgbClr val="9333EA"/>
          </a:solidFill>
          <a:ln w="12700">
            <a:solidFill>
              <a:srgbClr val="9333E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p:nvPr/>
        </p:nvSpPr>
        <p:spPr>
          <a:xfrm>
            <a:off x="6492240" y="960120"/>
            <a:ext cx="224028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Annual License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2423160" y="1344168"/>
            <a:ext cx="1801368" cy="274320"/>
          </a:xfrm>
          <a:prstGeom prst="rect">
            <a:avLst/>
          </a:prstGeom>
          <a:solidFill>
            <a:srgbClr val="059669"/>
          </a:solidFill>
          <a:ln w="12700">
            <a:solidFill>
              <a:srgbClr val="05966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p:nvPr/>
        </p:nvSpPr>
        <p:spPr>
          <a:xfrm>
            <a:off x="2423160" y="1344168"/>
            <a:ext cx="1801368"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Starter</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4389120" y="1344168"/>
            <a:ext cx="1938528" cy="274320"/>
          </a:xfrm>
          <a:prstGeom prst="rect">
            <a:avLst/>
          </a:prstGeom>
          <a:solidFill>
            <a:srgbClr val="2563EB"/>
          </a:solidFill>
          <a:ln w="12700">
            <a:solidFill>
              <a:srgbClr val="2563E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4389120" y="1344168"/>
            <a:ext cx="1938528"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Professional</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3"/>
          <p:cNvSpPr/>
          <p:nvPr/>
        </p:nvSpPr>
        <p:spPr>
          <a:xfrm>
            <a:off x="457200" y="1700784"/>
            <a:ext cx="1801368" cy="384048"/>
          </a:xfrm>
          <a:prstGeom prst="rect">
            <a:avLst/>
          </a:prstGeom>
          <a:solidFill>
            <a:srgbClr val="1E2E5C"/>
          </a:solidFill>
          <a:ln w="12700">
            <a:solidFill>
              <a:srgbClr val="1E2E5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4"/>
          <p:cNvSpPr/>
          <p:nvPr/>
        </p:nvSpPr>
        <p:spPr>
          <a:xfrm>
            <a:off x="548640" y="1700784"/>
            <a:ext cx="1709928" cy="38404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C4B5FD"/>
                </a:solidFill>
                <a:effectLst/>
                <a:uLnTx/>
                <a:uFillTx/>
                <a:latin typeface="Calibri" pitchFamily="34" charset="0"/>
                <a:ea typeface="Calibri" pitchFamily="34" charset="-122"/>
                <a:cs typeface="Calibri" pitchFamily="34" charset="-120"/>
              </a:rPr>
              <a:t>Up to 50 users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5"/>
          <p:cNvSpPr/>
          <p:nvPr/>
        </p:nvSpPr>
        <p:spPr>
          <a:xfrm>
            <a:off x="2423160" y="1700784"/>
            <a:ext cx="1801368" cy="384048"/>
          </a:xfrm>
          <a:prstGeom prst="rect">
            <a:avLst/>
          </a:prstGeom>
          <a:solidFill>
            <a:srgbClr val="1E2E5C"/>
          </a:solidFill>
          <a:ln w="12700">
            <a:solidFill>
              <a:srgbClr val="1E2E5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6"/>
          <p:cNvSpPr/>
          <p:nvPr/>
        </p:nvSpPr>
        <p:spPr>
          <a:xfrm>
            <a:off x="2423160" y="1700784"/>
            <a:ext cx="180136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D97706"/>
                </a:solidFill>
                <a:effectLst/>
                <a:uLnTx/>
                <a:uFillTx/>
                <a:latin typeface="Calibri" pitchFamily="34" charset="0"/>
                <a:ea typeface="Calibri" pitchFamily="34" charset="-122"/>
                <a:cs typeface="Calibri" pitchFamily="34" charset="-120"/>
              </a:rPr>
              <a:t>$K</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4389120" y="1700784"/>
            <a:ext cx="1938528" cy="384048"/>
          </a:xfrm>
          <a:prstGeom prst="rect">
            <a:avLst/>
          </a:prstGeom>
          <a:solidFill>
            <a:srgbClr val="1E2E5C"/>
          </a:solidFill>
          <a:ln w="12700">
            <a:solidFill>
              <a:srgbClr val="1E2E5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4389120" y="1700784"/>
            <a:ext cx="193852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D97706"/>
                </a:solidFill>
                <a:effectLst/>
                <a:uLnTx/>
                <a:uFillTx/>
                <a:latin typeface="Calibri" pitchFamily="34" charset="0"/>
                <a:ea typeface="Calibri" pitchFamily="34" charset="-122"/>
                <a:cs typeface="Calibri" pitchFamily="34" charset="-120"/>
              </a:rPr>
              <a:t>$$K</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9"/>
          <p:cNvSpPr/>
          <p:nvPr/>
        </p:nvSpPr>
        <p:spPr>
          <a:xfrm>
            <a:off x="6492240" y="1700784"/>
            <a:ext cx="2240280" cy="384048"/>
          </a:xfrm>
          <a:prstGeom prst="rect">
            <a:avLst/>
          </a:prstGeom>
          <a:solidFill>
            <a:srgbClr val="1E2E5C"/>
          </a:solidFill>
          <a:ln w="12700">
            <a:solidFill>
              <a:srgbClr val="1E2E5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20"/>
          <p:cNvSpPr/>
          <p:nvPr/>
        </p:nvSpPr>
        <p:spPr>
          <a:xfrm>
            <a:off x="6492240" y="1700784"/>
            <a:ext cx="224028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D97706"/>
                </a:solidFill>
                <a:effectLst/>
                <a:uLnTx/>
                <a:uFillTx/>
                <a:latin typeface="Calibri" pitchFamily="34" charset="0"/>
                <a:ea typeface="Calibri" pitchFamily="34" charset="-122"/>
                <a:cs typeface="Calibri" pitchFamily="34" charset="-120"/>
              </a:rPr>
              <a:t>$ / user / year</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Shape 21"/>
          <p:cNvSpPr/>
          <p:nvPr/>
        </p:nvSpPr>
        <p:spPr>
          <a:xfrm>
            <a:off x="457200" y="2093976"/>
            <a:ext cx="1801368" cy="384048"/>
          </a:xfrm>
          <a:prstGeom prst="rect">
            <a:avLst/>
          </a:prstGeom>
          <a:solidFill>
            <a:srgbClr val="162448"/>
          </a:solidFill>
          <a:ln w="12700">
            <a:solidFill>
              <a:srgbClr val="16244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 22"/>
          <p:cNvSpPr/>
          <p:nvPr/>
        </p:nvSpPr>
        <p:spPr>
          <a:xfrm>
            <a:off x="548640" y="2093976"/>
            <a:ext cx="1709928" cy="38404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C4B5FD"/>
                </a:solidFill>
                <a:effectLst/>
                <a:uLnTx/>
                <a:uFillTx/>
                <a:latin typeface="Calibri" pitchFamily="34" charset="0"/>
                <a:ea typeface="Calibri" pitchFamily="34" charset="-122"/>
                <a:cs typeface="Calibri" pitchFamily="34" charset="-120"/>
              </a:rPr>
              <a:t>50 – 200 users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hape 23"/>
          <p:cNvSpPr/>
          <p:nvPr/>
        </p:nvSpPr>
        <p:spPr>
          <a:xfrm>
            <a:off x="2423160" y="2093976"/>
            <a:ext cx="1801368" cy="384048"/>
          </a:xfrm>
          <a:prstGeom prst="rect">
            <a:avLst/>
          </a:prstGeom>
          <a:solidFill>
            <a:srgbClr val="162448"/>
          </a:solidFill>
          <a:ln w="12700">
            <a:solidFill>
              <a:srgbClr val="16244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Text 24"/>
          <p:cNvSpPr/>
          <p:nvPr/>
        </p:nvSpPr>
        <p:spPr>
          <a:xfrm>
            <a:off x="2423160" y="2093976"/>
            <a:ext cx="180136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D97706"/>
                </a:solidFill>
                <a:effectLst/>
                <a:uLnTx/>
                <a:uFillTx/>
                <a:latin typeface="Calibri" pitchFamily="34" charset="0"/>
                <a:ea typeface="Calibri" pitchFamily="34" charset="-122"/>
                <a:cs typeface="Calibri" pitchFamily="34" charset="-120"/>
              </a:rPr>
              <a:t>$K</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Shape 25"/>
          <p:cNvSpPr/>
          <p:nvPr/>
        </p:nvSpPr>
        <p:spPr>
          <a:xfrm>
            <a:off x="4389120" y="2093976"/>
            <a:ext cx="1938528" cy="384048"/>
          </a:xfrm>
          <a:prstGeom prst="rect">
            <a:avLst/>
          </a:prstGeom>
          <a:solidFill>
            <a:srgbClr val="162448"/>
          </a:solidFill>
          <a:ln w="12700">
            <a:solidFill>
              <a:srgbClr val="16244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Text 26"/>
          <p:cNvSpPr/>
          <p:nvPr/>
        </p:nvSpPr>
        <p:spPr>
          <a:xfrm>
            <a:off x="4389120" y="2093976"/>
            <a:ext cx="193852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D97706"/>
                </a:solidFill>
                <a:effectLst/>
                <a:uLnTx/>
                <a:uFillTx/>
                <a:latin typeface="Calibri" pitchFamily="34" charset="0"/>
                <a:ea typeface="Calibri" pitchFamily="34" charset="-122"/>
                <a:cs typeface="Calibri" pitchFamily="34" charset="-120"/>
              </a:rPr>
              <a:t>$</a:t>
            </a:r>
            <a:r>
              <a:rPr lang="en-US" sz="1300" b="1" dirty="0">
                <a:solidFill>
                  <a:srgbClr val="D97706"/>
                </a:solidFill>
                <a:latin typeface="Calibri" pitchFamily="34" charset="0"/>
                <a:ea typeface="Calibri" pitchFamily="34" charset="-122"/>
                <a:cs typeface="Calibri" pitchFamily="34" charset="-120"/>
              </a:rPr>
              <a:t>$$</a:t>
            </a:r>
            <a:r>
              <a:rPr kumimoji="0" lang="en-US" sz="1300" b="1" i="0" u="none" strike="noStrike" kern="1200" cap="none" spc="0" normalizeH="0" baseline="0" noProof="0" dirty="0">
                <a:ln>
                  <a:noFill/>
                </a:ln>
                <a:solidFill>
                  <a:srgbClr val="D97706"/>
                </a:solidFill>
                <a:effectLst/>
                <a:uLnTx/>
                <a:uFillTx/>
                <a:latin typeface="Calibri" pitchFamily="34" charset="0"/>
                <a:ea typeface="Calibri" pitchFamily="34" charset="-122"/>
                <a:cs typeface="Calibri" pitchFamily="34" charset="-120"/>
              </a:rPr>
              <a:t>K</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Shape 27"/>
          <p:cNvSpPr/>
          <p:nvPr/>
        </p:nvSpPr>
        <p:spPr>
          <a:xfrm>
            <a:off x="6492240" y="2093976"/>
            <a:ext cx="2240280" cy="384048"/>
          </a:xfrm>
          <a:prstGeom prst="rect">
            <a:avLst/>
          </a:prstGeom>
          <a:solidFill>
            <a:srgbClr val="162448"/>
          </a:solidFill>
          <a:ln w="12700">
            <a:solidFill>
              <a:srgbClr val="16244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Text 28"/>
          <p:cNvSpPr/>
          <p:nvPr/>
        </p:nvSpPr>
        <p:spPr>
          <a:xfrm>
            <a:off x="6492240" y="2093976"/>
            <a:ext cx="224028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D97706"/>
                </a:solidFill>
                <a:effectLst/>
                <a:uLnTx/>
                <a:uFillTx/>
                <a:latin typeface="Calibri" pitchFamily="34" charset="0"/>
                <a:ea typeface="Calibri" pitchFamily="34" charset="-122"/>
                <a:cs typeface="Calibri" pitchFamily="34" charset="-120"/>
              </a:rPr>
              <a:t>$</a:t>
            </a:r>
            <a:r>
              <a:rPr lang="en-US" sz="1100" b="1" dirty="0">
                <a:solidFill>
                  <a:srgbClr val="D97706"/>
                </a:solidFill>
                <a:latin typeface="Calibri" pitchFamily="34" charset="0"/>
                <a:ea typeface="Calibri" pitchFamily="34" charset="-122"/>
                <a:cs typeface="Calibri" pitchFamily="34" charset="-120"/>
              </a:rPr>
              <a:t>$$</a:t>
            </a:r>
            <a:r>
              <a:rPr kumimoji="0" lang="en-US" sz="1100" b="1" i="0" u="none" strike="noStrike" kern="1200" cap="none" spc="0" normalizeH="0" baseline="0" noProof="0" dirty="0">
                <a:ln>
                  <a:noFill/>
                </a:ln>
                <a:solidFill>
                  <a:srgbClr val="D97706"/>
                </a:solidFill>
                <a:effectLst/>
                <a:uLnTx/>
                <a:uFillTx/>
                <a:latin typeface="Calibri" pitchFamily="34" charset="0"/>
                <a:ea typeface="Calibri" pitchFamily="34" charset="-122"/>
                <a:cs typeface="Calibri" pitchFamily="34" charset="-120"/>
              </a:rPr>
              <a:t> / user / year</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Shape 29"/>
          <p:cNvSpPr/>
          <p:nvPr/>
        </p:nvSpPr>
        <p:spPr>
          <a:xfrm>
            <a:off x="457200" y="2487168"/>
            <a:ext cx="1801368" cy="384048"/>
          </a:xfrm>
          <a:prstGeom prst="rect">
            <a:avLst/>
          </a:prstGeom>
          <a:solidFill>
            <a:srgbClr val="1E2E5C"/>
          </a:solidFill>
          <a:ln w="12700">
            <a:solidFill>
              <a:srgbClr val="1E2E5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Text 30"/>
          <p:cNvSpPr/>
          <p:nvPr/>
        </p:nvSpPr>
        <p:spPr>
          <a:xfrm>
            <a:off x="548640" y="2487168"/>
            <a:ext cx="1709928" cy="38404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C4B5FD"/>
                </a:solidFill>
                <a:effectLst/>
                <a:uLnTx/>
                <a:uFillTx/>
                <a:latin typeface="Calibri" pitchFamily="34" charset="0"/>
                <a:ea typeface="Calibri" pitchFamily="34" charset="-122"/>
                <a:cs typeface="Calibri" pitchFamily="34" charset="-120"/>
              </a:rPr>
              <a:t>200 – 1,000 users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Shape 31"/>
          <p:cNvSpPr/>
          <p:nvPr/>
        </p:nvSpPr>
        <p:spPr>
          <a:xfrm>
            <a:off x="2423160" y="2487168"/>
            <a:ext cx="1801368" cy="384048"/>
          </a:xfrm>
          <a:prstGeom prst="rect">
            <a:avLst/>
          </a:prstGeom>
          <a:solidFill>
            <a:srgbClr val="1E2E5C"/>
          </a:solidFill>
          <a:ln w="12700">
            <a:solidFill>
              <a:srgbClr val="1E2E5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Text 32"/>
          <p:cNvSpPr/>
          <p:nvPr/>
        </p:nvSpPr>
        <p:spPr>
          <a:xfrm>
            <a:off x="2423160" y="2487168"/>
            <a:ext cx="180136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D97706"/>
                </a:solidFill>
                <a:effectLst/>
                <a:uLnTx/>
                <a:uFillTx/>
                <a:latin typeface="Calibri" pitchFamily="34" charset="0"/>
                <a:ea typeface="Calibri" pitchFamily="34" charset="-122"/>
                <a:cs typeface="Calibri" pitchFamily="34" charset="-120"/>
              </a:rPr>
              <a:t>$$K</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Shape 33"/>
          <p:cNvSpPr/>
          <p:nvPr/>
        </p:nvSpPr>
        <p:spPr>
          <a:xfrm>
            <a:off x="4389120" y="2487168"/>
            <a:ext cx="1938528" cy="384048"/>
          </a:xfrm>
          <a:prstGeom prst="rect">
            <a:avLst/>
          </a:prstGeom>
          <a:solidFill>
            <a:srgbClr val="1E2E5C"/>
          </a:solidFill>
          <a:ln w="12700">
            <a:solidFill>
              <a:srgbClr val="1E2E5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Text 34"/>
          <p:cNvSpPr/>
          <p:nvPr/>
        </p:nvSpPr>
        <p:spPr>
          <a:xfrm>
            <a:off x="4389120" y="2487168"/>
            <a:ext cx="193852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D97706"/>
                </a:solidFill>
                <a:effectLst/>
                <a:uLnTx/>
                <a:uFillTx/>
                <a:latin typeface="Calibri" pitchFamily="34" charset="0"/>
                <a:ea typeface="Calibri" pitchFamily="34" charset="-122"/>
                <a:cs typeface="Calibri" pitchFamily="34" charset="-120"/>
              </a:rPr>
              <a:t>$</a:t>
            </a:r>
            <a:r>
              <a:rPr lang="en-US" sz="1300" b="1" dirty="0">
                <a:solidFill>
                  <a:srgbClr val="D97706"/>
                </a:solidFill>
                <a:latin typeface="Calibri" pitchFamily="34" charset="0"/>
                <a:ea typeface="Calibri" pitchFamily="34" charset="-122"/>
                <a:cs typeface="Calibri" pitchFamily="34" charset="-120"/>
              </a:rPr>
              <a:t>$$$</a:t>
            </a:r>
            <a:r>
              <a:rPr kumimoji="0" lang="en-US" sz="1300" b="1" i="0" u="none" strike="noStrike" kern="1200" cap="none" spc="0" normalizeH="0" baseline="0" noProof="0" dirty="0">
                <a:ln>
                  <a:noFill/>
                </a:ln>
                <a:solidFill>
                  <a:srgbClr val="D97706"/>
                </a:solidFill>
                <a:effectLst/>
                <a:uLnTx/>
                <a:uFillTx/>
                <a:latin typeface="Calibri" pitchFamily="34" charset="0"/>
                <a:ea typeface="Calibri" pitchFamily="34" charset="-122"/>
                <a:cs typeface="Calibri" pitchFamily="34" charset="-120"/>
              </a:rPr>
              <a:t>K</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Shape 35"/>
          <p:cNvSpPr/>
          <p:nvPr/>
        </p:nvSpPr>
        <p:spPr>
          <a:xfrm>
            <a:off x="6492240" y="2487168"/>
            <a:ext cx="2240280" cy="384048"/>
          </a:xfrm>
          <a:prstGeom prst="rect">
            <a:avLst/>
          </a:prstGeom>
          <a:solidFill>
            <a:srgbClr val="1E2E5C"/>
          </a:solidFill>
          <a:ln w="12700">
            <a:solidFill>
              <a:srgbClr val="1E2E5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Text 36"/>
          <p:cNvSpPr/>
          <p:nvPr/>
        </p:nvSpPr>
        <p:spPr>
          <a:xfrm>
            <a:off x="6492240" y="2487168"/>
            <a:ext cx="224028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D97706"/>
                </a:solidFill>
                <a:effectLst/>
                <a:uLnTx/>
                <a:uFillTx/>
                <a:latin typeface="Calibri" pitchFamily="34" charset="0"/>
                <a:ea typeface="Calibri" pitchFamily="34" charset="-122"/>
                <a:cs typeface="Calibri" pitchFamily="34" charset="-120"/>
              </a:rPr>
              <a:t>$</a:t>
            </a:r>
            <a:r>
              <a:rPr lang="en-US" sz="1100" b="1" dirty="0">
                <a:solidFill>
                  <a:srgbClr val="D97706"/>
                </a:solidFill>
                <a:latin typeface="Calibri" pitchFamily="34" charset="0"/>
                <a:ea typeface="Calibri" pitchFamily="34" charset="-122"/>
                <a:cs typeface="Calibri" pitchFamily="34" charset="-120"/>
              </a:rPr>
              <a:t>$</a:t>
            </a:r>
            <a:r>
              <a:rPr kumimoji="0" lang="en-US" sz="1100" b="1" i="0" u="none" strike="noStrike" kern="1200" cap="none" spc="0" normalizeH="0" baseline="0" noProof="0" dirty="0">
                <a:ln>
                  <a:noFill/>
                </a:ln>
                <a:solidFill>
                  <a:srgbClr val="D97706"/>
                </a:solidFill>
                <a:effectLst/>
                <a:uLnTx/>
                <a:uFillTx/>
                <a:latin typeface="Calibri" pitchFamily="34" charset="0"/>
                <a:ea typeface="Calibri" pitchFamily="34" charset="-122"/>
                <a:cs typeface="Calibri" pitchFamily="34" charset="-120"/>
              </a:rPr>
              <a:t> / user / year</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Shape 37"/>
          <p:cNvSpPr/>
          <p:nvPr/>
        </p:nvSpPr>
        <p:spPr>
          <a:xfrm>
            <a:off x="457200" y="2880360"/>
            <a:ext cx="1801368" cy="384048"/>
          </a:xfrm>
          <a:prstGeom prst="rect">
            <a:avLst/>
          </a:prstGeom>
          <a:solidFill>
            <a:srgbClr val="162448"/>
          </a:solidFill>
          <a:ln w="12700">
            <a:solidFill>
              <a:srgbClr val="16244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Text 38"/>
          <p:cNvSpPr/>
          <p:nvPr/>
        </p:nvSpPr>
        <p:spPr>
          <a:xfrm>
            <a:off x="548640" y="2880360"/>
            <a:ext cx="1709928" cy="38404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C4B5FD"/>
                </a:solidFill>
                <a:effectLst/>
                <a:uLnTx/>
                <a:uFillTx/>
                <a:latin typeface="Calibri" pitchFamily="34" charset="0"/>
                <a:ea typeface="Calibri" pitchFamily="34" charset="-122"/>
                <a:cs typeface="Calibri" pitchFamily="34" charset="-120"/>
              </a:rPr>
              <a:t>1,000 – 5,000 users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 name="Shape 39"/>
          <p:cNvSpPr/>
          <p:nvPr/>
        </p:nvSpPr>
        <p:spPr>
          <a:xfrm>
            <a:off x="2423160" y="2880360"/>
            <a:ext cx="1801368" cy="384048"/>
          </a:xfrm>
          <a:prstGeom prst="rect">
            <a:avLst/>
          </a:prstGeom>
          <a:solidFill>
            <a:srgbClr val="162448"/>
          </a:solidFill>
          <a:ln w="12700">
            <a:solidFill>
              <a:srgbClr val="16244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Text 40"/>
          <p:cNvSpPr/>
          <p:nvPr/>
        </p:nvSpPr>
        <p:spPr>
          <a:xfrm>
            <a:off x="2423160" y="2880360"/>
            <a:ext cx="180136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D97706"/>
                </a:solidFill>
                <a:effectLst/>
                <a:uLnTx/>
                <a:uFillTx/>
                <a:latin typeface="Calibri" pitchFamily="34" charset="0"/>
                <a:ea typeface="Calibri" pitchFamily="34" charset="-122"/>
                <a:cs typeface="Calibri" pitchFamily="34" charset="-120"/>
              </a:rPr>
              <a:t>$</a:t>
            </a:r>
            <a:r>
              <a:rPr lang="en-US" sz="1300" b="1" dirty="0">
                <a:solidFill>
                  <a:srgbClr val="D97706"/>
                </a:solidFill>
                <a:latin typeface="Calibri" pitchFamily="34" charset="0"/>
                <a:ea typeface="Calibri" pitchFamily="34" charset="-122"/>
                <a:cs typeface="Calibri" pitchFamily="34" charset="-120"/>
              </a:rPr>
              <a:t>$$</a:t>
            </a:r>
            <a:r>
              <a:rPr kumimoji="0" lang="en-US" sz="1300" b="1" i="0" u="none" strike="noStrike" kern="1200" cap="none" spc="0" normalizeH="0" baseline="0" noProof="0" dirty="0">
                <a:ln>
                  <a:noFill/>
                </a:ln>
                <a:solidFill>
                  <a:srgbClr val="D97706"/>
                </a:solidFill>
                <a:effectLst/>
                <a:uLnTx/>
                <a:uFillTx/>
                <a:latin typeface="Calibri" pitchFamily="34" charset="0"/>
                <a:ea typeface="Calibri" pitchFamily="34" charset="-122"/>
                <a:cs typeface="Calibri" pitchFamily="34" charset="-120"/>
              </a:rPr>
              <a:t>K</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 name="Shape 41"/>
          <p:cNvSpPr/>
          <p:nvPr/>
        </p:nvSpPr>
        <p:spPr>
          <a:xfrm>
            <a:off x="4389120" y="2880360"/>
            <a:ext cx="1938528" cy="384048"/>
          </a:xfrm>
          <a:prstGeom prst="rect">
            <a:avLst/>
          </a:prstGeom>
          <a:solidFill>
            <a:srgbClr val="162448"/>
          </a:solidFill>
          <a:ln w="12700">
            <a:solidFill>
              <a:srgbClr val="16244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Text 42"/>
          <p:cNvSpPr/>
          <p:nvPr/>
        </p:nvSpPr>
        <p:spPr>
          <a:xfrm>
            <a:off x="4389120" y="2880360"/>
            <a:ext cx="193852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D97706"/>
                </a:solidFill>
                <a:effectLst/>
                <a:uLnTx/>
                <a:uFillTx/>
                <a:latin typeface="Calibri" pitchFamily="34" charset="0"/>
                <a:ea typeface="Calibri" pitchFamily="34" charset="-122"/>
                <a:cs typeface="Calibri" pitchFamily="34" charset="-120"/>
              </a:rPr>
              <a:t>$</a:t>
            </a:r>
            <a:r>
              <a:rPr lang="en-US" sz="1300" b="1" dirty="0">
                <a:solidFill>
                  <a:srgbClr val="D97706"/>
                </a:solidFill>
                <a:latin typeface="Calibri" pitchFamily="34" charset="0"/>
                <a:ea typeface="Calibri" pitchFamily="34" charset="-122"/>
                <a:cs typeface="Calibri" pitchFamily="34" charset="-120"/>
              </a:rPr>
              <a:t>$$$$</a:t>
            </a:r>
            <a:r>
              <a:rPr kumimoji="0" lang="en-US" sz="1300" b="1" i="0" u="none" strike="noStrike" kern="1200" cap="none" spc="0" normalizeH="0" baseline="0" noProof="0" dirty="0">
                <a:ln>
                  <a:noFill/>
                </a:ln>
                <a:solidFill>
                  <a:srgbClr val="D97706"/>
                </a:solidFill>
                <a:effectLst/>
                <a:uLnTx/>
                <a:uFillTx/>
                <a:latin typeface="Calibri" pitchFamily="34" charset="0"/>
                <a:ea typeface="Calibri" pitchFamily="34" charset="-122"/>
                <a:cs typeface="Calibri" pitchFamily="34" charset="-120"/>
              </a:rPr>
              <a:t>K</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5" name="Shape 43"/>
          <p:cNvSpPr/>
          <p:nvPr/>
        </p:nvSpPr>
        <p:spPr>
          <a:xfrm>
            <a:off x="6492240" y="2880360"/>
            <a:ext cx="2240280" cy="384048"/>
          </a:xfrm>
          <a:prstGeom prst="rect">
            <a:avLst/>
          </a:prstGeom>
          <a:solidFill>
            <a:srgbClr val="162448"/>
          </a:solidFill>
          <a:ln w="12700">
            <a:solidFill>
              <a:srgbClr val="16244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 name="Text 44"/>
          <p:cNvSpPr/>
          <p:nvPr/>
        </p:nvSpPr>
        <p:spPr>
          <a:xfrm>
            <a:off x="6492240" y="2880360"/>
            <a:ext cx="224028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D97706"/>
                </a:solidFill>
                <a:effectLst/>
                <a:uLnTx/>
                <a:uFillTx/>
                <a:latin typeface="Calibri" pitchFamily="34" charset="0"/>
                <a:ea typeface="Calibri" pitchFamily="34" charset="-122"/>
                <a:cs typeface="Calibri" pitchFamily="34" charset="-120"/>
              </a:rPr>
              <a:t>$ / user / year</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7" name="Shape 45"/>
          <p:cNvSpPr/>
          <p:nvPr/>
        </p:nvSpPr>
        <p:spPr>
          <a:xfrm>
            <a:off x="457200" y="3273552"/>
            <a:ext cx="1801368" cy="384048"/>
          </a:xfrm>
          <a:prstGeom prst="rect">
            <a:avLst/>
          </a:prstGeom>
          <a:solidFill>
            <a:srgbClr val="1E2E5C"/>
          </a:solidFill>
          <a:ln w="12700">
            <a:solidFill>
              <a:srgbClr val="1E2E5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Text 46"/>
          <p:cNvSpPr/>
          <p:nvPr/>
        </p:nvSpPr>
        <p:spPr>
          <a:xfrm>
            <a:off x="548640" y="3273552"/>
            <a:ext cx="1709928" cy="38404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C4B5FD"/>
                </a:solidFill>
                <a:effectLst/>
                <a:uLnTx/>
                <a:uFillTx/>
                <a:latin typeface="Calibri" pitchFamily="34" charset="0"/>
                <a:ea typeface="Calibri" pitchFamily="34" charset="-122"/>
                <a:cs typeface="Calibri" pitchFamily="34" charset="-120"/>
              </a:rPr>
              <a:t>5,000+ users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9" name="Shape 47"/>
          <p:cNvSpPr/>
          <p:nvPr/>
        </p:nvSpPr>
        <p:spPr>
          <a:xfrm>
            <a:off x="2423160" y="3273552"/>
            <a:ext cx="1801368" cy="384048"/>
          </a:xfrm>
          <a:prstGeom prst="rect">
            <a:avLst/>
          </a:prstGeom>
          <a:solidFill>
            <a:srgbClr val="1E2E5C"/>
          </a:solidFill>
          <a:ln w="12700">
            <a:solidFill>
              <a:srgbClr val="1E2E5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Text 48"/>
          <p:cNvSpPr/>
          <p:nvPr/>
        </p:nvSpPr>
        <p:spPr>
          <a:xfrm>
            <a:off x="2423160" y="3273552"/>
            <a:ext cx="180136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D97706"/>
                </a:solidFill>
                <a:effectLst/>
                <a:uLnTx/>
                <a:uFillTx/>
                <a:latin typeface="Calibri" pitchFamily="34" charset="0"/>
                <a:ea typeface="Calibri" pitchFamily="34" charset="-122"/>
                <a:cs typeface="Calibri" pitchFamily="34" charset="-120"/>
              </a:rPr>
              <a:t>Custom</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1" name="Shape 49"/>
          <p:cNvSpPr/>
          <p:nvPr/>
        </p:nvSpPr>
        <p:spPr>
          <a:xfrm>
            <a:off x="4389120" y="3273552"/>
            <a:ext cx="1938528" cy="384048"/>
          </a:xfrm>
          <a:prstGeom prst="rect">
            <a:avLst/>
          </a:prstGeom>
          <a:solidFill>
            <a:srgbClr val="1E2E5C"/>
          </a:solidFill>
          <a:ln w="12700">
            <a:solidFill>
              <a:srgbClr val="1E2E5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 name="Text 50"/>
          <p:cNvSpPr/>
          <p:nvPr/>
        </p:nvSpPr>
        <p:spPr>
          <a:xfrm>
            <a:off x="4389120" y="3273552"/>
            <a:ext cx="193852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D97706"/>
                </a:solidFill>
                <a:effectLst/>
                <a:uLnTx/>
                <a:uFillTx/>
                <a:latin typeface="Calibri" pitchFamily="34" charset="0"/>
                <a:ea typeface="Calibri" pitchFamily="34" charset="-122"/>
                <a:cs typeface="Calibri" pitchFamily="34" charset="-120"/>
              </a:rPr>
              <a:t>Custom</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3" name="Shape 51"/>
          <p:cNvSpPr/>
          <p:nvPr/>
        </p:nvSpPr>
        <p:spPr>
          <a:xfrm>
            <a:off x="6492240" y="3273552"/>
            <a:ext cx="2240280" cy="384048"/>
          </a:xfrm>
          <a:prstGeom prst="rect">
            <a:avLst/>
          </a:prstGeom>
          <a:solidFill>
            <a:srgbClr val="1E2E5C"/>
          </a:solidFill>
          <a:ln w="12700">
            <a:solidFill>
              <a:srgbClr val="1E2E5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4" name="Text 52"/>
          <p:cNvSpPr/>
          <p:nvPr/>
        </p:nvSpPr>
        <p:spPr>
          <a:xfrm>
            <a:off x="6492240" y="3273552"/>
            <a:ext cx="224028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D97706"/>
                </a:solidFill>
                <a:effectLst/>
                <a:uLnTx/>
                <a:uFillTx/>
                <a:latin typeface="Calibri" pitchFamily="34" charset="0"/>
                <a:ea typeface="Calibri" pitchFamily="34" charset="-122"/>
                <a:cs typeface="Calibri" pitchFamily="34" charset="-120"/>
              </a:rPr>
              <a:t>Custom</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5" name="Shape 53"/>
          <p:cNvSpPr/>
          <p:nvPr/>
        </p:nvSpPr>
        <p:spPr>
          <a:xfrm>
            <a:off x="457200" y="3761297"/>
            <a:ext cx="3840480" cy="658368"/>
          </a:xfrm>
          <a:prstGeom prst="rect">
            <a:avLst/>
          </a:prstGeom>
          <a:solidFill>
            <a:srgbClr val="0F3D2E"/>
          </a:solidFill>
          <a:ln w="12700">
            <a:solidFill>
              <a:srgbClr val="05966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6" name="Text 54"/>
          <p:cNvSpPr/>
          <p:nvPr/>
        </p:nvSpPr>
        <p:spPr>
          <a:xfrm>
            <a:off x="594360" y="3807017"/>
            <a:ext cx="356616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34D399"/>
                </a:solidFill>
                <a:effectLst/>
                <a:uLnTx/>
                <a:uFillTx/>
                <a:latin typeface="Calibri" pitchFamily="34" charset="0"/>
                <a:ea typeface="Calibri" pitchFamily="34" charset="-122"/>
                <a:cs typeface="Calibri" pitchFamily="34" charset="-120"/>
              </a:rPr>
              <a:t>Starter</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7" name="Text 55"/>
          <p:cNvSpPr/>
          <p:nvPr/>
        </p:nvSpPr>
        <p:spPr>
          <a:xfrm>
            <a:off x="594360" y="4035617"/>
            <a:ext cx="3566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C4B5FD"/>
                </a:solidFill>
                <a:effectLst/>
                <a:uLnTx/>
                <a:uFillTx/>
                <a:latin typeface="Calibri" pitchFamily="34" charset="0"/>
                <a:ea typeface="Calibri" pitchFamily="34" charset="-122"/>
                <a:cs typeface="Calibri" pitchFamily="34" charset="-120"/>
              </a:rPr>
              <a:t>Standard setup  •  Default cloud  •  1 training session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8" name="Shape 56"/>
          <p:cNvSpPr/>
          <p:nvPr/>
        </p:nvSpPr>
        <p:spPr>
          <a:xfrm>
            <a:off x="4663440" y="3761297"/>
            <a:ext cx="4069080" cy="658368"/>
          </a:xfrm>
          <a:prstGeom prst="rect">
            <a:avLst/>
          </a:prstGeom>
          <a:solidFill>
            <a:srgbClr val="1E3A5F"/>
          </a:solidFill>
          <a:ln w="12700">
            <a:solidFill>
              <a:srgbClr val="2563E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Text 57"/>
          <p:cNvSpPr/>
          <p:nvPr/>
        </p:nvSpPr>
        <p:spPr>
          <a:xfrm>
            <a:off x="4800600" y="3807017"/>
            <a:ext cx="374904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93C5FD"/>
                </a:solidFill>
                <a:effectLst/>
                <a:uLnTx/>
                <a:uFillTx/>
                <a:latin typeface="Calibri" pitchFamily="34" charset="0"/>
                <a:ea typeface="Calibri" pitchFamily="34" charset="-122"/>
                <a:cs typeface="Calibri" pitchFamily="34" charset="-120"/>
              </a:rPr>
              <a:t>Professional</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0" name="Text 58"/>
          <p:cNvSpPr/>
          <p:nvPr/>
        </p:nvSpPr>
        <p:spPr>
          <a:xfrm>
            <a:off x="4800600" y="4035617"/>
            <a:ext cx="374904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C4B5FD"/>
                </a:solidFill>
                <a:effectLst/>
                <a:uLnTx/>
                <a:uFillTx/>
                <a:latin typeface="Calibri" pitchFamily="34" charset="0"/>
                <a:ea typeface="Calibri" pitchFamily="34" charset="-122"/>
                <a:cs typeface="Calibri" pitchFamily="34" charset="-120"/>
              </a:rPr>
              <a:t>Dedicated cloud (Google/AWS/Azure)  •  Data migration  •  Multiple training sessions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1" name="Shape 59"/>
          <p:cNvSpPr/>
          <p:nvPr/>
        </p:nvSpPr>
        <p:spPr>
          <a:xfrm>
            <a:off x="457200" y="4538537"/>
            <a:ext cx="8275320" cy="347472"/>
          </a:xfrm>
          <a:prstGeom prst="rect">
            <a:avLst/>
          </a:prstGeom>
          <a:solidFill>
            <a:srgbClr val="D97706"/>
          </a:solidFill>
          <a:ln w="12700">
            <a:solidFill>
              <a:srgbClr val="D9770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2" name="Text 60"/>
          <p:cNvSpPr/>
          <p:nvPr/>
        </p:nvSpPr>
        <p:spPr>
          <a:xfrm>
            <a:off x="457200" y="4556825"/>
            <a:ext cx="8275320" cy="31089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Scalable pricing designed to grow with your organization — starting with a low-risk pilot.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D97706"/>
          </a:solidFill>
          <a:ln w="12700">
            <a:solidFill>
              <a:srgbClr val="D97706"/>
            </a:solidFill>
            <a:prstDash val="solid"/>
          </a:ln>
        </p:spPr>
        <p:txBody>
          <a:bodyPr/>
          <a:lstStyle/>
          <a:p>
            <a:endParaRPr lang="en-US"/>
          </a:p>
        </p:txBody>
      </p:sp>
      <p:sp>
        <p:nvSpPr>
          <p:cNvPr id="3" name="Shape 1"/>
          <p:cNvSpPr/>
          <p:nvPr/>
        </p:nvSpPr>
        <p:spPr>
          <a:xfrm>
            <a:off x="6858000" y="-640080"/>
            <a:ext cx="3200400" cy="3200400"/>
          </a:xfrm>
          <a:prstGeom prst="ellipse">
            <a:avLst/>
          </a:prstGeom>
          <a:solidFill>
            <a:srgbClr val="9333EA">
              <a:alpha val="32000"/>
            </a:srgbClr>
          </a:solidFill>
          <a:ln w="12700">
            <a:solidFill>
              <a:srgbClr val="9333EA">
                <a:alpha val="32000"/>
              </a:srgbClr>
            </a:solidFill>
            <a:prstDash val="solid"/>
          </a:ln>
        </p:spPr>
        <p:txBody>
          <a:bodyPr/>
          <a:lstStyle/>
          <a:p>
            <a:endParaRPr lang="en-US"/>
          </a:p>
        </p:txBody>
      </p:sp>
      <p:sp>
        <p:nvSpPr>
          <p:cNvPr id="4" name="Shape 2"/>
          <p:cNvSpPr/>
          <p:nvPr/>
        </p:nvSpPr>
        <p:spPr>
          <a:xfrm>
            <a:off x="-457200" y="3474720"/>
            <a:ext cx="2286000" cy="2286000"/>
          </a:xfrm>
          <a:prstGeom prst="ellipse">
            <a:avLst/>
          </a:prstGeom>
          <a:solidFill>
            <a:srgbClr val="2563EB">
              <a:alpha val="28000"/>
            </a:srgbClr>
          </a:solidFill>
          <a:ln w="12700">
            <a:solidFill>
              <a:srgbClr val="2563EB">
                <a:alpha val="28000"/>
              </a:srgbClr>
            </a:solidFill>
            <a:prstDash val="solid"/>
          </a:ln>
        </p:spPr>
        <p:txBody>
          <a:bodyPr/>
          <a:lstStyle/>
          <a:p>
            <a:endParaRPr lang="en-US"/>
          </a:p>
        </p:txBody>
      </p:sp>
      <p:sp>
        <p:nvSpPr>
          <p:cNvPr id="5" name="Text 3"/>
          <p:cNvSpPr/>
          <p:nvPr/>
        </p:nvSpPr>
        <p:spPr>
          <a:xfrm>
            <a:off x="548640" y="347472"/>
            <a:ext cx="7772400" cy="713232"/>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Vision</a:t>
            </a:r>
            <a:endParaRPr lang="en-US" sz="4000" dirty="0"/>
          </a:p>
        </p:txBody>
      </p:sp>
      <p:sp>
        <p:nvSpPr>
          <p:cNvPr id="6" name="Shape 4"/>
          <p:cNvSpPr/>
          <p:nvPr/>
        </p:nvSpPr>
        <p:spPr>
          <a:xfrm>
            <a:off x="548640" y="1078992"/>
            <a:ext cx="1371600" cy="54864"/>
          </a:xfrm>
          <a:prstGeom prst="rect">
            <a:avLst/>
          </a:prstGeom>
          <a:solidFill>
            <a:srgbClr val="D97706"/>
          </a:solidFill>
          <a:ln w="12700">
            <a:solidFill>
              <a:srgbClr val="D97706"/>
            </a:solidFill>
            <a:prstDash val="solid"/>
          </a:ln>
        </p:spPr>
        <p:txBody>
          <a:bodyPr/>
          <a:lstStyle/>
          <a:p>
            <a:endParaRPr lang="en-US"/>
          </a:p>
        </p:txBody>
      </p:sp>
      <p:sp>
        <p:nvSpPr>
          <p:cNvPr id="7" name="Text 5"/>
          <p:cNvSpPr/>
          <p:nvPr/>
        </p:nvSpPr>
        <p:spPr>
          <a:xfrm>
            <a:off x="548640" y="1234440"/>
            <a:ext cx="7772400" cy="914400"/>
          </a:xfrm>
          <a:prstGeom prst="rect">
            <a:avLst/>
          </a:prstGeom>
          <a:noFill/>
          <a:ln/>
        </p:spPr>
        <p:txBody>
          <a:bodyPr wrap="square" rtlCol="0" anchor="ctr"/>
          <a:lstStyle/>
          <a:p>
            <a:pPr marL="0" indent="0">
              <a:buNone/>
            </a:pPr>
            <a:r>
              <a:rPr lang="en-US" sz="1800" dirty="0">
                <a:solidFill>
                  <a:srgbClr val="C4B5FD"/>
                </a:solidFill>
                <a:latin typeface="Calibri" pitchFamily="34" charset="0"/>
                <a:ea typeface="Calibri" pitchFamily="34" charset="-122"/>
                <a:cs typeface="Calibri" pitchFamily="34" charset="-120"/>
              </a:rPr>
              <a:t>Imagine an organization where every solved problem</a:t>
            </a:r>
            <a:endParaRPr lang="en-US" sz="1800" dirty="0"/>
          </a:p>
          <a:p>
            <a:pPr marL="0" indent="0">
              <a:buNone/>
            </a:pPr>
            <a:r>
              <a:rPr lang="en-US" sz="1800" dirty="0">
                <a:solidFill>
                  <a:srgbClr val="C4B5FD"/>
                </a:solidFill>
                <a:latin typeface="Calibri" pitchFamily="34" charset="0"/>
                <a:ea typeface="Calibri" pitchFamily="34" charset="-122"/>
                <a:cs typeface="Calibri" pitchFamily="34" charset="-120"/>
              </a:rPr>
              <a:t>strengthens the company's collective intelligence.</a:t>
            </a:r>
            <a:endParaRPr lang="en-US" sz="1800" dirty="0"/>
          </a:p>
        </p:txBody>
      </p:sp>
      <p:sp>
        <p:nvSpPr>
          <p:cNvPr id="8" name="Text 6"/>
          <p:cNvSpPr/>
          <p:nvPr/>
        </p:nvSpPr>
        <p:spPr>
          <a:xfrm>
            <a:off x="548640" y="2240280"/>
            <a:ext cx="7772400" cy="530352"/>
          </a:xfrm>
          <a:prstGeom prst="rect">
            <a:avLst/>
          </a:prstGeom>
          <a:noFill/>
          <a:ln/>
        </p:spPr>
        <p:txBody>
          <a:bodyPr wrap="square" rtlCol="0" anchor="ctr"/>
          <a:lstStyle/>
          <a:p>
            <a:pPr marL="0" indent="0">
              <a:buNone/>
            </a:pPr>
            <a:r>
              <a:rPr lang="en-US" sz="2000" b="1" i="1" dirty="0">
                <a:solidFill>
                  <a:srgbClr val="D97706"/>
                </a:solidFill>
                <a:latin typeface="Calibri" pitchFamily="34" charset="0"/>
                <a:ea typeface="Calibri" pitchFamily="34" charset="-122"/>
                <a:cs typeface="Calibri" pitchFamily="34" charset="-120"/>
              </a:rPr>
              <a:t>Where knowledge never gets lost.</a:t>
            </a:r>
            <a:endParaRPr lang="en-US" sz="2000" dirty="0"/>
          </a:p>
        </p:txBody>
      </p:sp>
      <p:sp>
        <p:nvSpPr>
          <p:cNvPr id="9" name="Shape 7"/>
          <p:cNvSpPr/>
          <p:nvPr/>
        </p:nvSpPr>
        <p:spPr>
          <a:xfrm>
            <a:off x="1828800" y="2880360"/>
            <a:ext cx="5486400" cy="1234440"/>
          </a:xfrm>
          <a:prstGeom prst="rect">
            <a:avLst/>
          </a:prstGeom>
          <a:solidFill>
            <a:srgbClr val="9333EA"/>
          </a:solidFill>
          <a:ln w="12700">
            <a:solidFill>
              <a:srgbClr val="9333EA"/>
            </a:solidFill>
            <a:prstDash val="solid"/>
          </a:ln>
          <a:effectLst>
            <a:outerShdw blurRad="101600" dist="38100" dir="8100000" algn="bl" rotWithShape="0">
              <a:srgbClr val="000000">
                <a:alpha val="12000"/>
              </a:srgbClr>
            </a:outerShdw>
          </a:effectLst>
        </p:spPr>
        <p:txBody>
          <a:bodyPr/>
          <a:lstStyle/>
          <a:p>
            <a:endParaRPr lang="en-US"/>
          </a:p>
        </p:txBody>
      </p:sp>
      <p:pic>
        <p:nvPicPr>
          <p:cNvPr id="10" name="Image 0" descr="preencoded.png"/>
          <p:cNvPicPr>
            <a:picLocks noChangeAspect="1"/>
          </p:cNvPicPr>
          <p:nvPr/>
        </p:nvPicPr>
        <p:blipFill>
          <a:blip r:embed="rId4"/>
          <a:stretch>
            <a:fillRect/>
          </a:stretch>
        </p:blipFill>
        <p:spPr>
          <a:xfrm>
            <a:off x="2331720" y="2999232"/>
            <a:ext cx="566928" cy="566928"/>
          </a:xfrm>
          <a:prstGeom prst="rect">
            <a:avLst/>
          </a:prstGeom>
        </p:spPr>
      </p:pic>
      <p:sp>
        <p:nvSpPr>
          <p:cNvPr id="11" name="Text 8"/>
          <p:cNvSpPr/>
          <p:nvPr/>
        </p:nvSpPr>
        <p:spPr>
          <a:xfrm>
            <a:off x="2999232" y="2999232"/>
            <a:ext cx="4114800" cy="59436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WhatIDid</a:t>
            </a:r>
            <a:endParaRPr lang="en-US" sz="2600" dirty="0"/>
          </a:p>
        </p:txBody>
      </p:sp>
      <p:sp>
        <p:nvSpPr>
          <p:cNvPr id="12" name="Text 9"/>
          <p:cNvSpPr/>
          <p:nvPr/>
        </p:nvSpPr>
        <p:spPr>
          <a:xfrm>
            <a:off x="1920240" y="3611880"/>
            <a:ext cx="5303520" cy="384048"/>
          </a:xfrm>
          <a:prstGeom prst="rect">
            <a:avLst/>
          </a:prstGeom>
          <a:noFill/>
          <a:ln/>
        </p:spPr>
        <p:txBody>
          <a:bodyPr wrap="square" rtlCol="0" anchor="ctr"/>
          <a:lstStyle/>
          <a:p>
            <a:pPr marL="0" indent="0" algn="ctr">
              <a:buNone/>
            </a:pPr>
            <a:r>
              <a:rPr lang="en-US" sz="1100" dirty="0">
                <a:solidFill>
                  <a:srgbClr val="C4B5FD"/>
                </a:solidFill>
                <a:latin typeface="Calibri" pitchFamily="34" charset="0"/>
                <a:ea typeface="Calibri" pitchFamily="34" charset="-122"/>
                <a:cs typeface="Calibri" pitchFamily="34" charset="-120"/>
              </a:rPr>
              <a:t>Share work experiences. Accelerate organizational learning.</a:t>
            </a:r>
            <a:endParaRPr lang="en-US" sz="1100" dirty="0"/>
          </a:p>
        </p:txBody>
      </p:sp>
      <p:sp>
        <p:nvSpPr>
          <p:cNvPr id="13" name="Shape 10"/>
          <p:cNvSpPr/>
          <p:nvPr/>
        </p:nvSpPr>
        <p:spPr>
          <a:xfrm>
            <a:off x="548640" y="4434840"/>
            <a:ext cx="8046720" cy="457200"/>
          </a:xfrm>
          <a:prstGeom prst="rect">
            <a:avLst/>
          </a:prstGeom>
          <a:solidFill>
            <a:srgbClr val="D97706"/>
          </a:solidFill>
          <a:ln w="12700">
            <a:solidFill>
              <a:srgbClr val="D97706"/>
            </a:solidFill>
            <a:prstDash val="solid"/>
          </a:ln>
        </p:spPr>
        <p:txBody>
          <a:bodyPr/>
          <a:lstStyle/>
          <a:p>
            <a:endParaRPr lang="en-US"/>
          </a:p>
        </p:txBody>
      </p:sp>
      <p:sp>
        <p:nvSpPr>
          <p:cNvPr id="14" name="Text 11"/>
          <p:cNvSpPr/>
          <p:nvPr/>
        </p:nvSpPr>
        <p:spPr>
          <a:xfrm>
            <a:off x="548640" y="4462272"/>
            <a:ext cx="8046720" cy="402336"/>
          </a:xfrm>
          <a:prstGeom prst="rect">
            <a:avLst/>
          </a:prstGeom>
          <a:noFill/>
          <a:ln/>
        </p:spPr>
        <p:txBody>
          <a:bodyPr wrap="square" lIns="0" tIns="0" rIns="0" bIns="0" rtlCol="0" anchor="ctr"/>
          <a:lstStyle/>
          <a:p>
            <a:pPr marL="0" indent="0" algn="ctr">
              <a:buNone/>
            </a:pPr>
            <a:r>
              <a:rPr lang="en-US" sz="1400" b="1" i="1" dirty="0">
                <a:solidFill>
                  <a:srgbClr val="FFFFFF"/>
                </a:solidFill>
                <a:latin typeface="Calibri" pitchFamily="34" charset="0"/>
                <a:ea typeface="Calibri" pitchFamily="34" charset="-122"/>
                <a:cs typeface="Calibri" pitchFamily="34" charset="-120"/>
              </a:rPr>
              <a:t>Real problems. Real actions. Real results.</a:t>
            </a:r>
            <a:endParaRPr lang="en-US" sz="1400" dirty="0"/>
          </a:p>
        </p:txBody>
      </p:sp>
      <p:grpSp>
        <p:nvGrpSpPr>
          <p:cNvPr id="15" name="Group 14">
            <a:extLst>
              <a:ext uri="{FF2B5EF4-FFF2-40B4-BE49-F238E27FC236}">
                <a16:creationId xmlns:a16="http://schemas.microsoft.com/office/drawing/2014/main" id="{56292C5D-C731-BE79-2EDC-3EAAA90D8419}"/>
              </a:ext>
            </a:extLst>
          </p:cNvPr>
          <p:cNvGrpSpPr/>
          <p:nvPr/>
        </p:nvGrpSpPr>
        <p:grpSpPr>
          <a:xfrm>
            <a:off x="6357258" y="200950"/>
            <a:ext cx="2575560" cy="1409700"/>
            <a:chOff x="4663440" y="1152144"/>
            <a:chExt cx="4352544" cy="1911096"/>
          </a:xfrm>
        </p:grpSpPr>
        <p:sp>
          <p:nvSpPr>
            <p:cNvPr id="16" name="Shape 3">
              <a:extLst>
                <a:ext uri="{FF2B5EF4-FFF2-40B4-BE49-F238E27FC236}">
                  <a16:creationId xmlns:a16="http://schemas.microsoft.com/office/drawing/2014/main" id="{B76F65C2-23F9-7E52-262F-A3039D5E1E60}"/>
                </a:ext>
              </a:extLst>
            </p:cNvPr>
            <p:cNvSpPr/>
            <p:nvPr/>
          </p:nvSpPr>
          <p:spPr>
            <a:xfrm>
              <a:off x="4663440" y="1874520"/>
              <a:ext cx="1417320" cy="914400"/>
            </a:xfrm>
            <a:prstGeom prst="rect">
              <a:avLst/>
            </a:prstGeom>
            <a:solidFill>
              <a:srgbClr val="1E2E5C"/>
            </a:solidFill>
            <a:ln w="12700">
              <a:solidFill>
                <a:srgbClr val="47556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4">
              <a:extLst>
                <a:ext uri="{FF2B5EF4-FFF2-40B4-BE49-F238E27FC236}">
                  <a16:creationId xmlns:a16="http://schemas.microsoft.com/office/drawing/2014/main" id="{0DC6A9BA-0AA1-EC8D-DC4E-241785277D47}"/>
                </a:ext>
              </a:extLst>
            </p:cNvPr>
            <p:cNvSpPr/>
            <p:nvPr/>
          </p:nvSpPr>
          <p:spPr>
            <a:xfrm>
              <a:off x="4773168" y="1984248"/>
              <a:ext cx="155448" cy="246888"/>
            </a:xfrm>
            <a:prstGeom prst="rect">
              <a:avLst/>
            </a:prstGeom>
            <a:solidFill>
              <a:srgbClr val="D97706"/>
            </a:solidFill>
            <a:ln w="12700">
              <a:solidFill>
                <a:srgbClr val="D9770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Shape 5">
              <a:extLst>
                <a:ext uri="{FF2B5EF4-FFF2-40B4-BE49-F238E27FC236}">
                  <a16:creationId xmlns:a16="http://schemas.microsoft.com/office/drawing/2014/main" id="{7987CD8A-8D2A-B95E-1352-B889D75E1BCB}"/>
                </a:ext>
              </a:extLst>
            </p:cNvPr>
            <p:cNvSpPr/>
            <p:nvPr/>
          </p:nvSpPr>
          <p:spPr>
            <a:xfrm>
              <a:off x="4965192" y="1883664"/>
              <a:ext cx="155448" cy="347472"/>
            </a:xfrm>
            <a:prstGeom prst="rect">
              <a:avLst/>
            </a:prstGeom>
            <a:solidFill>
              <a:srgbClr val="8B5CF6"/>
            </a:solidFill>
            <a:ln w="12700">
              <a:solidFill>
                <a:srgbClr val="8B5C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6">
              <a:extLst>
                <a:ext uri="{FF2B5EF4-FFF2-40B4-BE49-F238E27FC236}">
                  <a16:creationId xmlns:a16="http://schemas.microsoft.com/office/drawing/2014/main" id="{C78769DC-2192-9BB5-7415-088B38732186}"/>
                </a:ext>
              </a:extLst>
            </p:cNvPr>
            <p:cNvSpPr/>
            <p:nvPr/>
          </p:nvSpPr>
          <p:spPr>
            <a:xfrm>
              <a:off x="5157216" y="1792224"/>
              <a:ext cx="155448" cy="438912"/>
            </a:xfrm>
            <a:prstGeom prst="rect">
              <a:avLst/>
            </a:prstGeom>
            <a:solidFill>
              <a:srgbClr val="34D399"/>
            </a:solidFill>
            <a:ln w="12700">
              <a:solidFill>
                <a:srgbClr val="34D39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Shape 7">
              <a:extLst>
                <a:ext uri="{FF2B5EF4-FFF2-40B4-BE49-F238E27FC236}">
                  <a16:creationId xmlns:a16="http://schemas.microsoft.com/office/drawing/2014/main" id="{2BA2164B-3F64-883D-46E4-C4FE49287A01}"/>
                </a:ext>
              </a:extLst>
            </p:cNvPr>
            <p:cNvSpPr/>
            <p:nvPr/>
          </p:nvSpPr>
          <p:spPr>
            <a:xfrm>
              <a:off x="5349240" y="1920240"/>
              <a:ext cx="155448" cy="310896"/>
            </a:xfrm>
            <a:prstGeom prst="rect">
              <a:avLst/>
            </a:prstGeom>
            <a:solidFill>
              <a:srgbClr val="60A5FA"/>
            </a:solidFill>
            <a:ln w="12700">
              <a:solidFill>
                <a:srgbClr val="60A5F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Shape 8">
              <a:extLst>
                <a:ext uri="{FF2B5EF4-FFF2-40B4-BE49-F238E27FC236}">
                  <a16:creationId xmlns:a16="http://schemas.microsoft.com/office/drawing/2014/main" id="{9904F168-A10C-A362-7260-7031F0C99E1E}"/>
                </a:ext>
              </a:extLst>
            </p:cNvPr>
            <p:cNvSpPr/>
            <p:nvPr/>
          </p:nvSpPr>
          <p:spPr>
            <a:xfrm>
              <a:off x="5285232" y="2788920"/>
              <a:ext cx="64008" cy="182880"/>
            </a:xfrm>
            <a:prstGeom prst="rect">
              <a:avLst/>
            </a:prstGeom>
            <a:solidFill>
              <a:srgbClr val="8B5CF6">
                <a:alpha val="70000"/>
              </a:srgbClr>
            </a:solidFill>
            <a:ln w="12700">
              <a:solidFill>
                <a:srgbClr val="8B5CF6">
                  <a:alpha val="7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Shape 9">
              <a:extLst>
                <a:ext uri="{FF2B5EF4-FFF2-40B4-BE49-F238E27FC236}">
                  <a16:creationId xmlns:a16="http://schemas.microsoft.com/office/drawing/2014/main" id="{F88C8FF0-F5CA-3CA1-B079-36AE4C69CDD2}"/>
                </a:ext>
              </a:extLst>
            </p:cNvPr>
            <p:cNvSpPr/>
            <p:nvPr/>
          </p:nvSpPr>
          <p:spPr>
            <a:xfrm>
              <a:off x="5047488" y="2944368"/>
              <a:ext cx="530352" cy="64008"/>
            </a:xfrm>
            <a:prstGeom prst="rect">
              <a:avLst/>
            </a:prstGeom>
            <a:solidFill>
              <a:srgbClr val="8B5CF6">
                <a:alpha val="70000"/>
              </a:srgbClr>
            </a:solidFill>
            <a:ln w="12700">
              <a:solidFill>
                <a:srgbClr val="8B5CF6">
                  <a:alpha val="7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10">
              <a:extLst>
                <a:ext uri="{FF2B5EF4-FFF2-40B4-BE49-F238E27FC236}">
                  <a16:creationId xmlns:a16="http://schemas.microsoft.com/office/drawing/2014/main" id="{CFC7A93D-607E-72A0-2460-1C1E4CE3E38F}"/>
                </a:ext>
              </a:extLst>
            </p:cNvPr>
            <p:cNvSpPr/>
            <p:nvPr/>
          </p:nvSpPr>
          <p:spPr>
            <a:xfrm>
              <a:off x="6199632" y="1755648"/>
              <a:ext cx="310896" cy="310896"/>
            </a:xfrm>
            <a:prstGeom prst="ellipse">
              <a:avLst/>
            </a:prstGeom>
            <a:solidFill>
              <a:srgbClr val="D97706"/>
            </a:solidFill>
            <a:ln w="12700">
              <a:solidFill>
                <a:srgbClr val="D9770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Shape 11">
              <a:extLst>
                <a:ext uri="{FF2B5EF4-FFF2-40B4-BE49-F238E27FC236}">
                  <a16:creationId xmlns:a16="http://schemas.microsoft.com/office/drawing/2014/main" id="{3C423525-96EE-15CB-410B-B79DDB389760}"/>
                </a:ext>
              </a:extLst>
            </p:cNvPr>
            <p:cNvSpPr/>
            <p:nvPr/>
          </p:nvSpPr>
          <p:spPr>
            <a:xfrm>
              <a:off x="6135624" y="2066544"/>
              <a:ext cx="438912" cy="594360"/>
            </a:xfrm>
            <a:prstGeom prst="rect">
              <a:avLst/>
            </a:prstGeom>
            <a:solidFill>
              <a:srgbClr val="2563EB"/>
            </a:solidFill>
            <a:ln w="12700">
              <a:solidFill>
                <a:srgbClr val="2563E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Shape 12">
              <a:extLst>
                <a:ext uri="{FF2B5EF4-FFF2-40B4-BE49-F238E27FC236}">
                  <a16:creationId xmlns:a16="http://schemas.microsoft.com/office/drawing/2014/main" id="{DDB63958-D335-54DB-02CA-6B9819300324}"/>
                </a:ext>
              </a:extLst>
            </p:cNvPr>
            <p:cNvSpPr/>
            <p:nvPr/>
          </p:nvSpPr>
          <p:spPr>
            <a:xfrm>
              <a:off x="5779008" y="2157984"/>
              <a:ext cx="402336" cy="82296"/>
            </a:xfrm>
            <a:prstGeom prst="rect">
              <a:avLst/>
            </a:prstGeom>
            <a:solidFill>
              <a:srgbClr val="D97706"/>
            </a:solidFill>
            <a:ln w="12700">
              <a:solidFill>
                <a:srgbClr val="D9770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Shape 13">
              <a:extLst>
                <a:ext uri="{FF2B5EF4-FFF2-40B4-BE49-F238E27FC236}">
                  <a16:creationId xmlns:a16="http://schemas.microsoft.com/office/drawing/2014/main" id="{23E8A0A2-F300-BFD4-F058-535DEF34E699}"/>
                </a:ext>
              </a:extLst>
            </p:cNvPr>
            <p:cNvSpPr/>
            <p:nvPr/>
          </p:nvSpPr>
          <p:spPr>
            <a:xfrm>
              <a:off x="6172200" y="2642616"/>
              <a:ext cx="155448" cy="420624"/>
            </a:xfrm>
            <a:prstGeom prst="rect">
              <a:avLst/>
            </a:prstGeom>
            <a:solidFill>
              <a:srgbClr val="1E3A8A"/>
            </a:solidFill>
            <a:ln w="12700">
              <a:solidFill>
                <a:srgbClr val="1E3A8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Shape 14">
              <a:extLst>
                <a:ext uri="{FF2B5EF4-FFF2-40B4-BE49-F238E27FC236}">
                  <a16:creationId xmlns:a16="http://schemas.microsoft.com/office/drawing/2014/main" id="{21EAA543-A7AA-613B-46D5-D0146B2F5DD6}"/>
                </a:ext>
              </a:extLst>
            </p:cNvPr>
            <p:cNvSpPr/>
            <p:nvPr/>
          </p:nvSpPr>
          <p:spPr>
            <a:xfrm>
              <a:off x="6382512" y="2642616"/>
              <a:ext cx="155448" cy="420624"/>
            </a:xfrm>
            <a:prstGeom prst="rect">
              <a:avLst/>
            </a:prstGeom>
            <a:solidFill>
              <a:srgbClr val="1E3A8A"/>
            </a:solidFill>
            <a:ln w="12700">
              <a:solidFill>
                <a:srgbClr val="1E3A8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Shape 15">
              <a:extLst>
                <a:ext uri="{FF2B5EF4-FFF2-40B4-BE49-F238E27FC236}">
                  <a16:creationId xmlns:a16="http://schemas.microsoft.com/office/drawing/2014/main" id="{28D43D20-CC88-529D-244A-97EFE3BFA291}"/>
                </a:ext>
              </a:extLst>
            </p:cNvPr>
            <p:cNvSpPr/>
            <p:nvPr/>
          </p:nvSpPr>
          <p:spPr>
            <a:xfrm>
              <a:off x="7040880" y="2414016"/>
              <a:ext cx="1234440" cy="82296"/>
            </a:xfrm>
            <a:prstGeom prst="rect">
              <a:avLst/>
            </a:prstGeom>
            <a:solidFill>
              <a:srgbClr val="4C1D95">
                <a:alpha val="80000"/>
              </a:srgbClr>
            </a:solidFill>
            <a:ln w="12700">
              <a:solidFill>
                <a:srgbClr val="4C1D95">
                  <a:alpha val="8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Shape 16">
              <a:extLst>
                <a:ext uri="{FF2B5EF4-FFF2-40B4-BE49-F238E27FC236}">
                  <a16:creationId xmlns:a16="http://schemas.microsoft.com/office/drawing/2014/main" id="{0C27AD73-ED76-6757-47B5-9B75DEB037B5}"/>
                </a:ext>
              </a:extLst>
            </p:cNvPr>
            <p:cNvSpPr/>
            <p:nvPr/>
          </p:nvSpPr>
          <p:spPr>
            <a:xfrm>
              <a:off x="7114032" y="2496312"/>
              <a:ext cx="64008" cy="411480"/>
            </a:xfrm>
            <a:prstGeom prst="rect">
              <a:avLst/>
            </a:prstGeom>
            <a:solidFill>
              <a:srgbClr val="4C1D95">
                <a:alpha val="60000"/>
              </a:srgbClr>
            </a:solidFill>
            <a:ln w="12700">
              <a:solidFill>
                <a:srgbClr val="4C1D95">
                  <a:alpha val="6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Shape 17">
              <a:extLst>
                <a:ext uri="{FF2B5EF4-FFF2-40B4-BE49-F238E27FC236}">
                  <a16:creationId xmlns:a16="http://schemas.microsoft.com/office/drawing/2014/main" id="{B3683DAF-9919-C81C-7D11-10E1F28E9E9F}"/>
                </a:ext>
              </a:extLst>
            </p:cNvPr>
            <p:cNvSpPr/>
            <p:nvPr/>
          </p:nvSpPr>
          <p:spPr>
            <a:xfrm>
              <a:off x="7260336" y="2496312"/>
              <a:ext cx="64008" cy="411480"/>
            </a:xfrm>
            <a:prstGeom prst="rect">
              <a:avLst/>
            </a:prstGeom>
            <a:solidFill>
              <a:srgbClr val="4C1D95">
                <a:alpha val="60000"/>
              </a:srgbClr>
            </a:solidFill>
            <a:ln w="12700">
              <a:solidFill>
                <a:srgbClr val="4C1D95">
                  <a:alpha val="6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Shape 18">
              <a:extLst>
                <a:ext uri="{FF2B5EF4-FFF2-40B4-BE49-F238E27FC236}">
                  <a16:creationId xmlns:a16="http://schemas.microsoft.com/office/drawing/2014/main" id="{5A102EDC-BB5E-2DA6-B715-F60B837A8E22}"/>
                </a:ext>
              </a:extLst>
            </p:cNvPr>
            <p:cNvSpPr/>
            <p:nvPr/>
          </p:nvSpPr>
          <p:spPr>
            <a:xfrm>
              <a:off x="7077456" y="1920240"/>
              <a:ext cx="877824" cy="566928"/>
            </a:xfrm>
            <a:prstGeom prst="rect">
              <a:avLst/>
            </a:prstGeom>
            <a:solidFill>
              <a:srgbClr val="1E2E5C"/>
            </a:solidFill>
            <a:ln w="12700">
              <a:solidFill>
                <a:srgbClr val="33415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Shape 19">
              <a:extLst>
                <a:ext uri="{FF2B5EF4-FFF2-40B4-BE49-F238E27FC236}">
                  <a16:creationId xmlns:a16="http://schemas.microsoft.com/office/drawing/2014/main" id="{BE39FFDA-8D18-527D-BEDB-7851BFFB6FCE}"/>
                </a:ext>
              </a:extLst>
            </p:cNvPr>
            <p:cNvSpPr/>
            <p:nvPr/>
          </p:nvSpPr>
          <p:spPr>
            <a:xfrm>
              <a:off x="7571232" y="1993392"/>
              <a:ext cx="301752" cy="301752"/>
            </a:xfrm>
            <a:prstGeom prst="ellipse">
              <a:avLst/>
            </a:prstGeom>
            <a:solidFill>
              <a:srgbClr val="1E3A8A"/>
            </a:solidFill>
            <a:ln w="12700">
              <a:solidFill>
                <a:srgbClr val="1E3A8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Shape 20">
              <a:extLst>
                <a:ext uri="{FF2B5EF4-FFF2-40B4-BE49-F238E27FC236}">
                  <a16:creationId xmlns:a16="http://schemas.microsoft.com/office/drawing/2014/main" id="{5F426B8F-FB21-0E29-D95F-2317F9DCEE76}"/>
                </a:ext>
              </a:extLst>
            </p:cNvPr>
            <p:cNvSpPr/>
            <p:nvPr/>
          </p:nvSpPr>
          <p:spPr>
            <a:xfrm>
              <a:off x="6967728" y="2450592"/>
              <a:ext cx="1042416" cy="64008"/>
            </a:xfrm>
            <a:prstGeom prst="rect">
              <a:avLst/>
            </a:prstGeom>
            <a:solidFill>
              <a:srgbClr val="334155"/>
            </a:solidFill>
            <a:ln w="12700">
              <a:solidFill>
                <a:srgbClr val="33415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Shape 21">
              <a:extLst>
                <a:ext uri="{FF2B5EF4-FFF2-40B4-BE49-F238E27FC236}">
                  <a16:creationId xmlns:a16="http://schemas.microsoft.com/office/drawing/2014/main" id="{1E7DAB21-061D-551F-8D07-CDB2DAC437C7}"/>
                </a:ext>
              </a:extLst>
            </p:cNvPr>
            <p:cNvSpPr/>
            <p:nvPr/>
          </p:nvSpPr>
          <p:spPr>
            <a:xfrm>
              <a:off x="7424928" y="1444752"/>
              <a:ext cx="292608" cy="292608"/>
            </a:xfrm>
            <a:prstGeom prst="ellipse">
              <a:avLst/>
            </a:prstGeom>
            <a:solidFill>
              <a:srgbClr val="FCA5A5"/>
            </a:solidFill>
            <a:ln w="12700">
              <a:solidFill>
                <a:srgbClr val="FCA5A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Shape 22">
              <a:extLst>
                <a:ext uri="{FF2B5EF4-FFF2-40B4-BE49-F238E27FC236}">
                  <a16:creationId xmlns:a16="http://schemas.microsoft.com/office/drawing/2014/main" id="{108FC9D6-F67C-BA91-D762-E325EEB1012B}"/>
                </a:ext>
              </a:extLst>
            </p:cNvPr>
            <p:cNvSpPr/>
            <p:nvPr/>
          </p:nvSpPr>
          <p:spPr>
            <a:xfrm>
              <a:off x="7351776" y="1737360"/>
              <a:ext cx="438912" cy="475488"/>
            </a:xfrm>
            <a:prstGeom prst="rect">
              <a:avLst/>
            </a:prstGeom>
            <a:solidFill>
              <a:srgbClr val="DC2626"/>
            </a:solidFill>
            <a:ln w="12700">
              <a:solidFill>
                <a:srgbClr val="DC262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Shape 23">
              <a:extLst>
                <a:ext uri="{FF2B5EF4-FFF2-40B4-BE49-F238E27FC236}">
                  <a16:creationId xmlns:a16="http://schemas.microsoft.com/office/drawing/2014/main" id="{7BDE3595-55A5-A4C6-755F-C8467EA8DAB7}"/>
                </a:ext>
              </a:extLst>
            </p:cNvPr>
            <p:cNvSpPr/>
            <p:nvPr/>
          </p:nvSpPr>
          <p:spPr>
            <a:xfrm>
              <a:off x="7114032" y="2029968"/>
              <a:ext cx="292608" cy="82296"/>
            </a:xfrm>
            <a:prstGeom prst="rect">
              <a:avLst/>
            </a:prstGeom>
            <a:solidFill>
              <a:srgbClr val="FCA5A5"/>
            </a:solidFill>
            <a:ln w="12700">
              <a:solidFill>
                <a:srgbClr val="FCA5A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Shape 24">
              <a:extLst>
                <a:ext uri="{FF2B5EF4-FFF2-40B4-BE49-F238E27FC236}">
                  <a16:creationId xmlns:a16="http://schemas.microsoft.com/office/drawing/2014/main" id="{2BC951E7-F328-BBEC-BE90-800959E5F22B}"/>
                </a:ext>
              </a:extLst>
            </p:cNvPr>
            <p:cNvSpPr/>
            <p:nvPr/>
          </p:nvSpPr>
          <p:spPr>
            <a:xfrm>
              <a:off x="7754112" y="2029968"/>
              <a:ext cx="292608" cy="82296"/>
            </a:xfrm>
            <a:prstGeom prst="rect">
              <a:avLst/>
            </a:prstGeom>
            <a:solidFill>
              <a:srgbClr val="FCA5A5"/>
            </a:solidFill>
            <a:ln w="12700">
              <a:solidFill>
                <a:srgbClr val="FCA5A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Shape 25">
              <a:extLst>
                <a:ext uri="{FF2B5EF4-FFF2-40B4-BE49-F238E27FC236}">
                  <a16:creationId xmlns:a16="http://schemas.microsoft.com/office/drawing/2014/main" id="{57AE7E00-2B74-6930-A9FC-C6DBAB605067}"/>
                </a:ext>
              </a:extLst>
            </p:cNvPr>
            <p:cNvSpPr/>
            <p:nvPr/>
          </p:nvSpPr>
          <p:spPr>
            <a:xfrm>
              <a:off x="8183880" y="1737360"/>
              <a:ext cx="292608" cy="292608"/>
            </a:xfrm>
            <a:prstGeom prst="ellipse">
              <a:avLst/>
            </a:prstGeom>
            <a:solidFill>
              <a:srgbClr val="6EE7B7"/>
            </a:solidFill>
            <a:ln w="12700">
              <a:solidFill>
                <a:srgbClr val="6EE7B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Shape 26">
              <a:extLst>
                <a:ext uri="{FF2B5EF4-FFF2-40B4-BE49-F238E27FC236}">
                  <a16:creationId xmlns:a16="http://schemas.microsoft.com/office/drawing/2014/main" id="{DE713BDD-8DD4-F6EC-FED2-1958E15DB298}"/>
                </a:ext>
              </a:extLst>
            </p:cNvPr>
            <p:cNvSpPr/>
            <p:nvPr/>
          </p:nvSpPr>
          <p:spPr>
            <a:xfrm>
              <a:off x="8119872" y="2029968"/>
              <a:ext cx="420624" cy="585216"/>
            </a:xfrm>
            <a:prstGeom prst="rect">
              <a:avLst/>
            </a:prstGeom>
            <a:solidFill>
              <a:srgbClr val="059669"/>
            </a:solidFill>
            <a:ln w="12700">
              <a:solidFill>
                <a:srgbClr val="05966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Shape 27">
              <a:extLst>
                <a:ext uri="{FF2B5EF4-FFF2-40B4-BE49-F238E27FC236}">
                  <a16:creationId xmlns:a16="http://schemas.microsoft.com/office/drawing/2014/main" id="{2BEBD11F-52D6-364F-CF61-9B1A2C999DCF}"/>
                </a:ext>
              </a:extLst>
            </p:cNvPr>
            <p:cNvSpPr/>
            <p:nvPr/>
          </p:nvSpPr>
          <p:spPr>
            <a:xfrm>
              <a:off x="7872984" y="2139696"/>
              <a:ext cx="292608" cy="82296"/>
            </a:xfrm>
            <a:prstGeom prst="rect">
              <a:avLst/>
            </a:prstGeom>
            <a:solidFill>
              <a:srgbClr val="6EE7B7"/>
            </a:solidFill>
            <a:ln w="12700">
              <a:solidFill>
                <a:srgbClr val="6EE7B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Shape 28">
              <a:extLst>
                <a:ext uri="{FF2B5EF4-FFF2-40B4-BE49-F238E27FC236}">
                  <a16:creationId xmlns:a16="http://schemas.microsoft.com/office/drawing/2014/main" id="{930E7495-9352-DA98-F81F-52A913D81A1F}"/>
                </a:ext>
              </a:extLst>
            </p:cNvPr>
            <p:cNvSpPr/>
            <p:nvPr/>
          </p:nvSpPr>
          <p:spPr>
            <a:xfrm>
              <a:off x="8494776" y="2139696"/>
              <a:ext cx="292608" cy="82296"/>
            </a:xfrm>
            <a:prstGeom prst="rect">
              <a:avLst/>
            </a:prstGeom>
            <a:solidFill>
              <a:srgbClr val="6EE7B7"/>
            </a:solidFill>
            <a:ln w="12700">
              <a:solidFill>
                <a:srgbClr val="6EE7B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Shape 29">
              <a:extLst>
                <a:ext uri="{FF2B5EF4-FFF2-40B4-BE49-F238E27FC236}">
                  <a16:creationId xmlns:a16="http://schemas.microsoft.com/office/drawing/2014/main" id="{D65C04DE-2D39-1854-4D9E-15AF7781DF02}"/>
                </a:ext>
              </a:extLst>
            </p:cNvPr>
            <p:cNvSpPr/>
            <p:nvPr/>
          </p:nvSpPr>
          <p:spPr>
            <a:xfrm>
              <a:off x="8156448" y="2596896"/>
              <a:ext cx="146304" cy="438912"/>
            </a:xfrm>
            <a:prstGeom prst="rect">
              <a:avLst/>
            </a:prstGeom>
            <a:solidFill>
              <a:srgbClr val="065F46"/>
            </a:solidFill>
            <a:ln w="12700">
              <a:solidFill>
                <a:srgbClr val="065F4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Shape 30">
              <a:extLst>
                <a:ext uri="{FF2B5EF4-FFF2-40B4-BE49-F238E27FC236}">
                  <a16:creationId xmlns:a16="http://schemas.microsoft.com/office/drawing/2014/main" id="{2BD4EFB0-9AE9-1E37-E708-53D35331F38A}"/>
                </a:ext>
              </a:extLst>
            </p:cNvPr>
            <p:cNvSpPr/>
            <p:nvPr/>
          </p:nvSpPr>
          <p:spPr>
            <a:xfrm>
              <a:off x="8357616" y="2596896"/>
              <a:ext cx="146304" cy="438912"/>
            </a:xfrm>
            <a:prstGeom prst="rect">
              <a:avLst/>
            </a:prstGeom>
            <a:solidFill>
              <a:srgbClr val="065F46"/>
            </a:solidFill>
            <a:ln w="12700">
              <a:solidFill>
                <a:srgbClr val="065F4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Shape 31">
              <a:extLst>
                <a:ext uri="{FF2B5EF4-FFF2-40B4-BE49-F238E27FC236}">
                  <a16:creationId xmlns:a16="http://schemas.microsoft.com/office/drawing/2014/main" id="{6B81E672-7AD6-ADE4-4C7F-B248552000F7}"/>
                </a:ext>
              </a:extLst>
            </p:cNvPr>
            <p:cNvSpPr/>
            <p:nvPr/>
          </p:nvSpPr>
          <p:spPr>
            <a:xfrm>
              <a:off x="5303520" y="1481328"/>
              <a:ext cx="137160" cy="137160"/>
            </a:xfrm>
            <a:prstGeom prst="ellipse">
              <a:avLst/>
            </a:prstGeom>
            <a:solidFill>
              <a:srgbClr val="8B5CF6">
                <a:alpha val="55000"/>
              </a:srgbClr>
            </a:solidFill>
            <a:ln w="12700">
              <a:solidFill>
                <a:srgbClr val="8B5CF6">
                  <a:alpha val="5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 name="Shape 32">
              <a:extLst>
                <a:ext uri="{FF2B5EF4-FFF2-40B4-BE49-F238E27FC236}">
                  <a16:creationId xmlns:a16="http://schemas.microsoft.com/office/drawing/2014/main" id="{C7CCE354-42B3-5C94-2AE7-A3142BDD062B}"/>
                </a:ext>
              </a:extLst>
            </p:cNvPr>
            <p:cNvSpPr/>
            <p:nvPr/>
          </p:nvSpPr>
          <p:spPr>
            <a:xfrm>
              <a:off x="6437376" y="1389888"/>
              <a:ext cx="118872" cy="118872"/>
            </a:xfrm>
            <a:prstGeom prst="ellipse">
              <a:avLst/>
            </a:prstGeom>
            <a:solidFill>
              <a:srgbClr val="D97706">
                <a:alpha val="55000"/>
              </a:srgbClr>
            </a:solidFill>
            <a:ln w="12700">
              <a:solidFill>
                <a:srgbClr val="D97706">
                  <a:alpha val="5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 name="Shape 33">
              <a:extLst>
                <a:ext uri="{FF2B5EF4-FFF2-40B4-BE49-F238E27FC236}">
                  <a16:creationId xmlns:a16="http://schemas.microsoft.com/office/drawing/2014/main" id="{2E7E34A0-5B1B-3672-6D03-E83926F69564}"/>
                </a:ext>
              </a:extLst>
            </p:cNvPr>
            <p:cNvSpPr/>
            <p:nvPr/>
          </p:nvSpPr>
          <p:spPr>
            <a:xfrm>
              <a:off x="7735824" y="1335024"/>
              <a:ext cx="128016" cy="128016"/>
            </a:xfrm>
            <a:prstGeom prst="ellipse">
              <a:avLst/>
            </a:prstGeom>
            <a:solidFill>
              <a:srgbClr val="34D399">
                <a:alpha val="55000"/>
              </a:srgbClr>
            </a:solidFill>
            <a:ln w="12700">
              <a:solidFill>
                <a:srgbClr val="34D399">
                  <a:alpha val="5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 name="Shape 34">
              <a:extLst>
                <a:ext uri="{FF2B5EF4-FFF2-40B4-BE49-F238E27FC236}">
                  <a16:creationId xmlns:a16="http://schemas.microsoft.com/office/drawing/2014/main" id="{EF6F7AFB-414C-F275-B2AC-3F2261AD0523}"/>
                </a:ext>
              </a:extLst>
            </p:cNvPr>
            <p:cNvSpPr/>
            <p:nvPr/>
          </p:nvSpPr>
          <p:spPr>
            <a:xfrm>
              <a:off x="7918704" y="1152144"/>
              <a:ext cx="1097280" cy="457200"/>
            </a:xfrm>
            <a:prstGeom prst="roundRect">
              <a:avLst/>
            </a:prstGeom>
            <a:solidFill>
              <a:srgbClr val="FFFFFF">
                <a:alpha val="22000"/>
              </a:srgbClr>
            </a:solidFill>
            <a:ln w="12700">
              <a:solidFill>
                <a:srgbClr val="FFFFFF">
                  <a:alpha val="4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Shape 35">
              <a:extLst>
                <a:ext uri="{FF2B5EF4-FFF2-40B4-BE49-F238E27FC236}">
                  <a16:creationId xmlns:a16="http://schemas.microsoft.com/office/drawing/2014/main" id="{EB5E9F52-D394-3193-DDBF-44B710D05F06}"/>
                </a:ext>
              </a:extLst>
            </p:cNvPr>
            <p:cNvSpPr/>
            <p:nvPr/>
          </p:nvSpPr>
          <p:spPr>
            <a:xfrm>
              <a:off x="8357616" y="1225296"/>
              <a:ext cx="201168" cy="201168"/>
            </a:xfrm>
            <a:prstGeom prst="ellipse">
              <a:avLst/>
            </a:prstGeom>
            <a:solidFill>
              <a:srgbClr val="D97706">
                <a:alpha val="75000"/>
              </a:srgbClr>
            </a:solidFill>
            <a:ln w="12700">
              <a:solidFill>
                <a:srgbClr val="D97706">
                  <a:alpha val="7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 name="Shape 36">
              <a:extLst>
                <a:ext uri="{FF2B5EF4-FFF2-40B4-BE49-F238E27FC236}">
                  <a16:creationId xmlns:a16="http://schemas.microsoft.com/office/drawing/2014/main" id="{A07DBE2F-8B28-938D-CC70-DBD09EDB52AC}"/>
                </a:ext>
              </a:extLst>
            </p:cNvPr>
            <p:cNvSpPr/>
            <p:nvPr/>
          </p:nvSpPr>
          <p:spPr>
            <a:xfrm>
              <a:off x="7982712" y="1243584"/>
              <a:ext cx="301752" cy="54864"/>
            </a:xfrm>
            <a:prstGeom prst="rect">
              <a:avLst/>
            </a:prstGeom>
            <a:solidFill>
              <a:srgbClr val="FFFFFF">
                <a:alpha val="55000"/>
              </a:srgbClr>
            </a:solidFill>
            <a:ln w="12700">
              <a:solidFill>
                <a:srgbClr val="FFFFFF">
                  <a:alpha val="5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Shape 37">
              <a:extLst>
                <a:ext uri="{FF2B5EF4-FFF2-40B4-BE49-F238E27FC236}">
                  <a16:creationId xmlns:a16="http://schemas.microsoft.com/office/drawing/2014/main" id="{669A3ECF-F377-D055-E58D-94BC01F22CF1}"/>
                </a:ext>
              </a:extLst>
            </p:cNvPr>
            <p:cNvSpPr/>
            <p:nvPr/>
          </p:nvSpPr>
          <p:spPr>
            <a:xfrm>
              <a:off x="7982712" y="1325880"/>
              <a:ext cx="237744" cy="54864"/>
            </a:xfrm>
            <a:prstGeom prst="rect">
              <a:avLst/>
            </a:prstGeom>
            <a:solidFill>
              <a:srgbClr val="FFFFFF">
                <a:alpha val="55000"/>
              </a:srgbClr>
            </a:solidFill>
            <a:ln w="12700">
              <a:solidFill>
                <a:srgbClr val="FFFFFF">
                  <a:alpha val="5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29120</TotalTime>
  <Words>1709</Words>
  <Application>Microsoft Macintosh PowerPoint</Application>
  <PresentationFormat>On-screen Show (16:9)</PresentationFormat>
  <Paragraphs>327</Paragraphs>
  <Slides>24</Slides>
  <Notes>24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WhatIDid</dc:title>
  <dc:subject>PptxGenJS Presentation</dc:subject>
  <dc:creator>PptxGenJS</dc:creator>
  <cp:lastModifiedBy>ROBERTO RODRIGUES</cp:lastModifiedBy>
  <cp:revision>63</cp:revision>
  <dcterms:created xsi:type="dcterms:W3CDTF">2026-03-19T04:12:54Z</dcterms:created>
  <dcterms:modified xsi:type="dcterms:W3CDTF">2026-04-11T18:13:30Z</dcterms:modified>
</cp:coreProperties>
</file>